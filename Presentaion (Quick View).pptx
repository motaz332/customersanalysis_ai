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250" b="0" i="0">
                <a:solidFill>
                  <a:srgbClr val="0F1B4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250" b="0" i="0">
                <a:solidFill>
                  <a:srgbClr val="0F1B4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250" b="0" i="0">
                <a:solidFill>
                  <a:srgbClr val="0F1B4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250" b="0" i="0">
                <a:solidFill>
                  <a:srgbClr val="0F1B4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409374" y="515471"/>
            <a:ext cx="9467850" cy="814705"/>
          </a:xfrm>
          <a:custGeom>
            <a:avLst/>
            <a:gdLst/>
            <a:ahLst/>
            <a:cxnLst/>
            <a:rect l="l" t="t" r="r" b="b"/>
            <a:pathLst>
              <a:path w="9467850" h="814705">
                <a:moveTo>
                  <a:pt x="9467556" y="435703"/>
                </a:moveTo>
                <a:lnTo>
                  <a:pt x="9458439" y="500650"/>
                </a:lnTo>
                <a:lnTo>
                  <a:pt x="9445453" y="544622"/>
                </a:lnTo>
                <a:lnTo>
                  <a:pt x="9427801" y="586374"/>
                </a:lnTo>
                <a:lnTo>
                  <a:pt x="9405789" y="625599"/>
                </a:lnTo>
                <a:lnTo>
                  <a:pt x="9379724" y="661993"/>
                </a:lnTo>
                <a:lnTo>
                  <a:pt x="9349910" y="695250"/>
                </a:lnTo>
                <a:lnTo>
                  <a:pt x="9316653" y="725063"/>
                </a:lnTo>
                <a:lnTo>
                  <a:pt x="9280260" y="751129"/>
                </a:lnTo>
                <a:lnTo>
                  <a:pt x="9241034" y="773141"/>
                </a:lnTo>
                <a:lnTo>
                  <a:pt x="9199283" y="790793"/>
                </a:lnTo>
                <a:lnTo>
                  <a:pt x="9155311" y="803780"/>
                </a:lnTo>
                <a:lnTo>
                  <a:pt x="9109424" y="811796"/>
                </a:lnTo>
                <a:lnTo>
                  <a:pt x="9061928" y="814536"/>
                </a:lnTo>
                <a:lnTo>
                  <a:pt x="407268" y="814536"/>
                </a:lnTo>
                <a:lnTo>
                  <a:pt x="359772" y="811796"/>
                </a:lnTo>
                <a:lnTo>
                  <a:pt x="313885" y="803780"/>
                </a:lnTo>
                <a:lnTo>
                  <a:pt x="269913" y="790793"/>
                </a:lnTo>
                <a:lnTo>
                  <a:pt x="228161" y="773141"/>
                </a:lnTo>
                <a:lnTo>
                  <a:pt x="188936" y="751129"/>
                </a:lnTo>
                <a:lnTo>
                  <a:pt x="152542" y="725064"/>
                </a:lnTo>
                <a:lnTo>
                  <a:pt x="119286" y="695250"/>
                </a:lnTo>
                <a:lnTo>
                  <a:pt x="89472" y="661993"/>
                </a:lnTo>
                <a:lnTo>
                  <a:pt x="63406" y="625599"/>
                </a:lnTo>
                <a:lnTo>
                  <a:pt x="41395" y="586374"/>
                </a:lnTo>
                <a:lnTo>
                  <a:pt x="23743" y="544622"/>
                </a:lnTo>
                <a:lnTo>
                  <a:pt x="10756" y="500651"/>
                </a:lnTo>
                <a:lnTo>
                  <a:pt x="2740" y="454764"/>
                </a:lnTo>
                <a:lnTo>
                  <a:pt x="0" y="407268"/>
                </a:lnTo>
                <a:lnTo>
                  <a:pt x="2739" y="359772"/>
                </a:lnTo>
                <a:lnTo>
                  <a:pt x="10756" y="313885"/>
                </a:lnTo>
                <a:lnTo>
                  <a:pt x="23743" y="269913"/>
                </a:lnTo>
                <a:lnTo>
                  <a:pt x="41395" y="228161"/>
                </a:lnTo>
                <a:lnTo>
                  <a:pt x="63406" y="188936"/>
                </a:lnTo>
                <a:lnTo>
                  <a:pt x="89472" y="152542"/>
                </a:lnTo>
                <a:lnTo>
                  <a:pt x="119286" y="119286"/>
                </a:lnTo>
                <a:lnTo>
                  <a:pt x="152542" y="89472"/>
                </a:lnTo>
                <a:lnTo>
                  <a:pt x="188936" y="63406"/>
                </a:lnTo>
                <a:lnTo>
                  <a:pt x="228161" y="41395"/>
                </a:lnTo>
                <a:lnTo>
                  <a:pt x="269913" y="23743"/>
                </a:lnTo>
                <a:lnTo>
                  <a:pt x="313885" y="10756"/>
                </a:lnTo>
                <a:lnTo>
                  <a:pt x="359772" y="2739"/>
                </a:lnTo>
                <a:lnTo>
                  <a:pt x="407268" y="0"/>
                </a:lnTo>
                <a:lnTo>
                  <a:pt x="9061928" y="0"/>
                </a:lnTo>
                <a:lnTo>
                  <a:pt x="9109424" y="2740"/>
                </a:lnTo>
                <a:lnTo>
                  <a:pt x="9155311" y="10756"/>
                </a:lnTo>
                <a:lnTo>
                  <a:pt x="9199283" y="23743"/>
                </a:lnTo>
                <a:lnTo>
                  <a:pt x="9241034" y="41395"/>
                </a:lnTo>
                <a:lnTo>
                  <a:pt x="9280260" y="63406"/>
                </a:lnTo>
                <a:lnTo>
                  <a:pt x="9316653" y="89472"/>
                </a:lnTo>
                <a:lnTo>
                  <a:pt x="9349910" y="119286"/>
                </a:lnTo>
                <a:lnTo>
                  <a:pt x="9379724" y="152542"/>
                </a:lnTo>
                <a:lnTo>
                  <a:pt x="9405789" y="188936"/>
                </a:lnTo>
                <a:lnTo>
                  <a:pt x="9427801" y="228162"/>
                </a:lnTo>
                <a:lnTo>
                  <a:pt x="9445453" y="269913"/>
                </a:lnTo>
                <a:lnTo>
                  <a:pt x="9458440" y="313885"/>
                </a:lnTo>
                <a:lnTo>
                  <a:pt x="9466456" y="359772"/>
                </a:lnTo>
                <a:lnTo>
                  <a:pt x="9467555" y="378832"/>
                </a:lnTo>
              </a:path>
            </a:pathLst>
          </a:custGeom>
          <a:ln w="76200">
            <a:solidFill>
              <a:srgbClr val="0F1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4897" y="2979304"/>
            <a:ext cx="10378204" cy="2503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250" b="0" i="0">
                <a:solidFill>
                  <a:srgbClr val="0F1B4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0405" y="3415541"/>
            <a:ext cx="12306935" cy="277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119" y="630514"/>
            <a:ext cx="1463675" cy="589280"/>
          </a:xfrm>
          <a:custGeom>
            <a:avLst/>
            <a:gdLst/>
            <a:ahLst/>
            <a:cxnLst/>
            <a:rect l="l" t="t" r="r" b="b"/>
            <a:pathLst>
              <a:path w="1463675" h="589280">
                <a:moveTo>
                  <a:pt x="1169556" y="588931"/>
                </a:moveTo>
                <a:lnTo>
                  <a:pt x="294465" y="588931"/>
                </a:lnTo>
                <a:lnTo>
                  <a:pt x="246701" y="585077"/>
                </a:lnTo>
                <a:lnTo>
                  <a:pt x="201391" y="573919"/>
                </a:lnTo>
                <a:lnTo>
                  <a:pt x="159141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4" y="468373"/>
                </a:lnTo>
                <a:lnTo>
                  <a:pt x="32867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7" y="159141"/>
                </a:lnTo>
                <a:lnTo>
                  <a:pt x="56814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1" y="32867"/>
                </a:lnTo>
                <a:lnTo>
                  <a:pt x="201391" y="15012"/>
                </a:lnTo>
                <a:lnTo>
                  <a:pt x="246701" y="3854"/>
                </a:lnTo>
                <a:lnTo>
                  <a:pt x="294465" y="0"/>
                </a:lnTo>
                <a:lnTo>
                  <a:pt x="1169556" y="0"/>
                </a:lnTo>
                <a:lnTo>
                  <a:pt x="1217320" y="3854"/>
                </a:lnTo>
                <a:lnTo>
                  <a:pt x="1262630" y="15012"/>
                </a:lnTo>
                <a:lnTo>
                  <a:pt x="1304880" y="32867"/>
                </a:lnTo>
                <a:lnTo>
                  <a:pt x="1343464" y="56814"/>
                </a:lnTo>
                <a:lnTo>
                  <a:pt x="1377775" y="86247"/>
                </a:lnTo>
                <a:lnTo>
                  <a:pt x="1407207" y="120558"/>
                </a:lnTo>
                <a:lnTo>
                  <a:pt x="1431154" y="159141"/>
                </a:lnTo>
                <a:lnTo>
                  <a:pt x="1449010" y="201391"/>
                </a:lnTo>
                <a:lnTo>
                  <a:pt x="1460168" y="246701"/>
                </a:lnTo>
                <a:lnTo>
                  <a:pt x="1463127" y="283373"/>
                </a:lnTo>
                <a:lnTo>
                  <a:pt x="1463127" y="305558"/>
                </a:lnTo>
                <a:lnTo>
                  <a:pt x="1449010" y="387539"/>
                </a:lnTo>
                <a:lnTo>
                  <a:pt x="1431154" y="429789"/>
                </a:lnTo>
                <a:lnTo>
                  <a:pt x="1407207" y="468373"/>
                </a:lnTo>
                <a:lnTo>
                  <a:pt x="1377775" y="502684"/>
                </a:lnTo>
                <a:lnTo>
                  <a:pt x="1343464" y="532116"/>
                </a:lnTo>
                <a:lnTo>
                  <a:pt x="1304880" y="556063"/>
                </a:lnTo>
                <a:lnTo>
                  <a:pt x="1262630" y="573919"/>
                </a:lnTo>
                <a:lnTo>
                  <a:pt x="1217320" y="585077"/>
                </a:lnTo>
                <a:lnTo>
                  <a:pt x="1169556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679018" y="0"/>
            <a:ext cx="3609340" cy="10287000"/>
            <a:chOff x="14679018" y="0"/>
            <a:chExt cx="3609340" cy="10287000"/>
          </a:xfrm>
        </p:grpSpPr>
        <p:sp>
          <p:nvSpPr>
            <p:cNvPr id="4" name="object 4"/>
            <p:cNvSpPr/>
            <p:nvPr/>
          </p:nvSpPr>
          <p:spPr>
            <a:xfrm>
              <a:off x="14679018" y="0"/>
              <a:ext cx="3609340" cy="10287000"/>
            </a:xfrm>
            <a:custGeom>
              <a:avLst/>
              <a:gdLst/>
              <a:ahLst/>
              <a:cxnLst/>
              <a:rect l="l" t="t" r="r" b="b"/>
              <a:pathLst>
                <a:path w="3609340" h="10287000">
                  <a:moveTo>
                    <a:pt x="3608980" y="10286999"/>
                  </a:moveTo>
                  <a:lnTo>
                    <a:pt x="485774" y="10286999"/>
                  </a:lnTo>
                  <a:lnTo>
                    <a:pt x="437761" y="10284622"/>
                  </a:lnTo>
                  <a:lnTo>
                    <a:pt x="390562" y="10277579"/>
                  </a:lnTo>
                  <a:lnTo>
                    <a:pt x="344494" y="10266001"/>
                  </a:lnTo>
                  <a:lnTo>
                    <a:pt x="299876" y="10250022"/>
                  </a:lnTo>
                  <a:lnTo>
                    <a:pt x="257027" y="10229772"/>
                  </a:lnTo>
                  <a:lnTo>
                    <a:pt x="216266" y="10205384"/>
                  </a:lnTo>
                  <a:lnTo>
                    <a:pt x="177910" y="10176989"/>
                  </a:lnTo>
                  <a:lnTo>
                    <a:pt x="142279" y="10144719"/>
                  </a:lnTo>
                  <a:lnTo>
                    <a:pt x="110010" y="10109088"/>
                  </a:lnTo>
                  <a:lnTo>
                    <a:pt x="81615" y="10070732"/>
                  </a:lnTo>
                  <a:lnTo>
                    <a:pt x="57227" y="10029971"/>
                  </a:lnTo>
                  <a:lnTo>
                    <a:pt x="36977" y="9987122"/>
                  </a:lnTo>
                  <a:lnTo>
                    <a:pt x="20997" y="9942505"/>
                  </a:lnTo>
                  <a:lnTo>
                    <a:pt x="9420" y="9896437"/>
                  </a:lnTo>
                  <a:lnTo>
                    <a:pt x="2377" y="9849237"/>
                  </a:lnTo>
                  <a:lnTo>
                    <a:pt x="0" y="9801224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3608980" y="0"/>
                  </a:lnTo>
                  <a:lnTo>
                    <a:pt x="3608980" y="1028699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36416" y="677760"/>
              <a:ext cx="523875" cy="443865"/>
            </a:xfrm>
            <a:custGeom>
              <a:avLst/>
              <a:gdLst/>
              <a:ahLst/>
              <a:cxnLst/>
              <a:rect l="l" t="t" r="r" b="b"/>
              <a:pathLst>
                <a:path w="523875" h="443865">
                  <a:moveTo>
                    <a:pt x="523875" y="369735"/>
                  </a:moveTo>
                  <a:lnTo>
                    <a:pt x="0" y="369735"/>
                  </a:lnTo>
                  <a:lnTo>
                    <a:pt x="0" y="443369"/>
                  </a:lnTo>
                  <a:lnTo>
                    <a:pt x="523875" y="443369"/>
                  </a:lnTo>
                  <a:lnTo>
                    <a:pt x="523875" y="369735"/>
                  </a:lnTo>
                  <a:close/>
                </a:path>
                <a:path w="523875" h="443865">
                  <a:moveTo>
                    <a:pt x="523875" y="184873"/>
                  </a:moveTo>
                  <a:lnTo>
                    <a:pt x="0" y="184873"/>
                  </a:lnTo>
                  <a:lnTo>
                    <a:pt x="0" y="258495"/>
                  </a:lnTo>
                  <a:lnTo>
                    <a:pt x="523875" y="258495"/>
                  </a:lnTo>
                  <a:lnTo>
                    <a:pt x="523875" y="184873"/>
                  </a:lnTo>
                  <a:close/>
                </a:path>
                <a:path w="523875" h="443865">
                  <a:moveTo>
                    <a:pt x="523875" y="0"/>
                  </a:moveTo>
                  <a:lnTo>
                    <a:pt x="0" y="0"/>
                  </a:lnTo>
                  <a:lnTo>
                    <a:pt x="0" y="73634"/>
                  </a:lnTo>
                  <a:lnTo>
                    <a:pt x="523875" y="73634"/>
                  </a:lnTo>
                  <a:lnTo>
                    <a:pt x="523875" y="0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28700" y="7189530"/>
            <a:ext cx="3378200" cy="2068830"/>
            <a:chOff x="1028700" y="7189530"/>
            <a:chExt cx="3378200" cy="2068830"/>
          </a:xfrm>
        </p:grpSpPr>
        <p:sp>
          <p:nvSpPr>
            <p:cNvPr id="7" name="object 7"/>
            <p:cNvSpPr/>
            <p:nvPr/>
          </p:nvSpPr>
          <p:spPr>
            <a:xfrm>
              <a:off x="1028700" y="7189530"/>
              <a:ext cx="3378200" cy="2068830"/>
            </a:xfrm>
            <a:custGeom>
              <a:avLst/>
              <a:gdLst/>
              <a:ahLst/>
              <a:cxnLst/>
              <a:rect l="l" t="t" r="r" b="b"/>
              <a:pathLst>
                <a:path w="3378200" h="2068829">
                  <a:moveTo>
                    <a:pt x="2894605" y="2068768"/>
                  </a:moveTo>
                  <a:lnTo>
                    <a:pt x="485775" y="2068768"/>
                  </a:lnTo>
                  <a:lnTo>
                    <a:pt x="437762" y="2066392"/>
                  </a:lnTo>
                  <a:lnTo>
                    <a:pt x="390562" y="2059348"/>
                  </a:lnTo>
                  <a:lnTo>
                    <a:pt x="344494" y="2047771"/>
                  </a:lnTo>
                  <a:lnTo>
                    <a:pt x="299876" y="2031791"/>
                  </a:lnTo>
                  <a:lnTo>
                    <a:pt x="257028" y="2011541"/>
                  </a:lnTo>
                  <a:lnTo>
                    <a:pt x="216266" y="1987153"/>
                  </a:lnTo>
                  <a:lnTo>
                    <a:pt x="177911" y="1958758"/>
                  </a:lnTo>
                  <a:lnTo>
                    <a:pt x="142280" y="1926488"/>
                  </a:lnTo>
                  <a:lnTo>
                    <a:pt x="110010" y="1890857"/>
                  </a:lnTo>
                  <a:lnTo>
                    <a:pt x="81615" y="1852502"/>
                  </a:lnTo>
                  <a:lnTo>
                    <a:pt x="57227" y="1811740"/>
                  </a:lnTo>
                  <a:lnTo>
                    <a:pt x="36977" y="1768892"/>
                  </a:lnTo>
                  <a:lnTo>
                    <a:pt x="20997" y="1724274"/>
                  </a:lnTo>
                  <a:lnTo>
                    <a:pt x="9420" y="1678206"/>
                  </a:lnTo>
                  <a:lnTo>
                    <a:pt x="2377" y="1631006"/>
                  </a:lnTo>
                  <a:lnTo>
                    <a:pt x="0" y="1582994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2894605" y="0"/>
                  </a:lnTo>
                  <a:lnTo>
                    <a:pt x="2942618" y="2377"/>
                  </a:lnTo>
                  <a:lnTo>
                    <a:pt x="2989818" y="9420"/>
                  </a:lnTo>
                  <a:lnTo>
                    <a:pt x="3035886" y="20997"/>
                  </a:lnTo>
                  <a:lnTo>
                    <a:pt x="3080503" y="36977"/>
                  </a:lnTo>
                  <a:lnTo>
                    <a:pt x="3123352" y="57227"/>
                  </a:lnTo>
                  <a:lnTo>
                    <a:pt x="3164113" y="81616"/>
                  </a:lnTo>
                  <a:lnTo>
                    <a:pt x="3202469" y="110011"/>
                  </a:lnTo>
                  <a:lnTo>
                    <a:pt x="3238100" y="142280"/>
                  </a:lnTo>
                  <a:lnTo>
                    <a:pt x="3270369" y="177911"/>
                  </a:lnTo>
                  <a:lnTo>
                    <a:pt x="3298764" y="216266"/>
                  </a:lnTo>
                  <a:lnTo>
                    <a:pt x="3323153" y="257028"/>
                  </a:lnTo>
                  <a:lnTo>
                    <a:pt x="3343403" y="299877"/>
                  </a:lnTo>
                  <a:lnTo>
                    <a:pt x="3359383" y="344494"/>
                  </a:lnTo>
                  <a:lnTo>
                    <a:pt x="3370960" y="390562"/>
                  </a:lnTo>
                  <a:lnTo>
                    <a:pt x="3377911" y="437762"/>
                  </a:lnTo>
                  <a:lnTo>
                    <a:pt x="3377911" y="1631006"/>
                  </a:lnTo>
                  <a:lnTo>
                    <a:pt x="3370960" y="1678206"/>
                  </a:lnTo>
                  <a:lnTo>
                    <a:pt x="3359383" y="1724274"/>
                  </a:lnTo>
                  <a:lnTo>
                    <a:pt x="3343403" y="1768892"/>
                  </a:lnTo>
                  <a:lnTo>
                    <a:pt x="3323153" y="1811740"/>
                  </a:lnTo>
                  <a:lnTo>
                    <a:pt x="3298764" y="1852502"/>
                  </a:lnTo>
                  <a:lnTo>
                    <a:pt x="3270369" y="1890857"/>
                  </a:lnTo>
                  <a:lnTo>
                    <a:pt x="3238100" y="1926488"/>
                  </a:lnTo>
                  <a:lnTo>
                    <a:pt x="3202469" y="1958758"/>
                  </a:lnTo>
                  <a:lnTo>
                    <a:pt x="3164113" y="1987153"/>
                  </a:lnTo>
                  <a:lnTo>
                    <a:pt x="3123352" y="2011541"/>
                  </a:lnTo>
                  <a:lnTo>
                    <a:pt x="3080503" y="2031791"/>
                  </a:lnTo>
                  <a:lnTo>
                    <a:pt x="3035886" y="2047771"/>
                  </a:lnTo>
                  <a:lnTo>
                    <a:pt x="2989818" y="2059348"/>
                  </a:lnTo>
                  <a:lnTo>
                    <a:pt x="2942618" y="2066392"/>
                  </a:lnTo>
                  <a:lnTo>
                    <a:pt x="2894605" y="2068768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1100" y="7341931"/>
              <a:ext cx="3075940" cy="776605"/>
            </a:xfrm>
            <a:custGeom>
              <a:avLst/>
              <a:gdLst/>
              <a:ahLst/>
              <a:cxnLst/>
              <a:rect l="l" t="t" r="r" b="b"/>
              <a:pathLst>
                <a:path w="3075940" h="776604">
                  <a:moveTo>
                    <a:pt x="2687469" y="776477"/>
                  </a:moveTo>
                  <a:lnTo>
                    <a:pt x="388238" y="776477"/>
                  </a:lnTo>
                  <a:lnTo>
                    <a:pt x="337207" y="773110"/>
                  </a:lnTo>
                  <a:lnTo>
                    <a:pt x="287481" y="763176"/>
                  </a:lnTo>
                  <a:lnTo>
                    <a:pt x="239666" y="746924"/>
                  </a:lnTo>
                  <a:lnTo>
                    <a:pt x="194363" y="724605"/>
                  </a:lnTo>
                  <a:lnTo>
                    <a:pt x="152178" y="696469"/>
                  </a:lnTo>
                  <a:lnTo>
                    <a:pt x="113712" y="662765"/>
                  </a:lnTo>
                  <a:lnTo>
                    <a:pt x="80008" y="624299"/>
                  </a:lnTo>
                  <a:lnTo>
                    <a:pt x="51872" y="582113"/>
                  </a:lnTo>
                  <a:lnTo>
                    <a:pt x="29552" y="536811"/>
                  </a:lnTo>
                  <a:lnTo>
                    <a:pt x="13301" y="488995"/>
                  </a:lnTo>
                  <a:lnTo>
                    <a:pt x="3367" y="439270"/>
                  </a:lnTo>
                  <a:lnTo>
                    <a:pt x="0" y="388239"/>
                  </a:lnTo>
                  <a:lnTo>
                    <a:pt x="3367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7"/>
                  </a:lnTo>
                  <a:lnTo>
                    <a:pt x="113712" y="113712"/>
                  </a:lnTo>
                  <a:lnTo>
                    <a:pt x="152178" y="80008"/>
                  </a:lnTo>
                  <a:lnTo>
                    <a:pt x="194363" y="51872"/>
                  </a:lnTo>
                  <a:lnTo>
                    <a:pt x="239666" y="29553"/>
                  </a:lnTo>
                  <a:lnTo>
                    <a:pt x="287481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2687469" y="0"/>
                  </a:lnTo>
                  <a:lnTo>
                    <a:pt x="2738500" y="3367"/>
                  </a:lnTo>
                  <a:lnTo>
                    <a:pt x="2788225" y="13301"/>
                  </a:lnTo>
                  <a:lnTo>
                    <a:pt x="2836041" y="29553"/>
                  </a:lnTo>
                  <a:lnTo>
                    <a:pt x="2881343" y="51872"/>
                  </a:lnTo>
                  <a:lnTo>
                    <a:pt x="2923529" y="80008"/>
                  </a:lnTo>
                  <a:lnTo>
                    <a:pt x="2961995" y="113712"/>
                  </a:lnTo>
                  <a:lnTo>
                    <a:pt x="2995699" y="152177"/>
                  </a:lnTo>
                  <a:lnTo>
                    <a:pt x="3023835" y="194363"/>
                  </a:lnTo>
                  <a:lnTo>
                    <a:pt x="3046154" y="239666"/>
                  </a:lnTo>
                  <a:lnTo>
                    <a:pt x="3062406" y="287481"/>
                  </a:lnTo>
                  <a:lnTo>
                    <a:pt x="3072340" y="337207"/>
                  </a:lnTo>
                  <a:lnTo>
                    <a:pt x="3075578" y="386272"/>
                  </a:lnTo>
                  <a:lnTo>
                    <a:pt x="3075578" y="390205"/>
                  </a:lnTo>
                  <a:lnTo>
                    <a:pt x="3072340" y="439270"/>
                  </a:lnTo>
                  <a:lnTo>
                    <a:pt x="3062406" y="488995"/>
                  </a:lnTo>
                  <a:lnTo>
                    <a:pt x="3046154" y="536811"/>
                  </a:lnTo>
                  <a:lnTo>
                    <a:pt x="3023835" y="582113"/>
                  </a:lnTo>
                  <a:lnTo>
                    <a:pt x="2995699" y="624299"/>
                  </a:lnTo>
                  <a:lnTo>
                    <a:pt x="2961995" y="662765"/>
                  </a:lnTo>
                  <a:lnTo>
                    <a:pt x="2923529" y="696469"/>
                  </a:lnTo>
                  <a:lnTo>
                    <a:pt x="2881343" y="724605"/>
                  </a:lnTo>
                  <a:lnTo>
                    <a:pt x="2836041" y="746924"/>
                  </a:lnTo>
                  <a:lnTo>
                    <a:pt x="2788225" y="763176"/>
                  </a:lnTo>
                  <a:lnTo>
                    <a:pt x="2738500" y="773110"/>
                  </a:lnTo>
                  <a:lnTo>
                    <a:pt x="2687469" y="776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9642" y="7439572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290597" y="581194"/>
                  </a:moveTo>
                  <a:lnTo>
                    <a:pt x="243460" y="577391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9585" y="3659420"/>
            <a:ext cx="6086475" cy="97218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 marR="5080">
              <a:lnSpc>
                <a:spcPct val="74500"/>
              </a:lnSpc>
              <a:spcBef>
                <a:spcPts val="1200"/>
              </a:spcBef>
              <a:tabLst>
                <a:tab pos="2386330" algn="l"/>
                <a:tab pos="3842385" algn="l"/>
              </a:tabLst>
            </a:pPr>
            <a:r>
              <a:rPr sz="3550" b="1" spc="-10" dirty="0">
                <a:solidFill>
                  <a:srgbClr val="0F1B40"/>
                </a:solidFill>
                <a:latin typeface="Tahoma"/>
                <a:cs typeface="Tahoma"/>
              </a:rPr>
              <a:t>Customer</a:t>
            </a:r>
            <a:r>
              <a:rPr sz="3550" b="1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3550" b="1" spc="-10" dirty="0">
                <a:solidFill>
                  <a:srgbClr val="0F1B40"/>
                </a:solidFill>
                <a:latin typeface="Tahoma"/>
                <a:cs typeface="Tahoma"/>
              </a:rPr>
              <a:t>Value</a:t>
            </a:r>
            <a:r>
              <a:rPr sz="3550" b="1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3550" b="1" spc="-75" dirty="0">
                <a:solidFill>
                  <a:srgbClr val="0F1B40"/>
                </a:solidFill>
                <a:latin typeface="Tahoma"/>
                <a:cs typeface="Tahoma"/>
              </a:rPr>
              <a:t>Prediction </a:t>
            </a:r>
            <a:r>
              <a:rPr sz="3550" b="1" spc="-200" dirty="0">
                <a:solidFill>
                  <a:srgbClr val="0F1B40"/>
                </a:solidFill>
                <a:latin typeface="Tahoma"/>
                <a:cs typeface="Tahoma"/>
              </a:rPr>
              <a:t>&amp;</a:t>
            </a:r>
            <a:r>
              <a:rPr sz="3550" b="1" spc="-409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3550" b="1" spc="-65" dirty="0">
                <a:solidFill>
                  <a:srgbClr val="0F1B40"/>
                </a:solidFill>
                <a:latin typeface="Tahoma"/>
                <a:cs typeface="Tahoma"/>
              </a:rPr>
              <a:t>Customer</a:t>
            </a:r>
            <a:r>
              <a:rPr sz="3550" b="1" spc="-409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3550" b="1" spc="-10" dirty="0">
                <a:solidFill>
                  <a:srgbClr val="0F1B40"/>
                </a:solidFill>
                <a:latin typeface="Tahoma"/>
                <a:cs typeface="Tahoma"/>
              </a:rPr>
              <a:t>Segmentation.</a:t>
            </a:r>
            <a:endParaRPr sz="35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20718" y="1121175"/>
            <a:ext cx="6249035" cy="9166225"/>
            <a:chOff x="7020718" y="1121175"/>
            <a:chExt cx="6249035" cy="9166225"/>
          </a:xfrm>
        </p:grpSpPr>
        <p:sp>
          <p:nvSpPr>
            <p:cNvPr id="12" name="object 12"/>
            <p:cNvSpPr/>
            <p:nvPr/>
          </p:nvSpPr>
          <p:spPr>
            <a:xfrm>
              <a:off x="10498604" y="1954283"/>
              <a:ext cx="2771140" cy="2771140"/>
            </a:xfrm>
            <a:custGeom>
              <a:avLst/>
              <a:gdLst/>
              <a:ahLst/>
              <a:cxnLst/>
              <a:rect l="l" t="t" r="r" b="b"/>
              <a:pathLst>
                <a:path w="2771140" h="2771140">
                  <a:moveTo>
                    <a:pt x="1594596" y="2770754"/>
                  </a:moveTo>
                  <a:lnTo>
                    <a:pt x="1151794" y="2770754"/>
                  </a:lnTo>
                  <a:lnTo>
                    <a:pt x="1146368" y="2768413"/>
                  </a:lnTo>
                  <a:lnTo>
                    <a:pt x="1138282" y="2760327"/>
                  </a:lnTo>
                  <a:lnTo>
                    <a:pt x="1136048" y="2754795"/>
                  </a:lnTo>
                  <a:lnTo>
                    <a:pt x="1147219" y="1919409"/>
                  </a:lnTo>
                  <a:lnTo>
                    <a:pt x="586323" y="2524883"/>
                  </a:lnTo>
                  <a:lnTo>
                    <a:pt x="579621" y="2527011"/>
                  </a:lnTo>
                  <a:lnTo>
                    <a:pt x="568237" y="2525309"/>
                  </a:lnTo>
                  <a:lnTo>
                    <a:pt x="564407" y="2523500"/>
                  </a:lnTo>
                  <a:lnTo>
                    <a:pt x="559619" y="2518925"/>
                  </a:lnTo>
                  <a:lnTo>
                    <a:pt x="558342" y="2517436"/>
                  </a:lnTo>
                  <a:lnTo>
                    <a:pt x="557385" y="2515947"/>
                  </a:lnTo>
                  <a:lnTo>
                    <a:pt x="540189" y="2500134"/>
                  </a:lnTo>
                  <a:lnTo>
                    <a:pt x="239487" y="2213475"/>
                  </a:lnTo>
                  <a:lnTo>
                    <a:pt x="237146" y="2208156"/>
                  </a:lnTo>
                  <a:lnTo>
                    <a:pt x="236933" y="2196772"/>
                  </a:lnTo>
                  <a:lnTo>
                    <a:pt x="239168" y="2191240"/>
                  </a:lnTo>
                  <a:lnTo>
                    <a:pt x="827406" y="1592042"/>
                  </a:lnTo>
                  <a:lnTo>
                    <a:pt x="21171" y="1589489"/>
                  </a:lnTo>
                  <a:lnTo>
                    <a:pt x="12926" y="1587810"/>
                  </a:lnTo>
                  <a:lnTo>
                    <a:pt x="6197" y="1583238"/>
                  </a:lnTo>
                  <a:lnTo>
                    <a:pt x="1662" y="1576473"/>
                  </a:lnTo>
                  <a:lnTo>
                    <a:pt x="0" y="1568211"/>
                  </a:lnTo>
                  <a:lnTo>
                    <a:pt x="0" y="1226694"/>
                  </a:lnTo>
                  <a:lnTo>
                    <a:pt x="817831" y="1202862"/>
                  </a:lnTo>
                  <a:lnTo>
                    <a:pt x="247253" y="598345"/>
                  </a:lnTo>
                  <a:lnTo>
                    <a:pt x="243317" y="594622"/>
                  </a:lnTo>
                  <a:lnTo>
                    <a:pt x="240870" y="589408"/>
                  </a:lnTo>
                  <a:lnTo>
                    <a:pt x="240338" y="577493"/>
                  </a:lnTo>
                  <a:lnTo>
                    <a:pt x="242891" y="571428"/>
                  </a:lnTo>
                  <a:lnTo>
                    <a:pt x="580365" y="262680"/>
                  </a:lnTo>
                  <a:lnTo>
                    <a:pt x="586004" y="260552"/>
                  </a:lnTo>
                  <a:lnTo>
                    <a:pt x="597282" y="261297"/>
                  </a:lnTo>
                  <a:lnTo>
                    <a:pt x="602601" y="263850"/>
                  </a:lnTo>
                  <a:lnTo>
                    <a:pt x="1160944" y="894008"/>
                  </a:lnTo>
                  <a:lnTo>
                    <a:pt x="1172540" y="20959"/>
                  </a:lnTo>
                  <a:lnTo>
                    <a:pt x="1174279" y="12791"/>
                  </a:lnTo>
                  <a:lnTo>
                    <a:pt x="1178871" y="6130"/>
                  </a:lnTo>
                  <a:lnTo>
                    <a:pt x="1185617" y="1644"/>
                  </a:lnTo>
                  <a:lnTo>
                    <a:pt x="1193819" y="0"/>
                  </a:lnTo>
                  <a:lnTo>
                    <a:pt x="1552677" y="0"/>
                  </a:lnTo>
                  <a:lnTo>
                    <a:pt x="1584595" y="820917"/>
                  </a:lnTo>
                  <a:lnTo>
                    <a:pt x="1659175" y="744847"/>
                  </a:lnTo>
                  <a:lnTo>
                    <a:pt x="2214539" y="273000"/>
                  </a:lnTo>
                  <a:lnTo>
                    <a:pt x="2221842" y="268936"/>
                  </a:lnTo>
                  <a:lnTo>
                    <a:pt x="2229873" y="268013"/>
                  </a:lnTo>
                  <a:lnTo>
                    <a:pt x="2237684" y="270142"/>
                  </a:lnTo>
                  <a:lnTo>
                    <a:pt x="2244329" y="275234"/>
                  </a:lnTo>
                  <a:lnTo>
                    <a:pt x="2480625" y="545362"/>
                  </a:lnTo>
                  <a:lnTo>
                    <a:pt x="2484785" y="552605"/>
                  </a:lnTo>
                  <a:lnTo>
                    <a:pt x="2485824" y="560616"/>
                  </a:lnTo>
                  <a:lnTo>
                    <a:pt x="2483811" y="568448"/>
                  </a:lnTo>
                  <a:lnTo>
                    <a:pt x="2478816" y="575152"/>
                  </a:lnTo>
                  <a:lnTo>
                    <a:pt x="1947071" y="1054340"/>
                  </a:lnTo>
                  <a:lnTo>
                    <a:pt x="1918625" y="1085765"/>
                  </a:lnTo>
                  <a:lnTo>
                    <a:pt x="1813656" y="1199777"/>
                  </a:lnTo>
                  <a:lnTo>
                    <a:pt x="2755115" y="1196798"/>
                  </a:lnTo>
                  <a:lnTo>
                    <a:pt x="2760434" y="1199032"/>
                  </a:lnTo>
                  <a:lnTo>
                    <a:pt x="2768520" y="1207011"/>
                  </a:lnTo>
                  <a:lnTo>
                    <a:pt x="2770754" y="1212437"/>
                  </a:lnTo>
                  <a:lnTo>
                    <a:pt x="2770754" y="1582573"/>
                  </a:lnTo>
                  <a:lnTo>
                    <a:pt x="2768520" y="1587999"/>
                  </a:lnTo>
                  <a:lnTo>
                    <a:pt x="2764477" y="1592042"/>
                  </a:lnTo>
                  <a:lnTo>
                    <a:pt x="2760541" y="1595979"/>
                  </a:lnTo>
                  <a:lnTo>
                    <a:pt x="2755434" y="1598107"/>
                  </a:lnTo>
                  <a:lnTo>
                    <a:pt x="2749582" y="1598213"/>
                  </a:lnTo>
                  <a:lnTo>
                    <a:pt x="1782164" y="1595127"/>
                  </a:lnTo>
                  <a:lnTo>
                    <a:pt x="1793867" y="1608426"/>
                  </a:lnTo>
                  <a:lnTo>
                    <a:pt x="2470943" y="2229966"/>
                  </a:lnTo>
                  <a:lnTo>
                    <a:pt x="2475858" y="2236715"/>
                  </a:lnTo>
                  <a:lnTo>
                    <a:pt x="2477792" y="2244541"/>
                  </a:lnTo>
                  <a:lnTo>
                    <a:pt x="2476673" y="2252527"/>
                  </a:lnTo>
                  <a:lnTo>
                    <a:pt x="2472432" y="2259755"/>
                  </a:lnTo>
                  <a:lnTo>
                    <a:pt x="2233903" y="2527968"/>
                  </a:lnTo>
                  <a:lnTo>
                    <a:pt x="2227213" y="2533027"/>
                  </a:lnTo>
                  <a:lnTo>
                    <a:pt x="2219407" y="2535083"/>
                  </a:lnTo>
                  <a:lnTo>
                    <a:pt x="2211401" y="2534087"/>
                  </a:lnTo>
                  <a:lnTo>
                    <a:pt x="2204113" y="2529990"/>
                  </a:lnTo>
                  <a:lnTo>
                    <a:pt x="1600341" y="2009948"/>
                  </a:lnTo>
                  <a:lnTo>
                    <a:pt x="1610129" y="2754795"/>
                  </a:lnTo>
                  <a:lnTo>
                    <a:pt x="1608001" y="2760327"/>
                  </a:lnTo>
                  <a:lnTo>
                    <a:pt x="1600022" y="2768520"/>
                  </a:lnTo>
                  <a:lnTo>
                    <a:pt x="1594596" y="2770754"/>
                  </a:lnTo>
                  <a:close/>
                </a:path>
              </a:pathLst>
            </a:custGeom>
            <a:solidFill>
              <a:srgbClr val="CFE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0718" y="1121175"/>
              <a:ext cx="4571999" cy="916582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3878918" y="3700555"/>
            <a:ext cx="2160905" cy="2160905"/>
            <a:chOff x="13878918" y="3700555"/>
            <a:chExt cx="2160905" cy="2160905"/>
          </a:xfrm>
        </p:grpSpPr>
        <p:sp>
          <p:nvSpPr>
            <p:cNvPr id="15" name="object 15"/>
            <p:cNvSpPr/>
            <p:nvPr/>
          </p:nvSpPr>
          <p:spPr>
            <a:xfrm>
              <a:off x="13878918" y="3700555"/>
              <a:ext cx="2160905" cy="2160905"/>
            </a:xfrm>
            <a:custGeom>
              <a:avLst/>
              <a:gdLst/>
              <a:ahLst/>
              <a:cxnLst/>
              <a:rect l="l" t="t" r="r" b="b"/>
              <a:pathLst>
                <a:path w="2160905" h="2160904">
                  <a:moveTo>
                    <a:pt x="1080269" y="2160537"/>
                  </a:moveTo>
                  <a:lnTo>
                    <a:pt x="1032148" y="2159485"/>
                  </a:lnTo>
                  <a:lnTo>
                    <a:pt x="984568" y="2156356"/>
                  </a:lnTo>
                  <a:lnTo>
                    <a:pt x="937570" y="2151196"/>
                  </a:lnTo>
                  <a:lnTo>
                    <a:pt x="891200" y="2144048"/>
                  </a:lnTo>
                  <a:lnTo>
                    <a:pt x="845500" y="2134955"/>
                  </a:lnTo>
                  <a:lnTo>
                    <a:pt x="800514" y="2123963"/>
                  </a:lnTo>
                  <a:lnTo>
                    <a:pt x="756288" y="2111114"/>
                  </a:lnTo>
                  <a:lnTo>
                    <a:pt x="712863" y="2096453"/>
                  </a:lnTo>
                  <a:lnTo>
                    <a:pt x="670285" y="2080023"/>
                  </a:lnTo>
                  <a:lnTo>
                    <a:pt x="628598" y="2061869"/>
                  </a:lnTo>
                  <a:lnTo>
                    <a:pt x="587844" y="2042034"/>
                  </a:lnTo>
                  <a:lnTo>
                    <a:pt x="548069" y="2020562"/>
                  </a:lnTo>
                  <a:lnTo>
                    <a:pt x="509316" y="1997498"/>
                  </a:lnTo>
                  <a:lnTo>
                    <a:pt x="471628" y="1972885"/>
                  </a:lnTo>
                  <a:lnTo>
                    <a:pt x="435051" y="1946766"/>
                  </a:lnTo>
                  <a:lnTo>
                    <a:pt x="399627" y="1919187"/>
                  </a:lnTo>
                  <a:lnTo>
                    <a:pt x="365400" y="1890190"/>
                  </a:lnTo>
                  <a:lnTo>
                    <a:pt x="332416" y="1859820"/>
                  </a:lnTo>
                  <a:lnTo>
                    <a:pt x="300716" y="1828121"/>
                  </a:lnTo>
                  <a:lnTo>
                    <a:pt x="270347" y="1795136"/>
                  </a:lnTo>
                  <a:lnTo>
                    <a:pt x="241350" y="1760910"/>
                  </a:lnTo>
                  <a:lnTo>
                    <a:pt x="213770" y="1725486"/>
                  </a:lnTo>
                  <a:lnTo>
                    <a:pt x="187652" y="1688909"/>
                  </a:lnTo>
                  <a:lnTo>
                    <a:pt x="163039" y="1651221"/>
                  </a:lnTo>
                  <a:lnTo>
                    <a:pt x="139974" y="1612468"/>
                  </a:lnTo>
                  <a:lnTo>
                    <a:pt x="118503" y="1572692"/>
                  </a:lnTo>
                  <a:lnTo>
                    <a:pt x="98668" y="1531939"/>
                  </a:lnTo>
                  <a:lnTo>
                    <a:pt x="80514" y="1490251"/>
                  </a:lnTo>
                  <a:lnTo>
                    <a:pt x="64084" y="1447673"/>
                  </a:lnTo>
                  <a:lnTo>
                    <a:pt x="49423" y="1404249"/>
                  </a:lnTo>
                  <a:lnTo>
                    <a:pt x="36574" y="1360022"/>
                  </a:lnTo>
                  <a:lnTo>
                    <a:pt x="25581" y="1315037"/>
                  </a:lnTo>
                  <a:lnTo>
                    <a:pt x="16489" y="1269337"/>
                  </a:lnTo>
                  <a:lnTo>
                    <a:pt x="9341" y="1222967"/>
                  </a:lnTo>
                  <a:lnTo>
                    <a:pt x="4180" y="1175969"/>
                  </a:lnTo>
                  <a:lnTo>
                    <a:pt x="1052" y="1128389"/>
                  </a:lnTo>
                  <a:lnTo>
                    <a:pt x="0" y="1080267"/>
                  </a:lnTo>
                  <a:lnTo>
                    <a:pt x="1052" y="1032148"/>
                  </a:lnTo>
                  <a:lnTo>
                    <a:pt x="4180" y="984568"/>
                  </a:lnTo>
                  <a:lnTo>
                    <a:pt x="9341" y="937570"/>
                  </a:lnTo>
                  <a:lnTo>
                    <a:pt x="16489" y="891200"/>
                  </a:lnTo>
                  <a:lnTo>
                    <a:pt x="25581" y="845500"/>
                  </a:lnTo>
                  <a:lnTo>
                    <a:pt x="36574" y="800514"/>
                  </a:lnTo>
                  <a:lnTo>
                    <a:pt x="49423" y="756288"/>
                  </a:lnTo>
                  <a:lnTo>
                    <a:pt x="64084" y="712863"/>
                  </a:lnTo>
                  <a:lnTo>
                    <a:pt x="80514" y="670285"/>
                  </a:lnTo>
                  <a:lnTo>
                    <a:pt x="98668" y="628598"/>
                  </a:lnTo>
                  <a:lnTo>
                    <a:pt x="118503" y="587844"/>
                  </a:lnTo>
                  <a:lnTo>
                    <a:pt x="139974" y="548069"/>
                  </a:lnTo>
                  <a:lnTo>
                    <a:pt x="163039" y="509316"/>
                  </a:lnTo>
                  <a:lnTo>
                    <a:pt x="187652" y="471628"/>
                  </a:lnTo>
                  <a:lnTo>
                    <a:pt x="213770" y="435051"/>
                  </a:lnTo>
                  <a:lnTo>
                    <a:pt x="241350" y="399627"/>
                  </a:lnTo>
                  <a:lnTo>
                    <a:pt x="270347" y="365400"/>
                  </a:lnTo>
                  <a:lnTo>
                    <a:pt x="300716" y="332416"/>
                  </a:lnTo>
                  <a:lnTo>
                    <a:pt x="332416" y="300716"/>
                  </a:lnTo>
                  <a:lnTo>
                    <a:pt x="365400" y="270347"/>
                  </a:lnTo>
                  <a:lnTo>
                    <a:pt x="399627" y="241350"/>
                  </a:lnTo>
                  <a:lnTo>
                    <a:pt x="435051" y="213770"/>
                  </a:lnTo>
                  <a:lnTo>
                    <a:pt x="471628" y="187652"/>
                  </a:lnTo>
                  <a:lnTo>
                    <a:pt x="509316" y="163039"/>
                  </a:lnTo>
                  <a:lnTo>
                    <a:pt x="548069" y="139974"/>
                  </a:lnTo>
                  <a:lnTo>
                    <a:pt x="587844" y="118503"/>
                  </a:lnTo>
                  <a:lnTo>
                    <a:pt x="628598" y="98668"/>
                  </a:lnTo>
                  <a:lnTo>
                    <a:pt x="670285" y="80514"/>
                  </a:lnTo>
                  <a:lnTo>
                    <a:pt x="712863" y="64084"/>
                  </a:lnTo>
                  <a:lnTo>
                    <a:pt x="756288" y="49423"/>
                  </a:lnTo>
                  <a:lnTo>
                    <a:pt x="800514" y="36574"/>
                  </a:lnTo>
                  <a:lnTo>
                    <a:pt x="845500" y="25581"/>
                  </a:lnTo>
                  <a:lnTo>
                    <a:pt x="891200" y="16489"/>
                  </a:lnTo>
                  <a:lnTo>
                    <a:pt x="937570" y="9341"/>
                  </a:lnTo>
                  <a:lnTo>
                    <a:pt x="984568" y="4180"/>
                  </a:lnTo>
                  <a:lnTo>
                    <a:pt x="1032148" y="1052"/>
                  </a:lnTo>
                  <a:lnTo>
                    <a:pt x="1080269" y="0"/>
                  </a:lnTo>
                  <a:lnTo>
                    <a:pt x="1128389" y="1052"/>
                  </a:lnTo>
                  <a:lnTo>
                    <a:pt x="1175969" y="4180"/>
                  </a:lnTo>
                  <a:lnTo>
                    <a:pt x="1222967" y="9341"/>
                  </a:lnTo>
                  <a:lnTo>
                    <a:pt x="1269337" y="16489"/>
                  </a:lnTo>
                  <a:lnTo>
                    <a:pt x="1315037" y="25581"/>
                  </a:lnTo>
                  <a:lnTo>
                    <a:pt x="1360022" y="36574"/>
                  </a:lnTo>
                  <a:lnTo>
                    <a:pt x="1404249" y="49423"/>
                  </a:lnTo>
                  <a:lnTo>
                    <a:pt x="1447673" y="64084"/>
                  </a:lnTo>
                  <a:lnTo>
                    <a:pt x="1490251" y="80514"/>
                  </a:lnTo>
                  <a:lnTo>
                    <a:pt x="1531939" y="98668"/>
                  </a:lnTo>
                  <a:lnTo>
                    <a:pt x="1572692" y="118503"/>
                  </a:lnTo>
                  <a:lnTo>
                    <a:pt x="1612468" y="139974"/>
                  </a:lnTo>
                  <a:lnTo>
                    <a:pt x="1651221" y="163039"/>
                  </a:lnTo>
                  <a:lnTo>
                    <a:pt x="1688909" y="187652"/>
                  </a:lnTo>
                  <a:lnTo>
                    <a:pt x="1725486" y="213770"/>
                  </a:lnTo>
                  <a:lnTo>
                    <a:pt x="1760910" y="241350"/>
                  </a:lnTo>
                  <a:lnTo>
                    <a:pt x="1795136" y="270347"/>
                  </a:lnTo>
                  <a:lnTo>
                    <a:pt x="1828121" y="300716"/>
                  </a:lnTo>
                  <a:lnTo>
                    <a:pt x="1859820" y="332416"/>
                  </a:lnTo>
                  <a:lnTo>
                    <a:pt x="1890190" y="365400"/>
                  </a:lnTo>
                  <a:lnTo>
                    <a:pt x="1919187" y="399627"/>
                  </a:lnTo>
                  <a:lnTo>
                    <a:pt x="1946766" y="435051"/>
                  </a:lnTo>
                  <a:lnTo>
                    <a:pt x="1972885" y="471628"/>
                  </a:lnTo>
                  <a:lnTo>
                    <a:pt x="1997498" y="509316"/>
                  </a:lnTo>
                  <a:lnTo>
                    <a:pt x="2020562" y="548069"/>
                  </a:lnTo>
                  <a:lnTo>
                    <a:pt x="2042034" y="587844"/>
                  </a:lnTo>
                  <a:lnTo>
                    <a:pt x="2061869" y="628598"/>
                  </a:lnTo>
                  <a:lnTo>
                    <a:pt x="2080023" y="670285"/>
                  </a:lnTo>
                  <a:lnTo>
                    <a:pt x="2096453" y="712863"/>
                  </a:lnTo>
                  <a:lnTo>
                    <a:pt x="2111114" y="756288"/>
                  </a:lnTo>
                  <a:lnTo>
                    <a:pt x="2123963" y="800514"/>
                  </a:lnTo>
                  <a:lnTo>
                    <a:pt x="2134955" y="845500"/>
                  </a:lnTo>
                  <a:lnTo>
                    <a:pt x="2144048" y="891200"/>
                  </a:lnTo>
                  <a:lnTo>
                    <a:pt x="2151196" y="937570"/>
                  </a:lnTo>
                  <a:lnTo>
                    <a:pt x="2156356" y="984568"/>
                  </a:lnTo>
                  <a:lnTo>
                    <a:pt x="2159485" y="1032148"/>
                  </a:lnTo>
                  <a:lnTo>
                    <a:pt x="2160537" y="1080269"/>
                  </a:lnTo>
                  <a:lnTo>
                    <a:pt x="2159485" y="1128389"/>
                  </a:lnTo>
                  <a:lnTo>
                    <a:pt x="2156356" y="1175969"/>
                  </a:lnTo>
                  <a:lnTo>
                    <a:pt x="2151196" y="1222967"/>
                  </a:lnTo>
                  <a:lnTo>
                    <a:pt x="2144048" y="1269337"/>
                  </a:lnTo>
                  <a:lnTo>
                    <a:pt x="2134955" y="1315037"/>
                  </a:lnTo>
                  <a:lnTo>
                    <a:pt x="2123963" y="1360022"/>
                  </a:lnTo>
                  <a:lnTo>
                    <a:pt x="2111114" y="1404249"/>
                  </a:lnTo>
                  <a:lnTo>
                    <a:pt x="2096453" y="1447673"/>
                  </a:lnTo>
                  <a:lnTo>
                    <a:pt x="2080023" y="1490251"/>
                  </a:lnTo>
                  <a:lnTo>
                    <a:pt x="2061869" y="1531939"/>
                  </a:lnTo>
                  <a:lnTo>
                    <a:pt x="2042034" y="1572692"/>
                  </a:lnTo>
                  <a:lnTo>
                    <a:pt x="2020562" y="1612468"/>
                  </a:lnTo>
                  <a:lnTo>
                    <a:pt x="1997498" y="1651221"/>
                  </a:lnTo>
                  <a:lnTo>
                    <a:pt x="1972885" y="1688909"/>
                  </a:lnTo>
                  <a:lnTo>
                    <a:pt x="1946766" y="1725486"/>
                  </a:lnTo>
                  <a:lnTo>
                    <a:pt x="1919187" y="1760910"/>
                  </a:lnTo>
                  <a:lnTo>
                    <a:pt x="1890190" y="1795136"/>
                  </a:lnTo>
                  <a:lnTo>
                    <a:pt x="1859820" y="1828121"/>
                  </a:lnTo>
                  <a:lnTo>
                    <a:pt x="1828121" y="1859820"/>
                  </a:lnTo>
                  <a:lnTo>
                    <a:pt x="1795136" y="1890190"/>
                  </a:lnTo>
                  <a:lnTo>
                    <a:pt x="1760910" y="1919187"/>
                  </a:lnTo>
                  <a:lnTo>
                    <a:pt x="1725486" y="1946766"/>
                  </a:lnTo>
                  <a:lnTo>
                    <a:pt x="1688909" y="1972885"/>
                  </a:lnTo>
                  <a:lnTo>
                    <a:pt x="1651221" y="1997498"/>
                  </a:lnTo>
                  <a:lnTo>
                    <a:pt x="1612468" y="2020562"/>
                  </a:lnTo>
                  <a:lnTo>
                    <a:pt x="1572692" y="2042034"/>
                  </a:lnTo>
                  <a:lnTo>
                    <a:pt x="1531939" y="2061869"/>
                  </a:lnTo>
                  <a:lnTo>
                    <a:pt x="1490251" y="2080023"/>
                  </a:lnTo>
                  <a:lnTo>
                    <a:pt x="1447673" y="2096453"/>
                  </a:lnTo>
                  <a:lnTo>
                    <a:pt x="1404249" y="2111114"/>
                  </a:lnTo>
                  <a:lnTo>
                    <a:pt x="1360022" y="2123963"/>
                  </a:lnTo>
                  <a:lnTo>
                    <a:pt x="1315037" y="2134955"/>
                  </a:lnTo>
                  <a:lnTo>
                    <a:pt x="1269337" y="2144048"/>
                  </a:lnTo>
                  <a:lnTo>
                    <a:pt x="1222967" y="2151196"/>
                  </a:lnTo>
                  <a:lnTo>
                    <a:pt x="1175969" y="2156356"/>
                  </a:lnTo>
                  <a:lnTo>
                    <a:pt x="1128389" y="2159485"/>
                  </a:lnTo>
                  <a:lnTo>
                    <a:pt x="1080269" y="2160537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39347" y="4222145"/>
              <a:ext cx="617855" cy="1117600"/>
            </a:xfrm>
            <a:custGeom>
              <a:avLst/>
              <a:gdLst/>
              <a:ahLst/>
              <a:cxnLst/>
              <a:rect l="l" t="t" r="r" b="b"/>
              <a:pathLst>
                <a:path w="617855" h="1117600">
                  <a:moveTo>
                    <a:pt x="59115" y="1117353"/>
                  </a:moveTo>
                  <a:lnTo>
                    <a:pt x="0" y="1058237"/>
                  </a:lnTo>
                  <a:lnTo>
                    <a:pt x="499543" y="558682"/>
                  </a:lnTo>
                  <a:lnTo>
                    <a:pt x="0" y="59115"/>
                  </a:lnTo>
                  <a:lnTo>
                    <a:pt x="59115" y="0"/>
                  </a:lnTo>
                  <a:lnTo>
                    <a:pt x="617797" y="558682"/>
                  </a:lnTo>
                  <a:lnTo>
                    <a:pt x="59115" y="111735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74387" y="734680"/>
            <a:ext cx="7975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80" dirty="0">
                <a:solidFill>
                  <a:srgbClr val="F1F1F1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30194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872" y="578633"/>
            <a:ext cx="16586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-20" dirty="0">
                <a:solidFill>
                  <a:srgbClr val="0F1B40"/>
                </a:solidFill>
                <a:latin typeface="Tahoma"/>
                <a:cs typeface="Tahoma"/>
              </a:rPr>
              <a:t>AI</a:t>
            </a:r>
            <a:r>
              <a:rPr sz="2050" b="1" spc="-12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050" b="1" spc="80" dirty="0">
                <a:solidFill>
                  <a:srgbClr val="0F1B40"/>
                </a:solidFill>
                <a:latin typeface="Tahoma"/>
                <a:cs typeface="Tahoma"/>
              </a:rPr>
              <a:t>PROJECT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7623" y="7484011"/>
            <a:ext cx="1712595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-120" dirty="0">
                <a:solidFill>
                  <a:srgbClr val="8FA3C1"/>
                </a:solidFill>
                <a:latin typeface="Tahoma"/>
                <a:cs typeface="Tahoma"/>
              </a:rPr>
              <a:t>Next</a:t>
            </a:r>
            <a:r>
              <a:rPr sz="2850" b="1" spc="-41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850" b="1" spc="-90" dirty="0">
                <a:solidFill>
                  <a:srgbClr val="8FA3C1"/>
                </a:solidFill>
                <a:latin typeface="Tahoma"/>
                <a:cs typeface="Tahoma"/>
              </a:rPr>
              <a:t>Slide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65376" y="6894919"/>
            <a:ext cx="5583555" cy="29362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just">
              <a:lnSpc>
                <a:spcPct val="101200"/>
              </a:lnSpc>
              <a:spcBef>
                <a:spcPts val="70"/>
              </a:spcBef>
            </a:pPr>
            <a:r>
              <a:rPr sz="2100" spc="-20" dirty="0">
                <a:latin typeface="Tahoma"/>
                <a:cs typeface="Tahoma"/>
              </a:rPr>
              <a:t>“The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114" dirty="0">
                <a:latin typeface="Tahoma"/>
                <a:cs typeface="Tahoma"/>
              </a:rPr>
              <a:t>main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business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85" dirty="0">
                <a:latin typeface="Tahoma"/>
                <a:cs typeface="Tahoma"/>
              </a:rPr>
              <a:t>problem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we’re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addressing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90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that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75" dirty="0">
                <a:latin typeface="Tahoma"/>
                <a:cs typeface="Tahoma"/>
              </a:rPr>
              <a:t>companies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often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don’t</a:t>
            </a:r>
            <a:r>
              <a:rPr sz="2100" spc="-90" dirty="0">
                <a:latin typeface="Tahoma"/>
                <a:cs typeface="Tahoma"/>
              </a:rPr>
              <a:t> </a:t>
            </a:r>
            <a:r>
              <a:rPr sz="2100" spc="105" dirty="0">
                <a:latin typeface="Tahoma"/>
                <a:cs typeface="Tahoma"/>
              </a:rPr>
              <a:t>know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135" dirty="0">
                <a:latin typeface="Tahoma"/>
                <a:cs typeface="Tahoma"/>
              </a:rPr>
              <a:t>who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their </a:t>
            </a:r>
            <a:r>
              <a:rPr sz="2100" spc="110" dirty="0">
                <a:latin typeface="Tahoma"/>
                <a:cs typeface="Tahoma"/>
              </a:rPr>
              <a:t>most</a:t>
            </a:r>
            <a:r>
              <a:rPr sz="2100" spc="-30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valuable</a:t>
            </a:r>
            <a:r>
              <a:rPr sz="2100" spc="-305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customers</a:t>
            </a:r>
            <a:r>
              <a:rPr sz="2100" spc="-30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are.</a:t>
            </a:r>
            <a:endParaRPr sz="2100">
              <a:latin typeface="Tahoma"/>
              <a:cs typeface="Tahoma"/>
            </a:endParaRPr>
          </a:p>
          <a:p>
            <a:pPr marL="12700" marR="5080" indent="117475" algn="just">
              <a:lnSpc>
                <a:spcPct val="101200"/>
              </a:lnSpc>
            </a:pPr>
            <a:r>
              <a:rPr sz="2100" spc="70" dirty="0">
                <a:latin typeface="Tahoma"/>
                <a:cs typeface="Tahoma"/>
              </a:rPr>
              <a:t>So</a:t>
            </a:r>
            <a:r>
              <a:rPr sz="2100" spc="14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our</a:t>
            </a:r>
            <a:r>
              <a:rPr sz="2100" spc="140" dirty="0">
                <a:latin typeface="Tahoma"/>
                <a:cs typeface="Tahoma"/>
              </a:rPr>
              <a:t> </a:t>
            </a:r>
            <a:r>
              <a:rPr sz="2100" spc="60" dirty="0">
                <a:latin typeface="Tahoma"/>
                <a:cs typeface="Tahoma"/>
              </a:rPr>
              <a:t>goal</a:t>
            </a:r>
            <a:r>
              <a:rPr sz="2100" spc="1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14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to</a:t>
            </a:r>
            <a:r>
              <a:rPr sz="2100" spc="140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predict</a:t>
            </a:r>
            <a:r>
              <a:rPr sz="2100" spc="145" dirty="0">
                <a:latin typeface="Tahoma"/>
                <a:cs typeface="Tahoma"/>
              </a:rPr>
              <a:t> </a:t>
            </a:r>
            <a:r>
              <a:rPr sz="2100" spc="65" dirty="0">
                <a:latin typeface="Tahoma"/>
                <a:cs typeface="Tahoma"/>
              </a:rPr>
              <a:t>Customer</a:t>
            </a:r>
            <a:r>
              <a:rPr sz="2100" spc="140" dirty="0">
                <a:latin typeface="Tahoma"/>
                <a:cs typeface="Tahoma"/>
              </a:rPr>
              <a:t> </a:t>
            </a:r>
            <a:r>
              <a:rPr sz="2100" spc="35" dirty="0">
                <a:latin typeface="Tahoma"/>
                <a:cs typeface="Tahoma"/>
              </a:rPr>
              <a:t>Lifetime </a:t>
            </a:r>
            <a:r>
              <a:rPr sz="2100" dirty="0">
                <a:latin typeface="Tahoma"/>
                <a:cs typeface="Tahoma"/>
              </a:rPr>
              <a:t>Value</a:t>
            </a:r>
            <a:r>
              <a:rPr sz="2100" spc="-100" dirty="0">
                <a:latin typeface="Tahoma"/>
                <a:cs typeface="Tahoma"/>
              </a:rPr>
              <a:t> </a:t>
            </a:r>
            <a:r>
              <a:rPr sz="2100" spc="-60" dirty="0">
                <a:latin typeface="Tahoma"/>
                <a:cs typeface="Tahoma"/>
              </a:rPr>
              <a:t>(CLV)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114" dirty="0">
                <a:latin typeface="Tahoma"/>
                <a:cs typeface="Tahoma"/>
              </a:rPr>
              <a:t>and</a:t>
            </a:r>
            <a:r>
              <a:rPr sz="2100" spc="-100" dirty="0">
                <a:latin typeface="Tahoma"/>
                <a:cs typeface="Tahoma"/>
              </a:rPr>
              <a:t> </a:t>
            </a:r>
            <a:r>
              <a:rPr sz="2100" spc="70" dirty="0">
                <a:latin typeface="Tahoma"/>
                <a:cs typeface="Tahoma"/>
              </a:rPr>
              <a:t>to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100" dirty="0">
                <a:latin typeface="Tahoma"/>
                <a:cs typeface="Tahoma"/>
              </a:rPr>
              <a:t>segment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customers</a:t>
            </a:r>
            <a:r>
              <a:rPr sz="2100" spc="-100" dirty="0">
                <a:latin typeface="Tahoma"/>
                <a:cs typeface="Tahoma"/>
              </a:rPr>
              <a:t> </a:t>
            </a:r>
            <a:r>
              <a:rPr sz="2100" spc="45" dirty="0">
                <a:latin typeface="Tahoma"/>
                <a:cs typeface="Tahoma"/>
              </a:rPr>
              <a:t>based </a:t>
            </a:r>
            <a:r>
              <a:rPr sz="2100" spc="135" dirty="0">
                <a:latin typeface="Tahoma"/>
                <a:cs typeface="Tahoma"/>
              </a:rPr>
              <a:t>on</a:t>
            </a:r>
            <a:r>
              <a:rPr sz="2100" spc="-30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their</a:t>
            </a:r>
            <a:r>
              <a:rPr sz="2100" spc="-305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purchasing</a:t>
            </a:r>
            <a:r>
              <a:rPr sz="2100" spc="-30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behavior.</a:t>
            </a:r>
            <a:endParaRPr sz="2100">
              <a:latin typeface="Tahoma"/>
              <a:cs typeface="Tahoma"/>
            </a:endParaRPr>
          </a:p>
          <a:p>
            <a:pPr marL="12700" marR="5080" indent="146050" algn="just">
              <a:lnSpc>
                <a:spcPct val="101200"/>
              </a:lnSpc>
            </a:pPr>
            <a:r>
              <a:rPr sz="2100" dirty="0">
                <a:latin typeface="Tahoma"/>
                <a:cs typeface="Tahoma"/>
              </a:rPr>
              <a:t>This</a:t>
            </a:r>
            <a:r>
              <a:rPr sz="2100" spc="420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helps</a:t>
            </a:r>
            <a:r>
              <a:rPr sz="2100" spc="420" dirty="0">
                <a:latin typeface="Tahoma"/>
                <a:cs typeface="Tahoma"/>
              </a:rPr>
              <a:t> </a:t>
            </a:r>
            <a:r>
              <a:rPr sz="2100" spc="90" dirty="0">
                <a:latin typeface="Tahoma"/>
                <a:cs typeface="Tahoma"/>
              </a:rPr>
              <a:t>the</a:t>
            </a:r>
            <a:r>
              <a:rPr sz="2100" spc="4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business</a:t>
            </a:r>
            <a:r>
              <a:rPr sz="2100" spc="420" dirty="0">
                <a:latin typeface="Tahoma"/>
                <a:cs typeface="Tahoma"/>
              </a:rPr>
              <a:t> </a:t>
            </a:r>
            <a:r>
              <a:rPr sz="2100" spc="55" dirty="0">
                <a:latin typeface="Tahoma"/>
                <a:cs typeface="Tahoma"/>
              </a:rPr>
              <a:t>improve</a:t>
            </a:r>
            <a:r>
              <a:rPr sz="2100" spc="4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targeting, </a:t>
            </a:r>
            <a:r>
              <a:rPr sz="2100" dirty="0">
                <a:latin typeface="Tahoma"/>
                <a:cs typeface="Tahoma"/>
              </a:rPr>
              <a:t>increase</a:t>
            </a:r>
            <a:r>
              <a:rPr sz="2100" spc="-45" dirty="0">
                <a:latin typeface="Tahoma"/>
                <a:cs typeface="Tahoma"/>
              </a:rPr>
              <a:t>  </a:t>
            </a:r>
            <a:r>
              <a:rPr sz="2100" dirty="0">
                <a:latin typeface="Tahoma"/>
                <a:cs typeface="Tahoma"/>
              </a:rPr>
              <a:t>retention,</a:t>
            </a:r>
            <a:r>
              <a:rPr sz="2100" spc="-45" dirty="0">
                <a:latin typeface="Tahoma"/>
                <a:cs typeface="Tahoma"/>
              </a:rPr>
              <a:t>  </a:t>
            </a:r>
            <a:r>
              <a:rPr sz="2100" spc="114" dirty="0">
                <a:latin typeface="Tahoma"/>
                <a:cs typeface="Tahoma"/>
              </a:rPr>
              <a:t>and</a:t>
            </a:r>
            <a:r>
              <a:rPr sz="2100" spc="-40" dirty="0">
                <a:latin typeface="Tahoma"/>
                <a:cs typeface="Tahoma"/>
              </a:rPr>
              <a:t>  </a:t>
            </a:r>
            <a:r>
              <a:rPr sz="2100" spc="65" dirty="0">
                <a:latin typeface="Tahoma"/>
                <a:cs typeface="Tahoma"/>
              </a:rPr>
              <a:t>optimize</a:t>
            </a:r>
            <a:r>
              <a:rPr sz="2100" spc="-45" dirty="0">
                <a:latin typeface="Tahoma"/>
                <a:cs typeface="Tahoma"/>
              </a:rPr>
              <a:t>  </a:t>
            </a:r>
            <a:r>
              <a:rPr sz="2100" spc="60" dirty="0">
                <a:latin typeface="Tahoma"/>
                <a:cs typeface="Tahoma"/>
              </a:rPr>
              <a:t>marketing </a:t>
            </a:r>
            <a:r>
              <a:rPr sz="2100" spc="-10" dirty="0">
                <a:latin typeface="Tahoma"/>
                <a:cs typeface="Tahoma"/>
              </a:rPr>
              <a:t>spending.”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5833" y="8347409"/>
            <a:ext cx="291401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229" dirty="0">
                <a:solidFill>
                  <a:srgbClr val="FFFFFF"/>
                </a:solidFill>
                <a:latin typeface="Arial Black"/>
                <a:cs typeface="Arial Black"/>
              </a:rPr>
              <a:t>team</a:t>
            </a:r>
            <a:r>
              <a:rPr sz="31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100" spc="-195" dirty="0">
                <a:solidFill>
                  <a:srgbClr val="FFFFFF"/>
                </a:solidFill>
                <a:latin typeface="Arial Black"/>
                <a:cs typeface="Arial Black"/>
              </a:rPr>
              <a:t>members</a:t>
            </a:r>
            <a:endParaRPr sz="31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8581" y="6277946"/>
            <a:ext cx="4569418" cy="40090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6241" y="300101"/>
            <a:ext cx="859091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-670" dirty="0">
                <a:solidFill>
                  <a:srgbClr val="000000"/>
                </a:solidFill>
              </a:rPr>
              <a:t>team</a:t>
            </a:r>
            <a:r>
              <a:rPr sz="9200" spc="-900" dirty="0">
                <a:solidFill>
                  <a:srgbClr val="000000"/>
                </a:solidFill>
              </a:rPr>
              <a:t> </a:t>
            </a:r>
            <a:r>
              <a:rPr sz="9200" spc="-645" dirty="0">
                <a:solidFill>
                  <a:srgbClr val="000000"/>
                </a:solidFill>
              </a:rPr>
              <a:t>members</a:t>
            </a:r>
            <a:endParaRPr sz="9200"/>
          </a:p>
        </p:txBody>
      </p:sp>
      <p:sp>
        <p:nvSpPr>
          <p:cNvPr id="4" name="object 4"/>
          <p:cNvSpPr/>
          <p:nvPr/>
        </p:nvSpPr>
        <p:spPr>
          <a:xfrm>
            <a:off x="1615276" y="195052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15276" y="2972714"/>
            <a:ext cx="10412730" cy="434157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r>
              <a:rPr lang="en-US" sz="3050" dirty="0">
                <a:latin typeface="Tahoma"/>
                <a:cs typeface="Tahoma"/>
              </a:rPr>
              <a:t>1- MOATAZ ESSAM ABDELMONSEF (TEAM LEADER)</a:t>
            </a: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endParaRPr lang="en-US" sz="3050" dirty="0">
              <a:latin typeface="Tahoma"/>
              <a:cs typeface="Tahoma"/>
            </a:endParaRP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r>
              <a:rPr lang="en-US" sz="3050" dirty="0">
                <a:latin typeface="Tahoma"/>
                <a:cs typeface="Tahoma"/>
              </a:rPr>
              <a:t>2- ZEINAB ALI AL_SAYED</a:t>
            </a: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endParaRPr lang="en-US" sz="3050" dirty="0">
              <a:latin typeface="Tahoma"/>
              <a:cs typeface="Tahoma"/>
            </a:endParaRP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r>
              <a:rPr lang="en-US" sz="3050" dirty="0">
                <a:latin typeface="Tahoma"/>
                <a:cs typeface="Tahoma"/>
              </a:rPr>
              <a:t>3- SANA ELSAYED ELBAKRY</a:t>
            </a: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endParaRPr lang="en-US" sz="3050" dirty="0">
              <a:latin typeface="Tahoma"/>
              <a:cs typeface="Tahoma"/>
            </a:endParaRP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r>
              <a:rPr lang="en-US" sz="3050" dirty="0">
                <a:latin typeface="Tahoma"/>
                <a:cs typeface="Tahoma"/>
              </a:rPr>
              <a:t>4- ESRAA MAGDY MOHAMMADY</a:t>
            </a: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endParaRPr lang="en-US" sz="3050" dirty="0">
              <a:latin typeface="Tahoma"/>
              <a:cs typeface="Tahoma"/>
            </a:endParaRPr>
          </a:p>
          <a:p>
            <a:pPr marL="1270">
              <a:lnSpc>
                <a:spcPct val="100000"/>
              </a:lnSpc>
              <a:spcBef>
                <a:spcPts val="114"/>
              </a:spcBef>
              <a:tabLst>
                <a:tab pos="426720" algn="l"/>
              </a:tabLst>
            </a:pPr>
            <a:r>
              <a:rPr lang="en-US" sz="3050" dirty="0">
                <a:latin typeface="Tahoma"/>
                <a:cs typeface="Tahoma"/>
              </a:rPr>
              <a:t>5- NOUR HUSSIEN ALI</a:t>
            </a:r>
            <a:endParaRPr sz="30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1333" y="628302"/>
            <a:ext cx="1463675" cy="589280"/>
          </a:xfrm>
          <a:custGeom>
            <a:avLst/>
            <a:gdLst/>
            <a:ahLst/>
            <a:cxnLst/>
            <a:rect l="l" t="t" r="r" b="b"/>
            <a:pathLst>
              <a:path w="1463675" h="589280">
                <a:moveTo>
                  <a:pt x="1169556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7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7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169556" y="0"/>
                </a:lnTo>
                <a:lnTo>
                  <a:pt x="1217320" y="3854"/>
                </a:lnTo>
                <a:lnTo>
                  <a:pt x="1262630" y="15012"/>
                </a:lnTo>
                <a:lnTo>
                  <a:pt x="1304880" y="32867"/>
                </a:lnTo>
                <a:lnTo>
                  <a:pt x="1343464" y="56814"/>
                </a:lnTo>
                <a:lnTo>
                  <a:pt x="1377775" y="86247"/>
                </a:lnTo>
                <a:lnTo>
                  <a:pt x="1407207" y="120558"/>
                </a:lnTo>
                <a:lnTo>
                  <a:pt x="1431154" y="159141"/>
                </a:lnTo>
                <a:lnTo>
                  <a:pt x="1449010" y="201391"/>
                </a:lnTo>
                <a:lnTo>
                  <a:pt x="1460168" y="246701"/>
                </a:lnTo>
                <a:lnTo>
                  <a:pt x="1463127" y="283369"/>
                </a:lnTo>
                <a:lnTo>
                  <a:pt x="1463127" y="305562"/>
                </a:lnTo>
                <a:lnTo>
                  <a:pt x="1449010" y="387539"/>
                </a:lnTo>
                <a:lnTo>
                  <a:pt x="1431154" y="429789"/>
                </a:lnTo>
                <a:lnTo>
                  <a:pt x="1407207" y="468373"/>
                </a:lnTo>
                <a:lnTo>
                  <a:pt x="1377775" y="502684"/>
                </a:lnTo>
                <a:lnTo>
                  <a:pt x="1343464" y="532116"/>
                </a:lnTo>
                <a:lnTo>
                  <a:pt x="1304880" y="556063"/>
                </a:lnTo>
                <a:lnTo>
                  <a:pt x="1262630" y="573919"/>
                </a:lnTo>
                <a:lnTo>
                  <a:pt x="1217320" y="585077"/>
                </a:lnTo>
                <a:lnTo>
                  <a:pt x="1169556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3833" y="1995672"/>
            <a:ext cx="5344166" cy="681243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911384" y="6647469"/>
            <a:ext cx="2728595" cy="2387600"/>
          </a:xfrm>
          <a:custGeom>
            <a:avLst/>
            <a:gdLst/>
            <a:ahLst/>
            <a:cxnLst/>
            <a:rect l="l" t="t" r="r" b="b"/>
            <a:pathLst>
              <a:path w="2728595" h="2387600">
                <a:moveTo>
                  <a:pt x="2728556" y="2387487"/>
                </a:moveTo>
                <a:lnTo>
                  <a:pt x="0" y="2387487"/>
                </a:lnTo>
                <a:lnTo>
                  <a:pt x="1364278" y="0"/>
                </a:lnTo>
                <a:lnTo>
                  <a:pt x="2728556" y="238748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6744948" y="2818747"/>
            <a:ext cx="1543050" cy="1543050"/>
            <a:chOff x="16744948" y="2818747"/>
            <a:chExt cx="1543050" cy="1543050"/>
          </a:xfrm>
        </p:grpSpPr>
        <p:sp>
          <p:nvSpPr>
            <p:cNvPr id="9" name="object 9"/>
            <p:cNvSpPr/>
            <p:nvPr/>
          </p:nvSpPr>
          <p:spPr>
            <a:xfrm>
              <a:off x="16744948" y="2818747"/>
              <a:ext cx="1543050" cy="1543050"/>
            </a:xfrm>
            <a:custGeom>
              <a:avLst/>
              <a:gdLst/>
              <a:ahLst/>
              <a:cxnLst/>
              <a:rect l="l" t="t" r="r" b="b"/>
              <a:pathLst>
                <a:path w="1543050" h="1543050">
                  <a:moveTo>
                    <a:pt x="771524" y="1543049"/>
                  </a:move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1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7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3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7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1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820317" y="1517"/>
                  </a:lnTo>
                  <a:lnTo>
                    <a:pt x="868303" y="6011"/>
                  </a:lnTo>
                  <a:lnTo>
                    <a:pt x="915392" y="13389"/>
                  </a:lnTo>
                  <a:lnTo>
                    <a:pt x="961494" y="23563"/>
                  </a:lnTo>
                  <a:lnTo>
                    <a:pt x="1006518" y="36440"/>
                  </a:lnTo>
                  <a:lnTo>
                    <a:pt x="1050375" y="51932"/>
                  </a:lnTo>
                  <a:lnTo>
                    <a:pt x="1092973" y="69947"/>
                  </a:lnTo>
                  <a:lnTo>
                    <a:pt x="1134222" y="90396"/>
                  </a:lnTo>
                  <a:lnTo>
                    <a:pt x="1174032" y="113187"/>
                  </a:lnTo>
                  <a:lnTo>
                    <a:pt x="1212313" y="138231"/>
                  </a:lnTo>
                  <a:lnTo>
                    <a:pt x="1248974" y="165437"/>
                  </a:lnTo>
                  <a:lnTo>
                    <a:pt x="1283925" y="194715"/>
                  </a:lnTo>
                  <a:lnTo>
                    <a:pt x="1317075" y="225974"/>
                  </a:lnTo>
                  <a:lnTo>
                    <a:pt x="1348334" y="259124"/>
                  </a:lnTo>
                  <a:lnTo>
                    <a:pt x="1377612" y="294075"/>
                  </a:lnTo>
                  <a:lnTo>
                    <a:pt x="1404818" y="330736"/>
                  </a:lnTo>
                  <a:lnTo>
                    <a:pt x="1429862" y="369016"/>
                  </a:lnTo>
                  <a:lnTo>
                    <a:pt x="1452653" y="408827"/>
                  </a:lnTo>
                  <a:lnTo>
                    <a:pt x="1473102" y="450076"/>
                  </a:lnTo>
                  <a:lnTo>
                    <a:pt x="1491117" y="492674"/>
                  </a:lnTo>
                  <a:lnTo>
                    <a:pt x="1506609" y="536530"/>
                  </a:lnTo>
                  <a:lnTo>
                    <a:pt x="1519486" y="581555"/>
                  </a:lnTo>
                  <a:lnTo>
                    <a:pt x="1529660" y="627657"/>
                  </a:lnTo>
                  <a:lnTo>
                    <a:pt x="1537038" y="674746"/>
                  </a:lnTo>
                  <a:lnTo>
                    <a:pt x="1541532" y="722732"/>
                  </a:lnTo>
                  <a:lnTo>
                    <a:pt x="1543049" y="771524"/>
                  </a:lnTo>
                  <a:lnTo>
                    <a:pt x="1541532" y="820317"/>
                  </a:lnTo>
                  <a:lnTo>
                    <a:pt x="1537038" y="868303"/>
                  </a:lnTo>
                  <a:lnTo>
                    <a:pt x="1529660" y="915392"/>
                  </a:lnTo>
                  <a:lnTo>
                    <a:pt x="1519486" y="961494"/>
                  </a:lnTo>
                  <a:lnTo>
                    <a:pt x="1506609" y="1006518"/>
                  </a:lnTo>
                  <a:lnTo>
                    <a:pt x="1491117" y="1050375"/>
                  </a:lnTo>
                  <a:lnTo>
                    <a:pt x="1473102" y="1092973"/>
                  </a:lnTo>
                  <a:lnTo>
                    <a:pt x="1452653" y="1134222"/>
                  </a:lnTo>
                  <a:lnTo>
                    <a:pt x="1429862" y="1174033"/>
                  </a:lnTo>
                  <a:lnTo>
                    <a:pt x="1404818" y="1212313"/>
                  </a:lnTo>
                  <a:lnTo>
                    <a:pt x="1377612" y="1248974"/>
                  </a:lnTo>
                  <a:lnTo>
                    <a:pt x="1348334" y="1283925"/>
                  </a:lnTo>
                  <a:lnTo>
                    <a:pt x="1317075" y="1317075"/>
                  </a:lnTo>
                  <a:lnTo>
                    <a:pt x="1283925" y="1348334"/>
                  </a:lnTo>
                  <a:lnTo>
                    <a:pt x="1248974" y="1377612"/>
                  </a:lnTo>
                  <a:lnTo>
                    <a:pt x="1212313" y="1404818"/>
                  </a:lnTo>
                  <a:lnTo>
                    <a:pt x="1174032" y="1429862"/>
                  </a:lnTo>
                  <a:lnTo>
                    <a:pt x="1134222" y="1452653"/>
                  </a:lnTo>
                  <a:lnTo>
                    <a:pt x="1092973" y="1473102"/>
                  </a:lnTo>
                  <a:lnTo>
                    <a:pt x="1050375" y="1491117"/>
                  </a:lnTo>
                  <a:lnTo>
                    <a:pt x="1006518" y="1506609"/>
                  </a:lnTo>
                  <a:lnTo>
                    <a:pt x="961494" y="1519486"/>
                  </a:lnTo>
                  <a:lnTo>
                    <a:pt x="915392" y="1529660"/>
                  </a:lnTo>
                  <a:lnTo>
                    <a:pt x="868303" y="1537038"/>
                  </a:lnTo>
                  <a:lnTo>
                    <a:pt x="820317" y="1541532"/>
                  </a:lnTo>
                  <a:lnTo>
                    <a:pt x="771524" y="15430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259298" y="3301583"/>
              <a:ext cx="577850" cy="577850"/>
            </a:xfrm>
            <a:custGeom>
              <a:avLst/>
              <a:gdLst/>
              <a:ahLst/>
              <a:cxnLst/>
              <a:rect l="l" t="t" r="r" b="b"/>
              <a:pathLst>
                <a:path w="577850" h="577850">
                  <a:moveTo>
                    <a:pt x="288689" y="577378"/>
                  </a:moveTo>
                  <a:lnTo>
                    <a:pt x="241862" y="573600"/>
                  </a:lnTo>
                  <a:lnTo>
                    <a:pt x="197441" y="562661"/>
                  </a:lnTo>
                  <a:lnTo>
                    <a:pt x="156020" y="545155"/>
                  </a:lnTo>
                  <a:lnTo>
                    <a:pt x="118193" y="521678"/>
                  </a:lnTo>
                  <a:lnTo>
                    <a:pt x="84555" y="492823"/>
                  </a:lnTo>
                  <a:lnTo>
                    <a:pt x="55700" y="459185"/>
                  </a:lnTo>
                  <a:lnTo>
                    <a:pt x="32223" y="421358"/>
                  </a:lnTo>
                  <a:lnTo>
                    <a:pt x="14717" y="379937"/>
                  </a:lnTo>
                  <a:lnTo>
                    <a:pt x="3778" y="335516"/>
                  </a:lnTo>
                  <a:lnTo>
                    <a:pt x="0" y="288689"/>
                  </a:lnTo>
                  <a:lnTo>
                    <a:pt x="3778" y="241862"/>
                  </a:lnTo>
                  <a:lnTo>
                    <a:pt x="14717" y="197441"/>
                  </a:lnTo>
                  <a:lnTo>
                    <a:pt x="32223" y="156019"/>
                  </a:lnTo>
                  <a:lnTo>
                    <a:pt x="55700" y="118193"/>
                  </a:lnTo>
                  <a:lnTo>
                    <a:pt x="84555" y="84555"/>
                  </a:lnTo>
                  <a:lnTo>
                    <a:pt x="118193" y="55700"/>
                  </a:lnTo>
                  <a:lnTo>
                    <a:pt x="156020" y="32222"/>
                  </a:lnTo>
                  <a:lnTo>
                    <a:pt x="197441" y="14717"/>
                  </a:lnTo>
                  <a:lnTo>
                    <a:pt x="241862" y="3778"/>
                  </a:lnTo>
                  <a:lnTo>
                    <a:pt x="288689" y="0"/>
                  </a:lnTo>
                  <a:lnTo>
                    <a:pt x="335516" y="3778"/>
                  </a:lnTo>
                  <a:lnTo>
                    <a:pt x="379937" y="14717"/>
                  </a:lnTo>
                  <a:lnTo>
                    <a:pt x="421358" y="32222"/>
                  </a:lnTo>
                  <a:lnTo>
                    <a:pt x="459185" y="55700"/>
                  </a:lnTo>
                  <a:lnTo>
                    <a:pt x="492823" y="84555"/>
                  </a:lnTo>
                  <a:lnTo>
                    <a:pt x="521678" y="118193"/>
                  </a:lnTo>
                  <a:lnTo>
                    <a:pt x="545155" y="156019"/>
                  </a:lnTo>
                  <a:lnTo>
                    <a:pt x="562661" y="197441"/>
                  </a:lnTo>
                  <a:lnTo>
                    <a:pt x="573600" y="241862"/>
                  </a:lnTo>
                  <a:lnTo>
                    <a:pt x="577378" y="288689"/>
                  </a:lnTo>
                  <a:lnTo>
                    <a:pt x="573600" y="335516"/>
                  </a:lnTo>
                  <a:lnTo>
                    <a:pt x="562661" y="379937"/>
                  </a:lnTo>
                  <a:lnTo>
                    <a:pt x="545155" y="421358"/>
                  </a:lnTo>
                  <a:lnTo>
                    <a:pt x="521678" y="459185"/>
                  </a:lnTo>
                  <a:lnTo>
                    <a:pt x="492823" y="492823"/>
                  </a:lnTo>
                  <a:lnTo>
                    <a:pt x="459185" y="521678"/>
                  </a:lnTo>
                  <a:lnTo>
                    <a:pt x="421358" y="545155"/>
                  </a:lnTo>
                  <a:lnTo>
                    <a:pt x="379937" y="562661"/>
                  </a:lnTo>
                  <a:lnTo>
                    <a:pt x="335516" y="573600"/>
                  </a:lnTo>
                  <a:lnTo>
                    <a:pt x="288689" y="577378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098662" y="6647468"/>
            <a:ext cx="2160905" cy="2160905"/>
            <a:chOff x="15098662" y="6647468"/>
            <a:chExt cx="2160905" cy="2160905"/>
          </a:xfrm>
        </p:grpSpPr>
        <p:sp>
          <p:nvSpPr>
            <p:cNvPr id="12" name="object 12"/>
            <p:cNvSpPr/>
            <p:nvPr/>
          </p:nvSpPr>
          <p:spPr>
            <a:xfrm>
              <a:off x="15098662" y="6647468"/>
              <a:ext cx="2160905" cy="2160905"/>
            </a:xfrm>
            <a:custGeom>
              <a:avLst/>
              <a:gdLst/>
              <a:ahLst/>
              <a:cxnLst/>
              <a:rect l="l" t="t" r="r" b="b"/>
              <a:pathLst>
                <a:path w="2160905" h="2160904">
                  <a:moveTo>
                    <a:pt x="1080269" y="2160537"/>
                  </a:moveTo>
                  <a:lnTo>
                    <a:pt x="1032148" y="2159485"/>
                  </a:lnTo>
                  <a:lnTo>
                    <a:pt x="984568" y="2156356"/>
                  </a:lnTo>
                  <a:lnTo>
                    <a:pt x="937570" y="2151196"/>
                  </a:lnTo>
                  <a:lnTo>
                    <a:pt x="891200" y="2144048"/>
                  </a:lnTo>
                  <a:lnTo>
                    <a:pt x="845500" y="2134955"/>
                  </a:lnTo>
                  <a:lnTo>
                    <a:pt x="800514" y="2123963"/>
                  </a:lnTo>
                  <a:lnTo>
                    <a:pt x="756288" y="2111114"/>
                  </a:lnTo>
                  <a:lnTo>
                    <a:pt x="712863" y="2096453"/>
                  </a:lnTo>
                  <a:lnTo>
                    <a:pt x="670285" y="2080023"/>
                  </a:lnTo>
                  <a:lnTo>
                    <a:pt x="628598" y="2061869"/>
                  </a:lnTo>
                  <a:lnTo>
                    <a:pt x="587844" y="2042034"/>
                  </a:lnTo>
                  <a:lnTo>
                    <a:pt x="548069" y="2020562"/>
                  </a:lnTo>
                  <a:lnTo>
                    <a:pt x="509316" y="1997498"/>
                  </a:lnTo>
                  <a:lnTo>
                    <a:pt x="471628" y="1972885"/>
                  </a:lnTo>
                  <a:lnTo>
                    <a:pt x="435051" y="1946766"/>
                  </a:lnTo>
                  <a:lnTo>
                    <a:pt x="399627" y="1919187"/>
                  </a:lnTo>
                  <a:lnTo>
                    <a:pt x="365400" y="1890190"/>
                  </a:lnTo>
                  <a:lnTo>
                    <a:pt x="332416" y="1859820"/>
                  </a:lnTo>
                  <a:lnTo>
                    <a:pt x="300716" y="1828121"/>
                  </a:lnTo>
                  <a:lnTo>
                    <a:pt x="270347" y="1795136"/>
                  </a:lnTo>
                  <a:lnTo>
                    <a:pt x="241350" y="1760910"/>
                  </a:lnTo>
                  <a:lnTo>
                    <a:pt x="213770" y="1725486"/>
                  </a:lnTo>
                  <a:lnTo>
                    <a:pt x="187652" y="1688909"/>
                  </a:lnTo>
                  <a:lnTo>
                    <a:pt x="163039" y="1651221"/>
                  </a:lnTo>
                  <a:lnTo>
                    <a:pt x="139974" y="1612468"/>
                  </a:lnTo>
                  <a:lnTo>
                    <a:pt x="118503" y="1572692"/>
                  </a:lnTo>
                  <a:lnTo>
                    <a:pt x="98668" y="1531939"/>
                  </a:lnTo>
                  <a:lnTo>
                    <a:pt x="80514" y="1490251"/>
                  </a:lnTo>
                  <a:lnTo>
                    <a:pt x="64084" y="1447673"/>
                  </a:lnTo>
                  <a:lnTo>
                    <a:pt x="49423" y="1404249"/>
                  </a:lnTo>
                  <a:lnTo>
                    <a:pt x="36574" y="1360022"/>
                  </a:lnTo>
                  <a:lnTo>
                    <a:pt x="25581" y="1315037"/>
                  </a:lnTo>
                  <a:lnTo>
                    <a:pt x="16489" y="1269337"/>
                  </a:lnTo>
                  <a:lnTo>
                    <a:pt x="9341" y="1222967"/>
                  </a:lnTo>
                  <a:lnTo>
                    <a:pt x="4180" y="1175969"/>
                  </a:lnTo>
                  <a:lnTo>
                    <a:pt x="1052" y="1128389"/>
                  </a:lnTo>
                  <a:lnTo>
                    <a:pt x="0" y="1080267"/>
                  </a:lnTo>
                  <a:lnTo>
                    <a:pt x="1052" y="1032148"/>
                  </a:lnTo>
                  <a:lnTo>
                    <a:pt x="4180" y="984568"/>
                  </a:lnTo>
                  <a:lnTo>
                    <a:pt x="9341" y="937570"/>
                  </a:lnTo>
                  <a:lnTo>
                    <a:pt x="16489" y="891200"/>
                  </a:lnTo>
                  <a:lnTo>
                    <a:pt x="25581" y="845500"/>
                  </a:lnTo>
                  <a:lnTo>
                    <a:pt x="36574" y="800514"/>
                  </a:lnTo>
                  <a:lnTo>
                    <a:pt x="49423" y="756288"/>
                  </a:lnTo>
                  <a:lnTo>
                    <a:pt x="64084" y="712863"/>
                  </a:lnTo>
                  <a:lnTo>
                    <a:pt x="80514" y="670285"/>
                  </a:lnTo>
                  <a:lnTo>
                    <a:pt x="98668" y="628598"/>
                  </a:lnTo>
                  <a:lnTo>
                    <a:pt x="118503" y="587844"/>
                  </a:lnTo>
                  <a:lnTo>
                    <a:pt x="139974" y="548069"/>
                  </a:lnTo>
                  <a:lnTo>
                    <a:pt x="163039" y="509316"/>
                  </a:lnTo>
                  <a:lnTo>
                    <a:pt x="187652" y="471628"/>
                  </a:lnTo>
                  <a:lnTo>
                    <a:pt x="213770" y="435051"/>
                  </a:lnTo>
                  <a:lnTo>
                    <a:pt x="241350" y="399627"/>
                  </a:lnTo>
                  <a:lnTo>
                    <a:pt x="270347" y="365400"/>
                  </a:lnTo>
                  <a:lnTo>
                    <a:pt x="300716" y="332416"/>
                  </a:lnTo>
                  <a:lnTo>
                    <a:pt x="332416" y="300716"/>
                  </a:lnTo>
                  <a:lnTo>
                    <a:pt x="365400" y="270347"/>
                  </a:lnTo>
                  <a:lnTo>
                    <a:pt x="399627" y="241350"/>
                  </a:lnTo>
                  <a:lnTo>
                    <a:pt x="435051" y="213770"/>
                  </a:lnTo>
                  <a:lnTo>
                    <a:pt x="471628" y="187652"/>
                  </a:lnTo>
                  <a:lnTo>
                    <a:pt x="509316" y="163039"/>
                  </a:lnTo>
                  <a:lnTo>
                    <a:pt x="548069" y="139974"/>
                  </a:lnTo>
                  <a:lnTo>
                    <a:pt x="587844" y="118503"/>
                  </a:lnTo>
                  <a:lnTo>
                    <a:pt x="628598" y="98668"/>
                  </a:lnTo>
                  <a:lnTo>
                    <a:pt x="670285" y="80514"/>
                  </a:lnTo>
                  <a:lnTo>
                    <a:pt x="712863" y="64084"/>
                  </a:lnTo>
                  <a:lnTo>
                    <a:pt x="756288" y="49423"/>
                  </a:lnTo>
                  <a:lnTo>
                    <a:pt x="800514" y="36574"/>
                  </a:lnTo>
                  <a:lnTo>
                    <a:pt x="845500" y="25581"/>
                  </a:lnTo>
                  <a:lnTo>
                    <a:pt x="891200" y="16489"/>
                  </a:lnTo>
                  <a:lnTo>
                    <a:pt x="937570" y="9341"/>
                  </a:lnTo>
                  <a:lnTo>
                    <a:pt x="984568" y="4180"/>
                  </a:lnTo>
                  <a:lnTo>
                    <a:pt x="1032148" y="1052"/>
                  </a:lnTo>
                  <a:lnTo>
                    <a:pt x="1080269" y="0"/>
                  </a:lnTo>
                  <a:lnTo>
                    <a:pt x="1128389" y="1052"/>
                  </a:lnTo>
                  <a:lnTo>
                    <a:pt x="1175969" y="4180"/>
                  </a:lnTo>
                  <a:lnTo>
                    <a:pt x="1222967" y="9341"/>
                  </a:lnTo>
                  <a:lnTo>
                    <a:pt x="1269337" y="16489"/>
                  </a:lnTo>
                  <a:lnTo>
                    <a:pt x="1315037" y="25581"/>
                  </a:lnTo>
                  <a:lnTo>
                    <a:pt x="1360022" y="36574"/>
                  </a:lnTo>
                  <a:lnTo>
                    <a:pt x="1404249" y="49423"/>
                  </a:lnTo>
                  <a:lnTo>
                    <a:pt x="1447673" y="64084"/>
                  </a:lnTo>
                  <a:lnTo>
                    <a:pt x="1490251" y="80514"/>
                  </a:lnTo>
                  <a:lnTo>
                    <a:pt x="1531939" y="98668"/>
                  </a:lnTo>
                  <a:lnTo>
                    <a:pt x="1572692" y="118503"/>
                  </a:lnTo>
                  <a:lnTo>
                    <a:pt x="1612468" y="139974"/>
                  </a:lnTo>
                  <a:lnTo>
                    <a:pt x="1651221" y="163039"/>
                  </a:lnTo>
                  <a:lnTo>
                    <a:pt x="1688909" y="187652"/>
                  </a:lnTo>
                  <a:lnTo>
                    <a:pt x="1725486" y="213770"/>
                  </a:lnTo>
                  <a:lnTo>
                    <a:pt x="1760910" y="241350"/>
                  </a:lnTo>
                  <a:lnTo>
                    <a:pt x="1795136" y="270347"/>
                  </a:lnTo>
                  <a:lnTo>
                    <a:pt x="1828121" y="300716"/>
                  </a:lnTo>
                  <a:lnTo>
                    <a:pt x="1859820" y="332416"/>
                  </a:lnTo>
                  <a:lnTo>
                    <a:pt x="1890190" y="365400"/>
                  </a:lnTo>
                  <a:lnTo>
                    <a:pt x="1919187" y="399627"/>
                  </a:lnTo>
                  <a:lnTo>
                    <a:pt x="1946766" y="435051"/>
                  </a:lnTo>
                  <a:lnTo>
                    <a:pt x="1972885" y="471628"/>
                  </a:lnTo>
                  <a:lnTo>
                    <a:pt x="1997498" y="509316"/>
                  </a:lnTo>
                  <a:lnTo>
                    <a:pt x="2020562" y="548069"/>
                  </a:lnTo>
                  <a:lnTo>
                    <a:pt x="2042034" y="587844"/>
                  </a:lnTo>
                  <a:lnTo>
                    <a:pt x="2061869" y="628598"/>
                  </a:lnTo>
                  <a:lnTo>
                    <a:pt x="2080023" y="670285"/>
                  </a:lnTo>
                  <a:lnTo>
                    <a:pt x="2096453" y="712863"/>
                  </a:lnTo>
                  <a:lnTo>
                    <a:pt x="2111114" y="756288"/>
                  </a:lnTo>
                  <a:lnTo>
                    <a:pt x="2123963" y="800514"/>
                  </a:lnTo>
                  <a:lnTo>
                    <a:pt x="2134955" y="845500"/>
                  </a:lnTo>
                  <a:lnTo>
                    <a:pt x="2144048" y="891200"/>
                  </a:lnTo>
                  <a:lnTo>
                    <a:pt x="2151196" y="937570"/>
                  </a:lnTo>
                  <a:lnTo>
                    <a:pt x="2156356" y="984568"/>
                  </a:lnTo>
                  <a:lnTo>
                    <a:pt x="2159485" y="1032148"/>
                  </a:lnTo>
                  <a:lnTo>
                    <a:pt x="2160537" y="1080269"/>
                  </a:lnTo>
                  <a:lnTo>
                    <a:pt x="2159485" y="1128389"/>
                  </a:lnTo>
                  <a:lnTo>
                    <a:pt x="2156356" y="1175969"/>
                  </a:lnTo>
                  <a:lnTo>
                    <a:pt x="2151196" y="1222967"/>
                  </a:lnTo>
                  <a:lnTo>
                    <a:pt x="2144048" y="1269337"/>
                  </a:lnTo>
                  <a:lnTo>
                    <a:pt x="2134955" y="1315037"/>
                  </a:lnTo>
                  <a:lnTo>
                    <a:pt x="2123963" y="1360022"/>
                  </a:lnTo>
                  <a:lnTo>
                    <a:pt x="2111114" y="1404249"/>
                  </a:lnTo>
                  <a:lnTo>
                    <a:pt x="2096453" y="1447673"/>
                  </a:lnTo>
                  <a:lnTo>
                    <a:pt x="2080023" y="1490251"/>
                  </a:lnTo>
                  <a:lnTo>
                    <a:pt x="2061869" y="1531939"/>
                  </a:lnTo>
                  <a:lnTo>
                    <a:pt x="2042034" y="1572692"/>
                  </a:lnTo>
                  <a:lnTo>
                    <a:pt x="2020562" y="1612468"/>
                  </a:lnTo>
                  <a:lnTo>
                    <a:pt x="1997498" y="1651221"/>
                  </a:lnTo>
                  <a:lnTo>
                    <a:pt x="1972885" y="1688909"/>
                  </a:lnTo>
                  <a:lnTo>
                    <a:pt x="1946766" y="1725486"/>
                  </a:lnTo>
                  <a:lnTo>
                    <a:pt x="1919187" y="1760910"/>
                  </a:lnTo>
                  <a:lnTo>
                    <a:pt x="1890190" y="1795136"/>
                  </a:lnTo>
                  <a:lnTo>
                    <a:pt x="1859820" y="1828121"/>
                  </a:lnTo>
                  <a:lnTo>
                    <a:pt x="1828121" y="1859820"/>
                  </a:lnTo>
                  <a:lnTo>
                    <a:pt x="1795136" y="1890190"/>
                  </a:lnTo>
                  <a:lnTo>
                    <a:pt x="1760910" y="1919187"/>
                  </a:lnTo>
                  <a:lnTo>
                    <a:pt x="1725486" y="1946766"/>
                  </a:lnTo>
                  <a:lnTo>
                    <a:pt x="1688909" y="1972885"/>
                  </a:lnTo>
                  <a:lnTo>
                    <a:pt x="1651221" y="1997498"/>
                  </a:lnTo>
                  <a:lnTo>
                    <a:pt x="1612468" y="2020562"/>
                  </a:lnTo>
                  <a:lnTo>
                    <a:pt x="1572692" y="2042034"/>
                  </a:lnTo>
                  <a:lnTo>
                    <a:pt x="1531939" y="2061869"/>
                  </a:lnTo>
                  <a:lnTo>
                    <a:pt x="1490251" y="2080023"/>
                  </a:lnTo>
                  <a:lnTo>
                    <a:pt x="1447673" y="2096453"/>
                  </a:lnTo>
                  <a:lnTo>
                    <a:pt x="1404249" y="2111114"/>
                  </a:lnTo>
                  <a:lnTo>
                    <a:pt x="1360022" y="2123963"/>
                  </a:lnTo>
                  <a:lnTo>
                    <a:pt x="1315037" y="2134955"/>
                  </a:lnTo>
                  <a:lnTo>
                    <a:pt x="1269337" y="2144048"/>
                  </a:lnTo>
                  <a:lnTo>
                    <a:pt x="1222967" y="2151196"/>
                  </a:lnTo>
                  <a:lnTo>
                    <a:pt x="1175969" y="2156356"/>
                  </a:lnTo>
                  <a:lnTo>
                    <a:pt x="1128389" y="2159485"/>
                  </a:lnTo>
                  <a:lnTo>
                    <a:pt x="1080269" y="2160537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959091" y="7169057"/>
              <a:ext cx="617855" cy="1117600"/>
            </a:xfrm>
            <a:custGeom>
              <a:avLst/>
              <a:gdLst/>
              <a:ahLst/>
              <a:cxnLst/>
              <a:rect l="l" t="t" r="r" b="b"/>
              <a:pathLst>
                <a:path w="617855" h="1117600">
                  <a:moveTo>
                    <a:pt x="59115" y="1117353"/>
                  </a:moveTo>
                  <a:lnTo>
                    <a:pt x="0" y="1058237"/>
                  </a:lnTo>
                  <a:lnTo>
                    <a:pt x="499543" y="558682"/>
                  </a:lnTo>
                  <a:lnTo>
                    <a:pt x="0" y="59115"/>
                  </a:lnTo>
                  <a:lnTo>
                    <a:pt x="59115" y="0"/>
                  </a:lnTo>
                  <a:lnTo>
                    <a:pt x="617797" y="558682"/>
                  </a:lnTo>
                  <a:lnTo>
                    <a:pt x="59115" y="111735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028700" y="6966187"/>
            <a:ext cx="3378200" cy="2068830"/>
            <a:chOff x="1028700" y="6966187"/>
            <a:chExt cx="3378200" cy="2068830"/>
          </a:xfrm>
        </p:grpSpPr>
        <p:sp>
          <p:nvSpPr>
            <p:cNvPr id="15" name="object 15"/>
            <p:cNvSpPr/>
            <p:nvPr/>
          </p:nvSpPr>
          <p:spPr>
            <a:xfrm>
              <a:off x="1028700" y="6966187"/>
              <a:ext cx="3378200" cy="2068830"/>
            </a:xfrm>
            <a:custGeom>
              <a:avLst/>
              <a:gdLst/>
              <a:ahLst/>
              <a:cxnLst/>
              <a:rect l="l" t="t" r="r" b="b"/>
              <a:pathLst>
                <a:path w="3378200" h="2068829">
                  <a:moveTo>
                    <a:pt x="2894605" y="2068768"/>
                  </a:moveTo>
                  <a:lnTo>
                    <a:pt x="485775" y="2068768"/>
                  </a:lnTo>
                  <a:lnTo>
                    <a:pt x="437762" y="2066392"/>
                  </a:lnTo>
                  <a:lnTo>
                    <a:pt x="390562" y="2059348"/>
                  </a:lnTo>
                  <a:lnTo>
                    <a:pt x="344494" y="2047771"/>
                  </a:lnTo>
                  <a:lnTo>
                    <a:pt x="299876" y="2031791"/>
                  </a:lnTo>
                  <a:lnTo>
                    <a:pt x="257028" y="2011541"/>
                  </a:lnTo>
                  <a:lnTo>
                    <a:pt x="216266" y="1987153"/>
                  </a:lnTo>
                  <a:lnTo>
                    <a:pt x="177911" y="1958758"/>
                  </a:lnTo>
                  <a:lnTo>
                    <a:pt x="142280" y="1926488"/>
                  </a:lnTo>
                  <a:lnTo>
                    <a:pt x="110010" y="1890857"/>
                  </a:lnTo>
                  <a:lnTo>
                    <a:pt x="81615" y="1852502"/>
                  </a:lnTo>
                  <a:lnTo>
                    <a:pt x="57227" y="1811741"/>
                  </a:lnTo>
                  <a:lnTo>
                    <a:pt x="36977" y="1768892"/>
                  </a:lnTo>
                  <a:lnTo>
                    <a:pt x="20997" y="1724274"/>
                  </a:lnTo>
                  <a:lnTo>
                    <a:pt x="9420" y="1678206"/>
                  </a:lnTo>
                  <a:lnTo>
                    <a:pt x="2377" y="1631006"/>
                  </a:lnTo>
                  <a:lnTo>
                    <a:pt x="0" y="1582994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2894605" y="0"/>
                  </a:lnTo>
                  <a:lnTo>
                    <a:pt x="2942618" y="2377"/>
                  </a:lnTo>
                  <a:lnTo>
                    <a:pt x="2989818" y="9420"/>
                  </a:lnTo>
                  <a:lnTo>
                    <a:pt x="3035886" y="20997"/>
                  </a:lnTo>
                  <a:lnTo>
                    <a:pt x="3080503" y="36977"/>
                  </a:lnTo>
                  <a:lnTo>
                    <a:pt x="3123352" y="57227"/>
                  </a:lnTo>
                  <a:lnTo>
                    <a:pt x="3164113" y="81616"/>
                  </a:lnTo>
                  <a:lnTo>
                    <a:pt x="3202469" y="110011"/>
                  </a:lnTo>
                  <a:lnTo>
                    <a:pt x="3238100" y="142280"/>
                  </a:lnTo>
                  <a:lnTo>
                    <a:pt x="3270369" y="177911"/>
                  </a:lnTo>
                  <a:lnTo>
                    <a:pt x="3298764" y="216266"/>
                  </a:lnTo>
                  <a:lnTo>
                    <a:pt x="3323153" y="257028"/>
                  </a:lnTo>
                  <a:lnTo>
                    <a:pt x="3343403" y="299877"/>
                  </a:lnTo>
                  <a:lnTo>
                    <a:pt x="3359383" y="344494"/>
                  </a:lnTo>
                  <a:lnTo>
                    <a:pt x="3370960" y="390562"/>
                  </a:lnTo>
                  <a:lnTo>
                    <a:pt x="3377911" y="437762"/>
                  </a:lnTo>
                  <a:lnTo>
                    <a:pt x="3377911" y="1631006"/>
                  </a:lnTo>
                  <a:lnTo>
                    <a:pt x="3370960" y="1678206"/>
                  </a:lnTo>
                  <a:lnTo>
                    <a:pt x="3359383" y="1724274"/>
                  </a:lnTo>
                  <a:lnTo>
                    <a:pt x="3343403" y="1768892"/>
                  </a:lnTo>
                  <a:lnTo>
                    <a:pt x="3323153" y="1811741"/>
                  </a:lnTo>
                  <a:lnTo>
                    <a:pt x="3298764" y="1852502"/>
                  </a:lnTo>
                  <a:lnTo>
                    <a:pt x="3270369" y="1890857"/>
                  </a:lnTo>
                  <a:lnTo>
                    <a:pt x="3238100" y="1926488"/>
                  </a:lnTo>
                  <a:lnTo>
                    <a:pt x="3202469" y="1958758"/>
                  </a:lnTo>
                  <a:lnTo>
                    <a:pt x="3164113" y="1987153"/>
                  </a:lnTo>
                  <a:lnTo>
                    <a:pt x="3123352" y="2011541"/>
                  </a:lnTo>
                  <a:lnTo>
                    <a:pt x="3080503" y="2031791"/>
                  </a:lnTo>
                  <a:lnTo>
                    <a:pt x="3035886" y="2047771"/>
                  </a:lnTo>
                  <a:lnTo>
                    <a:pt x="2989818" y="2059348"/>
                  </a:lnTo>
                  <a:lnTo>
                    <a:pt x="2942618" y="2066392"/>
                  </a:lnTo>
                  <a:lnTo>
                    <a:pt x="2894605" y="2068768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81100" y="7118587"/>
              <a:ext cx="3075940" cy="776605"/>
            </a:xfrm>
            <a:custGeom>
              <a:avLst/>
              <a:gdLst/>
              <a:ahLst/>
              <a:cxnLst/>
              <a:rect l="l" t="t" r="r" b="b"/>
              <a:pathLst>
                <a:path w="3075940" h="776604">
                  <a:moveTo>
                    <a:pt x="2687469" y="776477"/>
                  </a:moveTo>
                  <a:lnTo>
                    <a:pt x="388238" y="776477"/>
                  </a:lnTo>
                  <a:lnTo>
                    <a:pt x="337207" y="773110"/>
                  </a:lnTo>
                  <a:lnTo>
                    <a:pt x="287481" y="763176"/>
                  </a:lnTo>
                  <a:lnTo>
                    <a:pt x="239666" y="746924"/>
                  </a:lnTo>
                  <a:lnTo>
                    <a:pt x="194363" y="724605"/>
                  </a:lnTo>
                  <a:lnTo>
                    <a:pt x="152178" y="696469"/>
                  </a:lnTo>
                  <a:lnTo>
                    <a:pt x="113712" y="662765"/>
                  </a:lnTo>
                  <a:lnTo>
                    <a:pt x="80008" y="624299"/>
                  </a:lnTo>
                  <a:lnTo>
                    <a:pt x="51872" y="582113"/>
                  </a:lnTo>
                  <a:lnTo>
                    <a:pt x="29552" y="536811"/>
                  </a:lnTo>
                  <a:lnTo>
                    <a:pt x="13301" y="488995"/>
                  </a:lnTo>
                  <a:lnTo>
                    <a:pt x="3367" y="439270"/>
                  </a:lnTo>
                  <a:lnTo>
                    <a:pt x="0" y="388239"/>
                  </a:lnTo>
                  <a:lnTo>
                    <a:pt x="3367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2" y="113712"/>
                  </a:lnTo>
                  <a:lnTo>
                    <a:pt x="152178" y="80008"/>
                  </a:lnTo>
                  <a:lnTo>
                    <a:pt x="194363" y="51872"/>
                  </a:lnTo>
                  <a:lnTo>
                    <a:pt x="239666" y="29553"/>
                  </a:lnTo>
                  <a:lnTo>
                    <a:pt x="287481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2687469" y="0"/>
                  </a:lnTo>
                  <a:lnTo>
                    <a:pt x="2738500" y="3367"/>
                  </a:lnTo>
                  <a:lnTo>
                    <a:pt x="2788225" y="13301"/>
                  </a:lnTo>
                  <a:lnTo>
                    <a:pt x="2836041" y="29553"/>
                  </a:lnTo>
                  <a:lnTo>
                    <a:pt x="2881343" y="51872"/>
                  </a:lnTo>
                  <a:lnTo>
                    <a:pt x="2923529" y="80008"/>
                  </a:lnTo>
                  <a:lnTo>
                    <a:pt x="2961995" y="113712"/>
                  </a:lnTo>
                  <a:lnTo>
                    <a:pt x="2995699" y="152178"/>
                  </a:lnTo>
                  <a:lnTo>
                    <a:pt x="3023835" y="194363"/>
                  </a:lnTo>
                  <a:lnTo>
                    <a:pt x="3046154" y="239666"/>
                  </a:lnTo>
                  <a:lnTo>
                    <a:pt x="3062406" y="287481"/>
                  </a:lnTo>
                  <a:lnTo>
                    <a:pt x="3072340" y="337207"/>
                  </a:lnTo>
                  <a:lnTo>
                    <a:pt x="3075578" y="386272"/>
                  </a:lnTo>
                  <a:lnTo>
                    <a:pt x="3075578" y="390205"/>
                  </a:lnTo>
                  <a:lnTo>
                    <a:pt x="3072340" y="439270"/>
                  </a:lnTo>
                  <a:lnTo>
                    <a:pt x="3062406" y="488995"/>
                  </a:lnTo>
                  <a:lnTo>
                    <a:pt x="3046154" y="536811"/>
                  </a:lnTo>
                  <a:lnTo>
                    <a:pt x="3023835" y="582113"/>
                  </a:lnTo>
                  <a:lnTo>
                    <a:pt x="2995699" y="624299"/>
                  </a:lnTo>
                  <a:lnTo>
                    <a:pt x="2961995" y="662765"/>
                  </a:lnTo>
                  <a:lnTo>
                    <a:pt x="2923529" y="696469"/>
                  </a:lnTo>
                  <a:lnTo>
                    <a:pt x="2881343" y="724605"/>
                  </a:lnTo>
                  <a:lnTo>
                    <a:pt x="2836041" y="746924"/>
                  </a:lnTo>
                  <a:lnTo>
                    <a:pt x="2788225" y="763176"/>
                  </a:lnTo>
                  <a:lnTo>
                    <a:pt x="2738500" y="773110"/>
                  </a:lnTo>
                  <a:lnTo>
                    <a:pt x="2687469" y="776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39642" y="7216228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290597" y="581194"/>
                  </a:moveTo>
                  <a:lnTo>
                    <a:pt x="243460" y="577391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8736984" y="7118686"/>
            <a:ext cx="2580640" cy="2580640"/>
          </a:xfrm>
          <a:custGeom>
            <a:avLst/>
            <a:gdLst/>
            <a:ahLst/>
            <a:cxnLst/>
            <a:rect l="l" t="t" r="r" b="b"/>
            <a:pathLst>
              <a:path w="2580640" h="2580640">
                <a:moveTo>
                  <a:pt x="1485120" y="2580529"/>
                </a:moveTo>
                <a:lnTo>
                  <a:pt x="1072719" y="2580529"/>
                </a:lnTo>
                <a:lnTo>
                  <a:pt x="1067665" y="2578350"/>
                </a:lnTo>
                <a:lnTo>
                  <a:pt x="1060134" y="2570819"/>
                </a:lnTo>
                <a:lnTo>
                  <a:pt x="1058054" y="2565666"/>
                </a:lnTo>
                <a:lnTo>
                  <a:pt x="1068458" y="1787633"/>
                </a:lnTo>
                <a:lnTo>
                  <a:pt x="546070" y="2351539"/>
                </a:lnTo>
                <a:lnTo>
                  <a:pt x="539827" y="2353521"/>
                </a:lnTo>
                <a:lnTo>
                  <a:pt x="529225" y="2351935"/>
                </a:lnTo>
                <a:lnTo>
                  <a:pt x="525658" y="2350251"/>
                </a:lnTo>
                <a:lnTo>
                  <a:pt x="521199" y="2345990"/>
                </a:lnTo>
                <a:lnTo>
                  <a:pt x="520010" y="2344603"/>
                </a:lnTo>
                <a:lnTo>
                  <a:pt x="519118" y="2343216"/>
                </a:lnTo>
                <a:lnTo>
                  <a:pt x="503103" y="2328489"/>
                </a:lnTo>
                <a:lnTo>
                  <a:pt x="223045" y="2061511"/>
                </a:lnTo>
                <a:lnTo>
                  <a:pt x="220865" y="2056556"/>
                </a:lnTo>
                <a:lnTo>
                  <a:pt x="220667" y="2045954"/>
                </a:lnTo>
                <a:lnTo>
                  <a:pt x="222748" y="2040801"/>
                </a:lnTo>
                <a:lnTo>
                  <a:pt x="770601" y="1482742"/>
                </a:lnTo>
                <a:lnTo>
                  <a:pt x="19718" y="1480364"/>
                </a:lnTo>
                <a:lnTo>
                  <a:pt x="12039" y="1478800"/>
                </a:lnTo>
                <a:lnTo>
                  <a:pt x="5771" y="1474542"/>
                </a:lnTo>
                <a:lnTo>
                  <a:pt x="1548" y="1468241"/>
                </a:lnTo>
                <a:lnTo>
                  <a:pt x="0" y="1460546"/>
                </a:lnTo>
                <a:lnTo>
                  <a:pt x="0" y="1142476"/>
                </a:lnTo>
                <a:lnTo>
                  <a:pt x="761683" y="1120280"/>
                </a:lnTo>
                <a:lnTo>
                  <a:pt x="230278" y="557266"/>
                </a:lnTo>
                <a:lnTo>
                  <a:pt x="226612" y="553798"/>
                </a:lnTo>
                <a:lnTo>
                  <a:pt x="224333" y="548943"/>
                </a:lnTo>
                <a:lnTo>
                  <a:pt x="223838" y="537845"/>
                </a:lnTo>
                <a:lnTo>
                  <a:pt x="226216" y="532197"/>
                </a:lnTo>
                <a:lnTo>
                  <a:pt x="540521" y="244646"/>
                </a:lnTo>
                <a:lnTo>
                  <a:pt x="545772" y="242664"/>
                </a:lnTo>
                <a:lnTo>
                  <a:pt x="556276" y="243358"/>
                </a:lnTo>
                <a:lnTo>
                  <a:pt x="561230" y="245736"/>
                </a:lnTo>
                <a:lnTo>
                  <a:pt x="1081240" y="832630"/>
                </a:lnTo>
                <a:lnTo>
                  <a:pt x="1092040" y="19520"/>
                </a:lnTo>
                <a:lnTo>
                  <a:pt x="1093660" y="11913"/>
                </a:lnTo>
                <a:lnTo>
                  <a:pt x="1097936" y="5709"/>
                </a:lnTo>
                <a:lnTo>
                  <a:pt x="1104219" y="1531"/>
                </a:lnTo>
                <a:lnTo>
                  <a:pt x="1111858" y="0"/>
                </a:lnTo>
                <a:lnTo>
                  <a:pt x="1446079" y="0"/>
                </a:lnTo>
                <a:lnTo>
                  <a:pt x="1475805" y="764557"/>
                </a:lnTo>
                <a:lnTo>
                  <a:pt x="1545266" y="693710"/>
                </a:lnTo>
                <a:lnTo>
                  <a:pt x="2062501" y="254257"/>
                </a:lnTo>
                <a:lnTo>
                  <a:pt x="2069303" y="250472"/>
                </a:lnTo>
                <a:lnTo>
                  <a:pt x="2076782" y="249613"/>
                </a:lnTo>
                <a:lnTo>
                  <a:pt x="2084058" y="251596"/>
                </a:lnTo>
                <a:lnTo>
                  <a:pt x="2090246" y="256338"/>
                </a:lnTo>
                <a:lnTo>
                  <a:pt x="2310319" y="507921"/>
                </a:lnTo>
                <a:lnTo>
                  <a:pt x="2314194" y="514667"/>
                </a:lnTo>
                <a:lnTo>
                  <a:pt x="2315162" y="522127"/>
                </a:lnTo>
                <a:lnTo>
                  <a:pt x="2313287" y="529421"/>
                </a:lnTo>
                <a:lnTo>
                  <a:pt x="2308634" y="535665"/>
                </a:lnTo>
                <a:lnTo>
                  <a:pt x="1813396" y="981954"/>
                </a:lnTo>
                <a:lnTo>
                  <a:pt x="1786903" y="1011222"/>
                </a:lnTo>
                <a:lnTo>
                  <a:pt x="1689141" y="1117407"/>
                </a:lnTo>
                <a:lnTo>
                  <a:pt x="2565964" y="1114632"/>
                </a:lnTo>
                <a:lnTo>
                  <a:pt x="2570918" y="1116713"/>
                </a:lnTo>
                <a:lnTo>
                  <a:pt x="2578449" y="1124145"/>
                </a:lnTo>
                <a:lnTo>
                  <a:pt x="2580530" y="1129198"/>
                </a:lnTo>
                <a:lnTo>
                  <a:pt x="2580530" y="1473923"/>
                </a:lnTo>
                <a:lnTo>
                  <a:pt x="2578449" y="1478976"/>
                </a:lnTo>
                <a:lnTo>
                  <a:pt x="2574684" y="1482742"/>
                </a:lnTo>
                <a:lnTo>
                  <a:pt x="2571018" y="1486408"/>
                </a:lnTo>
                <a:lnTo>
                  <a:pt x="2566261" y="1488390"/>
                </a:lnTo>
                <a:lnTo>
                  <a:pt x="2560811" y="1488488"/>
                </a:lnTo>
                <a:lnTo>
                  <a:pt x="1659811" y="1485615"/>
                </a:lnTo>
                <a:lnTo>
                  <a:pt x="1670710" y="1498001"/>
                </a:lnTo>
                <a:lnTo>
                  <a:pt x="2301302" y="2076869"/>
                </a:lnTo>
                <a:lnTo>
                  <a:pt x="2305880" y="2083155"/>
                </a:lnTo>
                <a:lnTo>
                  <a:pt x="2307681" y="2090444"/>
                </a:lnTo>
                <a:lnTo>
                  <a:pt x="2306639" y="2097881"/>
                </a:lnTo>
                <a:lnTo>
                  <a:pt x="2302689" y="2104613"/>
                </a:lnTo>
                <a:lnTo>
                  <a:pt x="2080535" y="2354412"/>
                </a:lnTo>
                <a:lnTo>
                  <a:pt x="2074305" y="2359124"/>
                </a:lnTo>
                <a:lnTo>
                  <a:pt x="2067035" y="2361039"/>
                </a:lnTo>
                <a:lnTo>
                  <a:pt x="2059578" y="2360111"/>
                </a:lnTo>
                <a:lnTo>
                  <a:pt x="2052791" y="2356295"/>
                </a:lnTo>
                <a:lnTo>
                  <a:pt x="1490470" y="1871956"/>
                </a:lnTo>
                <a:lnTo>
                  <a:pt x="1499587" y="2565666"/>
                </a:lnTo>
                <a:lnTo>
                  <a:pt x="1497605" y="2570819"/>
                </a:lnTo>
                <a:lnTo>
                  <a:pt x="1490173" y="2578449"/>
                </a:lnTo>
                <a:lnTo>
                  <a:pt x="1485120" y="2580529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288" y="736893"/>
            <a:ext cx="91630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90" dirty="0">
                <a:solidFill>
                  <a:srgbClr val="F1F1F1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30194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12684" y="7260667"/>
            <a:ext cx="1950720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2850" b="1" spc="-120" dirty="0">
                <a:solidFill>
                  <a:srgbClr val="8FA3C1"/>
                </a:solidFill>
                <a:latin typeface="Tahoma"/>
                <a:cs typeface="Tahoma"/>
              </a:rPr>
              <a:t>Next</a:t>
            </a:r>
            <a:r>
              <a:rPr sz="2850" b="1" spc="-41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850" b="1" spc="-25" dirty="0">
                <a:solidFill>
                  <a:srgbClr val="8FA3C1"/>
                </a:solidFill>
                <a:latin typeface="Tahoma"/>
                <a:cs typeface="Tahoma"/>
              </a:rPr>
              <a:t>Slide</a:t>
            </a:r>
            <a:endParaRPr sz="2850">
              <a:latin typeface="Tahoma"/>
              <a:cs typeface="Tahoma"/>
            </a:endParaRPr>
          </a:p>
          <a:p>
            <a:pPr marL="12700" marR="5080">
              <a:lnSpc>
                <a:spcPts val="2470"/>
              </a:lnSpc>
              <a:spcBef>
                <a:spcPts val="3065"/>
              </a:spcBef>
            </a:pPr>
            <a:r>
              <a:rPr sz="2350" b="1" spc="-295" dirty="0">
                <a:solidFill>
                  <a:srgbClr val="8FA3C1"/>
                </a:solidFill>
                <a:latin typeface="Verdana"/>
                <a:cs typeface="Verdana"/>
              </a:rPr>
              <a:t>DATASET </a:t>
            </a:r>
            <a:r>
              <a:rPr sz="2350" b="1" spc="-340" dirty="0">
                <a:solidFill>
                  <a:srgbClr val="8FA3C1"/>
                </a:solidFill>
                <a:latin typeface="Verdana"/>
                <a:cs typeface="Verdana"/>
              </a:rPr>
              <a:t>DESCRIPTION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5310" y="3139340"/>
            <a:ext cx="11557635" cy="340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8525" marR="7200265" indent="300355">
              <a:lnSpc>
                <a:spcPct val="115399"/>
              </a:lnSpc>
              <a:spcBef>
                <a:spcPts val="100"/>
              </a:spcBef>
            </a:pPr>
            <a:r>
              <a:rPr sz="4650" b="1" spc="114" dirty="0">
                <a:solidFill>
                  <a:srgbClr val="8FA3C1"/>
                </a:solidFill>
                <a:latin typeface="Tahoma"/>
                <a:cs typeface="Tahoma"/>
              </a:rPr>
              <a:t>DATASET </a:t>
            </a:r>
            <a:r>
              <a:rPr sz="4650" b="1" spc="120" dirty="0">
                <a:solidFill>
                  <a:srgbClr val="8FA3C1"/>
                </a:solidFill>
                <a:latin typeface="Tahoma"/>
                <a:cs typeface="Tahoma"/>
              </a:rPr>
              <a:t>OVERVIEW</a:t>
            </a:r>
            <a:endParaRPr sz="4650">
              <a:latin typeface="Tahoma"/>
              <a:cs typeface="Tahoma"/>
            </a:endParaRPr>
          </a:p>
          <a:p>
            <a:pPr marL="2677160" marR="170815" indent="-2555240">
              <a:lnSpc>
                <a:spcPct val="117400"/>
              </a:lnSpc>
              <a:spcBef>
                <a:spcPts val="2135"/>
              </a:spcBef>
            </a:pPr>
            <a:r>
              <a:rPr sz="1650" dirty="0">
                <a:latin typeface="Tahoma"/>
                <a:cs typeface="Tahoma"/>
              </a:rPr>
              <a:t>“IN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60" dirty="0">
                <a:latin typeface="Tahoma"/>
                <a:cs typeface="Tahoma"/>
              </a:rPr>
              <a:t>THIS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75" dirty="0">
                <a:latin typeface="Tahoma"/>
                <a:cs typeface="Tahoma"/>
              </a:rPr>
              <a:t>USER</a:t>
            </a:r>
            <a:r>
              <a:rPr sz="1650" spc="-45" dirty="0">
                <a:latin typeface="Tahoma"/>
                <a:cs typeface="Tahoma"/>
              </a:rPr>
              <a:t> </a:t>
            </a:r>
            <a:r>
              <a:rPr sz="1650" spc="65" dirty="0">
                <a:latin typeface="Tahoma"/>
                <a:cs typeface="Tahoma"/>
              </a:rPr>
              <a:t>STORY,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50" dirty="0">
                <a:latin typeface="Tahoma"/>
                <a:cs typeface="Tahoma"/>
              </a:rPr>
              <a:t>THE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75" dirty="0">
                <a:latin typeface="Tahoma"/>
                <a:cs typeface="Tahoma"/>
              </a:rPr>
              <a:t>MAIN</a:t>
            </a:r>
            <a:r>
              <a:rPr sz="1650" spc="-45" dirty="0">
                <a:latin typeface="Tahoma"/>
                <a:cs typeface="Tahoma"/>
              </a:rPr>
              <a:t> </a:t>
            </a:r>
            <a:r>
              <a:rPr sz="1650" spc="145" dirty="0">
                <a:latin typeface="Tahoma"/>
                <a:cs typeface="Tahoma"/>
              </a:rPr>
              <a:t>OBJECTIVE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dirty="0">
                <a:latin typeface="Tahoma"/>
                <a:cs typeface="Tahoma"/>
              </a:rPr>
              <a:t>IS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10" dirty="0">
                <a:latin typeface="Tahoma"/>
                <a:cs typeface="Tahoma"/>
              </a:rPr>
              <a:t>TO</a:t>
            </a:r>
            <a:r>
              <a:rPr sz="1650" spc="-45" dirty="0">
                <a:latin typeface="Tahoma"/>
                <a:cs typeface="Tahoma"/>
              </a:rPr>
              <a:t> </a:t>
            </a:r>
            <a:r>
              <a:rPr sz="1650" spc="190" dirty="0">
                <a:latin typeface="Tahoma"/>
                <a:cs typeface="Tahoma"/>
              </a:rPr>
              <a:t>UNDERSTAND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80" dirty="0">
                <a:latin typeface="Tahoma"/>
                <a:cs typeface="Tahoma"/>
              </a:rPr>
              <a:t>CUSTOMER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70" dirty="0">
                <a:latin typeface="Tahoma"/>
                <a:cs typeface="Tahoma"/>
              </a:rPr>
              <a:t>BEHAVIOR</a:t>
            </a:r>
            <a:r>
              <a:rPr sz="1650" spc="-45" dirty="0">
                <a:latin typeface="Tahoma"/>
                <a:cs typeface="Tahoma"/>
              </a:rPr>
              <a:t> </a:t>
            </a:r>
            <a:r>
              <a:rPr sz="1650" spc="245" dirty="0">
                <a:latin typeface="Tahoma"/>
                <a:cs typeface="Tahoma"/>
              </a:rPr>
              <a:t>AND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70" dirty="0">
                <a:latin typeface="Tahoma"/>
                <a:cs typeface="Tahoma"/>
              </a:rPr>
              <a:t>SEGMENT </a:t>
            </a:r>
            <a:r>
              <a:rPr sz="1650" spc="175" dirty="0">
                <a:latin typeface="Tahoma"/>
                <a:cs typeface="Tahoma"/>
              </a:rPr>
              <a:t>CUSTOMERS</a:t>
            </a:r>
            <a:r>
              <a:rPr sz="1650" spc="-65" dirty="0">
                <a:latin typeface="Tahoma"/>
                <a:cs typeface="Tahoma"/>
              </a:rPr>
              <a:t> </a:t>
            </a:r>
            <a:r>
              <a:rPr sz="1650" spc="210" dirty="0">
                <a:latin typeface="Tahoma"/>
                <a:cs typeface="Tahoma"/>
              </a:rPr>
              <a:t>BASED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250" dirty="0">
                <a:latin typeface="Tahoma"/>
                <a:cs typeface="Tahoma"/>
              </a:rPr>
              <a:t>ON</a:t>
            </a:r>
            <a:r>
              <a:rPr sz="1650" spc="-65" dirty="0">
                <a:latin typeface="Tahoma"/>
                <a:cs typeface="Tahoma"/>
              </a:rPr>
              <a:t> </a:t>
            </a:r>
            <a:r>
              <a:rPr sz="1650" spc="105" dirty="0">
                <a:latin typeface="Tahoma"/>
                <a:cs typeface="Tahoma"/>
              </a:rPr>
              <a:t>THEIR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85" dirty="0">
                <a:latin typeface="Tahoma"/>
                <a:cs typeface="Tahoma"/>
              </a:rPr>
              <a:t>PURCHASING</a:t>
            </a:r>
            <a:r>
              <a:rPr sz="1650" spc="-65" dirty="0">
                <a:latin typeface="Tahoma"/>
                <a:cs typeface="Tahoma"/>
              </a:rPr>
              <a:t> </a:t>
            </a:r>
            <a:r>
              <a:rPr sz="1650" spc="100" dirty="0">
                <a:latin typeface="Tahoma"/>
                <a:cs typeface="Tahoma"/>
              </a:rPr>
              <a:t>PATTERNS.</a:t>
            </a:r>
            <a:endParaRPr sz="1650">
              <a:latin typeface="Tahoma"/>
              <a:cs typeface="Tahoma"/>
            </a:endParaRPr>
          </a:p>
          <a:p>
            <a:pPr marL="12700" marR="5080" indent="274955">
              <a:lnSpc>
                <a:spcPct val="117400"/>
              </a:lnSpc>
            </a:pPr>
            <a:r>
              <a:rPr sz="1650" spc="270" dirty="0">
                <a:latin typeface="Tahoma"/>
                <a:cs typeface="Tahoma"/>
              </a:rPr>
              <a:t>WE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95" dirty="0">
                <a:latin typeface="Tahoma"/>
                <a:cs typeface="Tahoma"/>
              </a:rPr>
              <a:t>USED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50" dirty="0">
                <a:latin typeface="Tahoma"/>
                <a:cs typeface="Tahoma"/>
              </a:rPr>
              <a:t>THE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70" dirty="0">
                <a:latin typeface="Tahoma"/>
                <a:cs typeface="Tahoma"/>
              </a:rPr>
              <a:t>ONLINE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95" dirty="0">
                <a:latin typeface="Tahoma"/>
                <a:cs typeface="Tahoma"/>
              </a:rPr>
              <a:t>RETAIL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20" dirty="0">
                <a:latin typeface="Tahoma"/>
                <a:cs typeface="Tahoma"/>
              </a:rPr>
              <a:t>DATASET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235" dirty="0">
                <a:latin typeface="Tahoma"/>
                <a:cs typeface="Tahoma"/>
              </a:rPr>
              <a:t>FROM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50" dirty="0">
                <a:latin typeface="Tahoma"/>
                <a:cs typeface="Tahoma"/>
              </a:rPr>
              <a:t>UCI,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90" dirty="0">
                <a:latin typeface="Tahoma"/>
                <a:cs typeface="Tahoma"/>
              </a:rPr>
              <a:t>WHICH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35" dirty="0">
                <a:latin typeface="Tahoma"/>
                <a:cs typeface="Tahoma"/>
              </a:rPr>
              <a:t>CONTAINS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85" dirty="0">
                <a:latin typeface="Tahoma"/>
                <a:cs typeface="Tahoma"/>
              </a:rPr>
              <a:t>OVER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50" dirty="0">
                <a:latin typeface="Tahoma"/>
                <a:cs typeface="Tahoma"/>
              </a:rPr>
              <a:t>541,000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10" dirty="0">
                <a:latin typeface="Tahoma"/>
                <a:cs typeface="Tahoma"/>
              </a:rPr>
              <a:t>TRANSACTIONS. </a:t>
            </a:r>
            <a:r>
              <a:rPr sz="1650" spc="150" dirty="0">
                <a:latin typeface="Tahoma"/>
                <a:cs typeface="Tahoma"/>
              </a:rPr>
              <a:t>THE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95" dirty="0">
                <a:latin typeface="Tahoma"/>
                <a:cs typeface="Tahoma"/>
              </a:rPr>
              <a:t>FOCUS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220" dirty="0">
                <a:latin typeface="Tahoma"/>
                <a:cs typeface="Tahoma"/>
              </a:rPr>
              <a:t>OF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50" dirty="0">
                <a:latin typeface="Tahoma"/>
                <a:cs typeface="Tahoma"/>
              </a:rPr>
              <a:t>THE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70" dirty="0">
                <a:latin typeface="Tahoma"/>
                <a:cs typeface="Tahoma"/>
              </a:rPr>
              <a:t>PROJECT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dirty="0">
                <a:latin typeface="Tahoma"/>
                <a:cs typeface="Tahoma"/>
              </a:rPr>
              <a:t>IS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10" dirty="0">
                <a:latin typeface="Tahoma"/>
                <a:cs typeface="Tahoma"/>
              </a:rPr>
              <a:t>TO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70" dirty="0">
                <a:latin typeface="Tahoma"/>
                <a:cs typeface="Tahoma"/>
              </a:rPr>
              <a:t>ENGINEER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95" dirty="0">
                <a:latin typeface="Tahoma"/>
                <a:cs typeface="Tahoma"/>
              </a:rPr>
              <a:t>MEANINGFUL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55" dirty="0">
                <a:latin typeface="Tahoma"/>
                <a:cs typeface="Tahoma"/>
              </a:rPr>
              <a:t>FEATURES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200" dirty="0">
                <a:latin typeface="Tahoma"/>
                <a:cs typeface="Tahoma"/>
              </a:rPr>
              <a:t>SUCH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55" dirty="0">
                <a:latin typeface="Tahoma"/>
                <a:cs typeface="Tahoma"/>
              </a:rPr>
              <a:t>AS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40" dirty="0">
                <a:latin typeface="Tahoma"/>
                <a:cs typeface="Tahoma"/>
              </a:rPr>
              <a:t>RFM,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85" dirty="0">
                <a:latin typeface="Tahoma"/>
                <a:cs typeface="Tahoma"/>
              </a:rPr>
              <a:t>EXPLORE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50" spc="114" dirty="0">
                <a:latin typeface="Tahoma"/>
                <a:cs typeface="Tahoma"/>
              </a:rPr>
              <a:t>TRENDS,</a:t>
            </a:r>
            <a:endParaRPr sz="1650">
              <a:latin typeface="Tahoma"/>
              <a:cs typeface="Tahoma"/>
            </a:endParaRPr>
          </a:p>
          <a:p>
            <a:pPr marL="1560830">
              <a:lnSpc>
                <a:spcPct val="100000"/>
              </a:lnSpc>
              <a:spcBef>
                <a:spcPts val="345"/>
              </a:spcBef>
            </a:pPr>
            <a:r>
              <a:rPr sz="1650" spc="170" dirty="0">
                <a:latin typeface="Tahoma"/>
                <a:cs typeface="Tahoma"/>
              </a:rPr>
              <a:t>BUILD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80" dirty="0">
                <a:latin typeface="Tahoma"/>
                <a:cs typeface="Tahoma"/>
              </a:rPr>
              <a:t>CUSTOMER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35" dirty="0">
                <a:latin typeface="Tahoma"/>
                <a:cs typeface="Tahoma"/>
              </a:rPr>
              <a:t>SEGMENTS,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245" dirty="0">
                <a:latin typeface="Tahoma"/>
                <a:cs typeface="Tahoma"/>
              </a:rPr>
              <a:t>AND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195" dirty="0">
                <a:latin typeface="Tahoma"/>
                <a:cs typeface="Tahoma"/>
              </a:rPr>
              <a:t>DEPLOY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240" dirty="0">
                <a:latin typeface="Tahoma"/>
                <a:cs typeface="Tahoma"/>
              </a:rPr>
              <a:t>AN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05" dirty="0">
                <a:latin typeface="Tahoma"/>
                <a:cs typeface="Tahoma"/>
              </a:rPr>
              <a:t>INTERACTIVE</a:t>
            </a:r>
            <a:r>
              <a:rPr sz="1650" spc="-55" dirty="0">
                <a:latin typeface="Tahoma"/>
                <a:cs typeface="Tahoma"/>
              </a:rPr>
              <a:t> </a:t>
            </a:r>
            <a:r>
              <a:rPr sz="1650" spc="150" dirty="0">
                <a:latin typeface="Tahoma"/>
                <a:cs typeface="Tahoma"/>
              </a:rPr>
              <a:t>DASHBOARD.”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126616" y="1840347"/>
            <a:ext cx="6132830" cy="7195184"/>
            <a:chOff x="11126616" y="1840347"/>
            <a:chExt cx="6132830" cy="719518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6616" y="2222523"/>
              <a:ext cx="5879175" cy="68124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492907" y="1840347"/>
              <a:ext cx="1766570" cy="1766570"/>
            </a:xfrm>
            <a:custGeom>
              <a:avLst/>
              <a:gdLst/>
              <a:ahLst/>
              <a:cxnLst/>
              <a:rect l="l" t="t" r="r" b="b"/>
              <a:pathLst>
                <a:path w="1766569" h="1766570">
                  <a:moveTo>
                    <a:pt x="883196" y="1766393"/>
                  </a:moveTo>
                  <a:lnTo>
                    <a:pt x="834738" y="1765086"/>
                  </a:lnTo>
                  <a:lnTo>
                    <a:pt x="786962" y="1761211"/>
                  </a:lnTo>
                  <a:lnTo>
                    <a:pt x="739937" y="1754833"/>
                  </a:lnTo>
                  <a:lnTo>
                    <a:pt x="693730" y="1746022"/>
                  </a:lnTo>
                  <a:lnTo>
                    <a:pt x="648407" y="1734844"/>
                  </a:lnTo>
                  <a:lnTo>
                    <a:pt x="604038" y="1721367"/>
                  </a:lnTo>
                  <a:lnTo>
                    <a:pt x="560687" y="1705658"/>
                  </a:lnTo>
                  <a:lnTo>
                    <a:pt x="518425" y="1687784"/>
                  </a:lnTo>
                  <a:lnTo>
                    <a:pt x="477316" y="1667812"/>
                  </a:lnTo>
                  <a:lnTo>
                    <a:pt x="437430" y="1645811"/>
                  </a:lnTo>
                  <a:lnTo>
                    <a:pt x="398832" y="1621847"/>
                  </a:lnTo>
                  <a:lnTo>
                    <a:pt x="361591" y="1595987"/>
                  </a:lnTo>
                  <a:lnTo>
                    <a:pt x="325774" y="1568300"/>
                  </a:lnTo>
                  <a:lnTo>
                    <a:pt x="291449" y="1538852"/>
                  </a:lnTo>
                  <a:lnTo>
                    <a:pt x="258682" y="1507711"/>
                  </a:lnTo>
                  <a:lnTo>
                    <a:pt x="227540" y="1474944"/>
                  </a:lnTo>
                  <a:lnTo>
                    <a:pt x="198092" y="1440618"/>
                  </a:lnTo>
                  <a:lnTo>
                    <a:pt x="170405" y="1404801"/>
                  </a:lnTo>
                  <a:lnTo>
                    <a:pt x="144546" y="1367560"/>
                  </a:lnTo>
                  <a:lnTo>
                    <a:pt x="120582" y="1328963"/>
                  </a:lnTo>
                  <a:lnTo>
                    <a:pt x="98580" y="1289076"/>
                  </a:lnTo>
                  <a:lnTo>
                    <a:pt x="78609" y="1247968"/>
                  </a:lnTo>
                  <a:lnTo>
                    <a:pt x="60735" y="1205705"/>
                  </a:lnTo>
                  <a:lnTo>
                    <a:pt x="45025" y="1162355"/>
                  </a:lnTo>
                  <a:lnTo>
                    <a:pt x="31548" y="1117985"/>
                  </a:lnTo>
                  <a:lnTo>
                    <a:pt x="20370" y="1072663"/>
                  </a:lnTo>
                  <a:lnTo>
                    <a:pt x="11559" y="1026455"/>
                  </a:lnTo>
                  <a:lnTo>
                    <a:pt x="5182" y="979430"/>
                  </a:lnTo>
                  <a:lnTo>
                    <a:pt x="1306" y="931655"/>
                  </a:lnTo>
                  <a:lnTo>
                    <a:pt x="0" y="883196"/>
                  </a:lnTo>
                  <a:lnTo>
                    <a:pt x="1306" y="834738"/>
                  </a:lnTo>
                  <a:lnTo>
                    <a:pt x="5182" y="786962"/>
                  </a:lnTo>
                  <a:lnTo>
                    <a:pt x="11559" y="739937"/>
                  </a:lnTo>
                  <a:lnTo>
                    <a:pt x="20370" y="693730"/>
                  </a:lnTo>
                  <a:lnTo>
                    <a:pt x="31548" y="648408"/>
                  </a:lnTo>
                  <a:lnTo>
                    <a:pt x="45025" y="604038"/>
                  </a:lnTo>
                  <a:lnTo>
                    <a:pt x="60735" y="560688"/>
                  </a:lnTo>
                  <a:lnTo>
                    <a:pt x="78609" y="518425"/>
                  </a:lnTo>
                  <a:lnTo>
                    <a:pt x="98580" y="477317"/>
                  </a:lnTo>
                  <a:lnTo>
                    <a:pt x="120582" y="437430"/>
                  </a:lnTo>
                  <a:lnTo>
                    <a:pt x="144546" y="398833"/>
                  </a:lnTo>
                  <a:lnTo>
                    <a:pt x="170405" y="361592"/>
                  </a:lnTo>
                  <a:lnTo>
                    <a:pt x="198092" y="325775"/>
                  </a:lnTo>
                  <a:lnTo>
                    <a:pt x="227540" y="291449"/>
                  </a:lnTo>
                  <a:lnTo>
                    <a:pt x="258682" y="258682"/>
                  </a:lnTo>
                  <a:lnTo>
                    <a:pt x="291449" y="227541"/>
                  </a:lnTo>
                  <a:lnTo>
                    <a:pt x="325774" y="198093"/>
                  </a:lnTo>
                  <a:lnTo>
                    <a:pt x="361591" y="170405"/>
                  </a:lnTo>
                  <a:lnTo>
                    <a:pt x="398832" y="144546"/>
                  </a:lnTo>
                  <a:lnTo>
                    <a:pt x="437430" y="120582"/>
                  </a:lnTo>
                  <a:lnTo>
                    <a:pt x="477316" y="98580"/>
                  </a:lnTo>
                  <a:lnTo>
                    <a:pt x="518425" y="78609"/>
                  </a:lnTo>
                  <a:lnTo>
                    <a:pt x="560687" y="60735"/>
                  </a:lnTo>
                  <a:lnTo>
                    <a:pt x="604038" y="45025"/>
                  </a:lnTo>
                  <a:lnTo>
                    <a:pt x="648407" y="31548"/>
                  </a:lnTo>
                  <a:lnTo>
                    <a:pt x="693730" y="20370"/>
                  </a:lnTo>
                  <a:lnTo>
                    <a:pt x="739937" y="11559"/>
                  </a:lnTo>
                  <a:lnTo>
                    <a:pt x="786962" y="5182"/>
                  </a:lnTo>
                  <a:lnTo>
                    <a:pt x="834738" y="1306"/>
                  </a:lnTo>
                  <a:lnTo>
                    <a:pt x="883196" y="0"/>
                  </a:lnTo>
                  <a:lnTo>
                    <a:pt x="931655" y="1306"/>
                  </a:lnTo>
                  <a:lnTo>
                    <a:pt x="979430" y="5182"/>
                  </a:lnTo>
                  <a:lnTo>
                    <a:pt x="1026455" y="11559"/>
                  </a:lnTo>
                  <a:lnTo>
                    <a:pt x="1072663" y="20370"/>
                  </a:lnTo>
                  <a:lnTo>
                    <a:pt x="1117985" y="31548"/>
                  </a:lnTo>
                  <a:lnTo>
                    <a:pt x="1162355" y="45025"/>
                  </a:lnTo>
                  <a:lnTo>
                    <a:pt x="1205705" y="60735"/>
                  </a:lnTo>
                  <a:lnTo>
                    <a:pt x="1247968" y="78609"/>
                  </a:lnTo>
                  <a:lnTo>
                    <a:pt x="1289076" y="98580"/>
                  </a:lnTo>
                  <a:lnTo>
                    <a:pt x="1328963" y="120582"/>
                  </a:lnTo>
                  <a:lnTo>
                    <a:pt x="1367560" y="144546"/>
                  </a:lnTo>
                  <a:lnTo>
                    <a:pt x="1404801" y="170405"/>
                  </a:lnTo>
                  <a:lnTo>
                    <a:pt x="1440618" y="198093"/>
                  </a:lnTo>
                  <a:lnTo>
                    <a:pt x="1474944" y="227541"/>
                  </a:lnTo>
                  <a:lnTo>
                    <a:pt x="1507711" y="258682"/>
                  </a:lnTo>
                  <a:lnTo>
                    <a:pt x="1538852" y="291449"/>
                  </a:lnTo>
                  <a:lnTo>
                    <a:pt x="1568300" y="325775"/>
                  </a:lnTo>
                  <a:lnTo>
                    <a:pt x="1595987" y="361592"/>
                  </a:lnTo>
                  <a:lnTo>
                    <a:pt x="1621847" y="398833"/>
                  </a:lnTo>
                  <a:lnTo>
                    <a:pt x="1645811" y="437430"/>
                  </a:lnTo>
                  <a:lnTo>
                    <a:pt x="1667812" y="477317"/>
                  </a:lnTo>
                  <a:lnTo>
                    <a:pt x="1687784" y="518425"/>
                  </a:lnTo>
                  <a:lnTo>
                    <a:pt x="1705658" y="560688"/>
                  </a:lnTo>
                  <a:lnTo>
                    <a:pt x="1721367" y="604038"/>
                  </a:lnTo>
                  <a:lnTo>
                    <a:pt x="1734844" y="648408"/>
                  </a:lnTo>
                  <a:lnTo>
                    <a:pt x="1746022" y="693730"/>
                  </a:lnTo>
                  <a:lnTo>
                    <a:pt x="1754833" y="739937"/>
                  </a:lnTo>
                  <a:lnTo>
                    <a:pt x="1761210" y="786962"/>
                  </a:lnTo>
                  <a:lnTo>
                    <a:pt x="1765086" y="834738"/>
                  </a:lnTo>
                  <a:lnTo>
                    <a:pt x="1766393" y="883196"/>
                  </a:lnTo>
                  <a:lnTo>
                    <a:pt x="1765086" y="931655"/>
                  </a:lnTo>
                  <a:lnTo>
                    <a:pt x="1761210" y="979430"/>
                  </a:lnTo>
                  <a:lnTo>
                    <a:pt x="1754833" y="1026455"/>
                  </a:lnTo>
                  <a:lnTo>
                    <a:pt x="1746022" y="1072663"/>
                  </a:lnTo>
                  <a:lnTo>
                    <a:pt x="1734844" y="1117985"/>
                  </a:lnTo>
                  <a:lnTo>
                    <a:pt x="1721367" y="1162355"/>
                  </a:lnTo>
                  <a:lnTo>
                    <a:pt x="1705658" y="1205705"/>
                  </a:lnTo>
                  <a:lnTo>
                    <a:pt x="1687784" y="1247968"/>
                  </a:lnTo>
                  <a:lnTo>
                    <a:pt x="1667812" y="1289076"/>
                  </a:lnTo>
                  <a:lnTo>
                    <a:pt x="1645811" y="1328963"/>
                  </a:lnTo>
                  <a:lnTo>
                    <a:pt x="1621847" y="1367560"/>
                  </a:lnTo>
                  <a:lnTo>
                    <a:pt x="1595987" y="1404801"/>
                  </a:lnTo>
                  <a:lnTo>
                    <a:pt x="1568300" y="1440618"/>
                  </a:lnTo>
                  <a:lnTo>
                    <a:pt x="1538852" y="1474944"/>
                  </a:lnTo>
                  <a:lnTo>
                    <a:pt x="1507711" y="1507711"/>
                  </a:lnTo>
                  <a:lnTo>
                    <a:pt x="1474944" y="1538852"/>
                  </a:lnTo>
                  <a:lnTo>
                    <a:pt x="1440618" y="1568300"/>
                  </a:lnTo>
                  <a:lnTo>
                    <a:pt x="1404801" y="1595987"/>
                  </a:lnTo>
                  <a:lnTo>
                    <a:pt x="1367560" y="1621847"/>
                  </a:lnTo>
                  <a:lnTo>
                    <a:pt x="1328963" y="1645811"/>
                  </a:lnTo>
                  <a:lnTo>
                    <a:pt x="1289076" y="1667812"/>
                  </a:lnTo>
                  <a:lnTo>
                    <a:pt x="1247968" y="1687784"/>
                  </a:lnTo>
                  <a:lnTo>
                    <a:pt x="1205705" y="1705658"/>
                  </a:lnTo>
                  <a:lnTo>
                    <a:pt x="1162355" y="1721367"/>
                  </a:lnTo>
                  <a:lnTo>
                    <a:pt x="1117985" y="1734844"/>
                  </a:lnTo>
                  <a:lnTo>
                    <a:pt x="1072663" y="1746022"/>
                  </a:lnTo>
                  <a:lnTo>
                    <a:pt x="1026455" y="1754833"/>
                  </a:lnTo>
                  <a:lnTo>
                    <a:pt x="979430" y="1761211"/>
                  </a:lnTo>
                  <a:lnTo>
                    <a:pt x="931655" y="1765086"/>
                  </a:lnTo>
                  <a:lnTo>
                    <a:pt x="883196" y="176639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045629" y="2393069"/>
              <a:ext cx="661035" cy="661035"/>
            </a:xfrm>
            <a:custGeom>
              <a:avLst/>
              <a:gdLst/>
              <a:ahLst/>
              <a:cxnLst/>
              <a:rect l="l" t="t" r="r" b="b"/>
              <a:pathLst>
                <a:path w="661034" h="661035">
                  <a:moveTo>
                    <a:pt x="330474" y="660949"/>
                  </a:moveTo>
                  <a:lnTo>
                    <a:pt x="281639" y="657366"/>
                  </a:lnTo>
                  <a:lnTo>
                    <a:pt x="235029" y="646957"/>
                  </a:lnTo>
                  <a:lnTo>
                    <a:pt x="191154" y="630234"/>
                  </a:lnTo>
                  <a:lnTo>
                    <a:pt x="150527" y="607707"/>
                  </a:lnTo>
                  <a:lnTo>
                    <a:pt x="113659" y="579889"/>
                  </a:lnTo>
                  <a:lnTo>
                    <a:pt x="81059" y="547290"/>
                  </a:lnTo>
                  <a:lnTo>
                    <a:pt x="53241" y="510421"/>
                  </a:lnTo>
                  <a:lnTo>
                    <a:pt x="30715" y="469794"/>
                  </a:lnTo>
                  <a:lnTo>
                    <a:pt x="13991" y="425920"/>
                  </a:lnTo>
                  <a:lnTo>
                    <a:pt x="3583" y="379309"/>
                  </a:lnTo>
                  <a:lnTo>
                    <a:pt x="0" y="330474"/>
                  </a:lnTo>
                  <a:lnTo>
                    <a:pt x="3583" y="281639"/>
                  </a:lnTo>
                  <a:lnTo>
                    <a:pt x="13991" y="235029"/>
                  </a:lnTo>
                  <a:lnTo>
                    <a:pt x="30715" y="191154"/>
                  </a:lnTo>
                  <a:lnTo>
                    <a:pt x="53241" y="150527"/>
                  </a:lnTo>
                  <a:lnTo>
                    <a:pt x="81059" y="113659"/>
                  </a:lnTo>
                  <a:lnTo>
                    <a:pt x="113659" y="81059"/>
                  </a:lnTo>
                  <a:lnTo>
                    <a:pt x="150527" y="53241"/>
                  </a:lnTo>
                  <a:lnTo>
                    <a:pt x="191154" y="30715"/>
                  </a:lnTo>
                  <a:lnTo>
                    <a:pt x="235029" y="13991"/>
                  </a:lnTo>
                  <a:lnTo>
                    <a:pt x="281639" y="3583"/>
                  </a:lnTo>
                  <a:lnTo>
                    <a:pt x="330474" y="0"/>
                  </a:lnTo>
                  <a:lnTo>
                    <a:pt x="379309" y="3583"/>
                  </a:lnTo>
                  <a:lnTo>
                    <a:pt x="425920" y="13991"/>
                  </a:lnTo>
                  <a:lnTo>
                    <a:pt x="469794" y="30715"/>
                  </a:lnTo>
                  <a:lnTo>
                    <a:pt x="510421" y="53241"/>
                  </a:lnTo>
                  <a:lnTo>
                    <a:pt x="547290" y="81059"/>
                  </a:lnTo>
                  <a:lnTo>
                    <a:pt x="579889" y="113659"/>
                  </a:lnTo>
                  <a:lnTo>
                    <a:pt x="607708" y="150527"/>
                  </a:lnTo>
                  <a:lnTo>
                    <a:pt x="630234" y="191154"/>
                  </a:lnTo>
                  <a:lnTo>
                    <a:pt x="646957" y="235029"/>
                  </a:lnTo>
                  <a:lnTo>
                    <a:pt x="657366" y="281639"/>
                  </a:lnTo>
                  <a:lnTo>
                    <a:pt x="660949" y="330474"/>
                  </a:lnTo>
                  <a:lnTo>
                    <a:pt x="657366" y="379309"/>
                  </a:lnTo>
                  <a:lnTo>
                    <a:pt x="646957" y="425920"/>
                  </a:lnTo>
                  <a:lnTo>
                    <a:pt x="630234" y="469794"/>
                  </a:lnTo>
                  <a:lnTo>
                    <a:pt x="607708" y="510421"/>
                  </a:lnTo>
                  <a:lnTo>
                    <a:pt x="579889" y="547290"/>
                  </a:lnTo>
                  <a:lnTo>
                    <a:pt x="547290" y="579889"/>
                  </a:lnTo>
                  <a:lnTo>
                    <a:pt x="510421" y="607707"/>
                  </a:lnTo>
                  <a:lnTo>
                    <a:pt x="469794" y="630234"/>
                  </a:lnTo>
                  <a:lnTo>
                    <a:pt x="425920" y="646957"/>
                  </a:lnTo>
                  <a:lnTo>
                    <a:pt x="379309" y="657366"/>
                  </a:lnTo>
                  <a:lnTo>
                    <a:pt x="330474" y="660949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54832" y="8417554"/>
            <a:ext cx="3075940" cy="776605"/>
            <a:chOff x="1154832" y="8417554"/>
            <a:chExt cx="3075940" cy="776605"/>
          </a:xfrm>
        </p:grpSpPr>
        <p:sp>
          <p:nvSpPr>
            <p:cNvPr id="10" name="object 10"/>
            <p:cNvSpPr/>
            <p:nvPr/>
          </p:nvSpPr>
          <p:spPr>
            <a:xfrm>
              <a:off x="1154832" y="8417554"/>
              <a:ext cx="3075940" cy="776605"/>
            </a:xfrm>
            <a:custGeom>
              <a:avLst/>
              <a:gdLst/>
              <a:ahLst/>
              <a:cxnLst/>
              <a:rect l="l" t="t" r="r" b="b"/>
              <a:pathLst>
                <a:path w="3075940" h="776604">
                  <a:moveTo>
                    <a:pt x="2687469" y="776477"/>
                  </a:moveTo>
                  <a:lnTo>
                    <a:pt x="388238" y="776477"/>
                  </a:lnTo>
                  <a:lnTo>
                    <a:pt x="337207" y="773110"/>
                  </a:lnTo>
                  <a:lnTo>
                    <a:pt x="287481" y="763176"/>
                  </a:lnTo>
                  <a:lnTo>
                    <a:pt x="239666" y="746924"/>
                  </a:lnTo>
                  <a:lnTo>
                    <a:pt x="194363" y="724605"/>
                  </a:lnTo>
                  <a:lnTo>
                    <a:pt x="152178" y="696469"/>
                  </a:lnTo>
                  <a:lnTo>
                    <a:pt x="113712" y="662765"/>
                  </a:lnTo>
                  <a:lnTo>
                    <a:pt x="80008" y="624299"/>
                  </a:lnTo>
                  <a:lnTo>
                    <a:pt x="51872" y="582113"/>
                  </a:lnTo>
                  <a:lnTo>
                    <a:pt x="29552" y="536811"/>
                  </a:lnTo>
                  <a:lnTo>
                    <a:pt x="13301" y="488995"/>
                  </a:lnTo>
                  <a:lnTo>
                    <a:pt x="3366" y="439270"/>
                  </a:lnTo>
                  <a:lnTo>
                    <a:pt x="0" y="388239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2" y="113712"/>
                  </a:lnTo>
                  <a:lnTo>
                    <a:pt x="152178" y="80008"/>
                  </a:lnTo>
                  <a:lnTo>
                    <a:pt x="194363" y="51872"/>
                  </a:lnTo>
                  <a:lnTo>
                    <a:pt x="239666" y="29553"/>
                  </a:lnTo>
                  <a:lnTo>
                    <a:pt x="287481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2687469" y="0"/>
                  </a:lnTo>
                  <a:lnTo>
                    <a:pt x="2738500" y="3367"/>
                  </a:lnTo>
                  <a:lnTo>
                    <a:pt x="2788225" y="13301"/>
                  </a:lnTo>
                  <a:lnTo>
                    <a:pt x="2836041" y="29553"/>
                  </a:lnTo>
                  <a:lnTo>
                    <a:pt x="2881343" y="51872"/>
                  </a:lnTo>
                  <a:lnTo>
                    <a:pt x="2923529" y="80008"/>
                  </a:lnTo>
                  <a:lnTo>
                    <a:pt x="2961995" y="113712"/>
                  </a:lnTo>
                  <a:lnTo>
                    <a:pt x="2995699" y="152178"/>
                  </a:lnTo>
                  <a:lnTo>
                    <a:pt x="3023835" y="194363"/>
                  </a:lnTo>
                  <a:lnTo>
                    <a:pt x="3046154" y="239666"/>
                  </a:lnTo>
                  <a:lnTo>
                    <a:pt x="3062406" y="287481"/>
                  </a:lnTo>
                  <a:lnTo>
                    <a:pt x="3072340" y="337207"/>
                  </a:lnTo>
                  <a:lnTo>
                    <a:pt x="3075578" y="386278"/>
                  </a:lnTo>
                  <a:lnTo>
                    <a:pt x="3075578" y="390199"/>
                  </a:lnTo>
                  <a:lnTo>
                    <a:pt x="3072340" y="439270"/>
                  </a:lnTo>
                  <a:lnTo>
                    <a:pt x="3062406" y="488995"/>
                  </a:lnTo>
                  <a:lnTo>
                    <a:pt x="3046154" y="536811"/>
                  </a:lnTo>
                  <a:lnTo>
                    <a:pt x="3023835" y="582113"/>
                  </a:lnTo>
                  <a:lnTo>
                    <a:pt x="2995699" y="624299"/>
                  </a:lnTo>
                  <a:lnTo>
                    <a:pt x="2961995" y="662765"/>
                  </a:lnTo>
                  <a:lnTo>
                    <a:pt x="2923529" y="696469"/>
                  </a:lnTo>
                  <a:lnTo>
                    <a:pt x="2881343" y="724605"/>
                  </a:lnTo>
                  <a:lnTo>
                    <a:pt x="2836041" y="746924"/>
                  </a:lnTo>
                  <a:lnTo>
                    <a:pt x="2788225" y="763176"/>
                  </a:lnTo>
                  <a:lnTo>
                    <a:pt x="2738500" y="773110"/>
                  </a:lnTo>
                  <a:lnTo>
                    <a:pt x="2687469" y="776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13375" y="8515197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290597" y="581194"/>
                  </a:moveTo>
                  <a:lnTo>
                    <a:pt x="243460" y="577391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45529" y="677759"/>
            <a:ext cx="1691639" cy="563880"/>
          </a:xfrm>
          <a:custGeom>
            <a:avLst/>
            <a:gdLst/>
            <a:ahLst/>
            <a:cxnLst/>
            <a:rect l="l" t="t" r="r" b="b"/>
            <a:pathLst>
              <a:path w="1691640" h="563880">
                <a:moveTo>
                  <a:pt x="1409653" y="563405"/>
                </a:moveTo>
                <a:lnTo>
                  <a:pt x="281702" y="563405"/>
                </a:lnTo>
                <a:lnTo>
                  <a:pt x="236009" y="559718"/>
                </a:lnTo>
                <a:lnTo>
                  <a:pt x="192662" y="549044"/>
                </a:lnTo>
                <a:lnTo>
                  <a:pt x="152244" y="531962"/>
                </a:lnTo>
                <a:lnTo>
                  <a:pt x="115332" y="509053"/>
                </a:lnTo>
                <a:lnTo>
                  <a:pt x="82508" y="480896"/>
                </a:lnTo>
                <a:lnTo>
                  <a:pt x="54352" y="448072"/>
                </a:lnTo>
                <a:lnTo>
                  <a:pt x="31443" y="411161"/>
                </a:lnTo>
                <a:lnTo>
                  <a:pt x="14361" y="370742"/>
                </a:lnTo>
                <a:lnTo>
                  <a:pt x="3687" y="327396"/>
                </a:lnTo>
                <a:lnTo>
                  <a:pt x="0" y="281702"/>
                </a:lnTo>
                <a:lnTo>
                  <a:pt x="3687" y="236009"/>
                </a:lnTo>
                <a:lnTo>
                  <a:pt x="14361" y="192662"/>
                </a:lnTo>
                <a:lnTo>
                  <a:pt x="31443" y="152244"/>
                </a:lnTo>
                <a:lnTo>
                  <a:pt x="54352" y="115332"/>
                </a:lnTo>
                <a:lnTo>
                  <a:pt x="82508" y="82508"/>
                </a:lnTo>
                <a:lnTo>
                  <a:pt x="115332" y="54352"/>
                </a:lnTo>
                <a:lnTo>
                  <a:pt x="152244" y="31443"/>
                </a:lnTo>
                <a:lnTo>
                  <a:pt x="192662" y="14361"/>
                </a:lnTo>
                <a:lnTo>
                  <a:pt x="236009" y="3687"/>
                </a:lnTo>
                <a:lnTo>
                  <a:pt x="281702" y="0"/>
                </a:lnTo>
                <a:lnTo>
                  <a:pt x="1409653" y="0"/>
                </a:lnTo>
                <a:lnTo>
                  <a:pt x="1455347" y="3687"/>
                </a:lnTo>
                <a:lnTo>
                  <a:pt x="1498693" y="14361"/>
                </a:lnTo>
                <a:lnTo>
                  <a:pt x="1539112" y="31443"/>
                </a:lnTo>
                <a:lnTo>
                  <a:pt x="1576023" y="54352"/>
                </a:lnTo>
                <a:lnTo>
                  <a:pt x="1608847" y="82508"/>
                </a:lnTo>
                <a:lnTo>
                  <a:pt x="1637004" y="115332"/>
                </a:lnTo>
                <a:lnTo>
                  <a:pt x="1659913" y="152244"/>
                </a:lnTo>
                <a:lnTo>
                  <a:pt x="1676995" y="192662"/>
                </a:lnTo>
                <a:lnTo>
                  <a:pt x="1687669" y="236009"/>
                </a:lnTo>
                <a:lnTo>
                  <a:pt x="1691356" y="281702"/>
                </a:lnTo>
                <a:lnTo>
                  <a:pt x="1687669" y="327396"/>
                </a:lnTo>
                <a:lnTo>
                  <a:pt x="1676995" y="370742"/>
                </a:lnTo>
                <a:lnTo>
                  <a:pt x="1659913" y="411161"/>
                </a:lnTo>
                <a:lnTo>
                  <a:pt x="1637004" y="448072"/>
                </a:lnTo>
                <a:lnTo>
                  <a:pt x="1608847" y="480896"/>
                </a:lnTo>
                <a:lnTo>
                  <a:pt x="1576023" y="509053"/>
                </a:lnTo>
                <a:lnTo>
                  <a:pt x="1539112" y="531962"/>
                </a:lnTo>
                <a:lnTo>
                  <a:pt x="1498693" y="549044"/>
                </a:lnTo>
                <a:lnTo>
                  <a:pt x="1455347" y="559718"/>
                </a:lnTo>
                <a:lnTo>
                  <a:pt x="1409653" y="563405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25288" y="736893"/>
            <a:ext cx="91630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90" dirty="0">
                <a:solidFill>
                  <a:srgbClr val="FFFFFF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96085" y="751189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137" y="2035670"/>
            <a:ext cx="11054080" cy="69843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15"/>
              </a:spcBef>
            </a:pPr>
            <a:r>
              <a:rPr sz="6450" spc="-440" dirty="0">
                <a:solidFill>
                  <a:srgbClr val="8FA3C1"/>
                </a:solidFill>
                <a:latin typeface="Arial Black"/>
                <a:cs typeface="Arial Black"/>
              </a:rPr>
              <a:t>Dataset</a:t>
            </a:r>
            <a:r>
              <a:rPr sz="6450" spc="-620" dirty="0">
                <a:solidFill>
                  <a:srgbClr val="8FA3C1"/>
                </a:solidFill>
                <a:latin typeface="Arial Black"/>
                <a:cs typeface="Arial Black"/>
              </a:rPr>
              <a:t> </a:t>
            </a:r>
            <a:r>
              <a:rPr sz="6450" spc="-350" dirty="0">
                <a:solidFill>
                  <a:srgbClr val="8FA3C1"/>
                </a:solidFill>
                <a:latin typeface="Arial Black"/>
                <a:cs typeface="Arial Black"/>
              </a:rPr>
              <a:t>Description</a:t>
            </a:r>
            <a:endParaRPr sz="6450">
              <a:latin typeface="Arial Black"/>
              <a:cs typeface="Arial Black"/>
            </a:endParaRPr>
          </a:p>
          <a:p>
            <a:pPr marL="208915" marR="201295" indent="-635" algn="ctr">
              <a:lnSpc>
                <a:spcPct val="116100"/>
              </a:lnSpc>
              <a:spcBef>
                <a:spcPts val="5380"/>
              </a:spcBef>
            </a:pPr>
            <a:r>
              <a:rPr sz="2350" spc="195" dirty="0">
                <a:latin typeface="Tahoma"/>
                <a:cs typeface="Tahoma"/>
              </a:rPr>
              <a:t>THE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160" dirty="0">
                <a:latin typeface="Tahoma"/>
                <a:cs typeface="Tahoma"/>
              </a:rPr>
              <a:t>DATASET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220" dirty="0">
                <a:latin typeface="Tahoma"/>
                <a:cs typeface="Tahoma"/>
              </a:rPr>
              <a:t>INCLUDES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180" dirty="0">
                <a:latin typeface="Tahoma"/>
                <a:cs typeface="Tahoma"/>
              </a:rPr>
              <a:t>TRANSACTIONS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320" dirty="0">
                <a:latin typeface="Tahoma"/>
                <a:cs typeface="Tahoma"/>
              </a:rPr>
              <a:t>FROM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dirty="0">
                <a:latin typeface="Tahoma"/>
                <a:cs typeface="Tahoma"/>
              </a:rPr>
              <a:t>2010</a:t>
            </a:r>
            <a:r>
              <a:rPr sz="2350" spc="-65" dirty="0">
                <a:latin typeface="Tahoma"/>
                <a:cs typeface="Tahoma"/>
              </a:rPr>
              <a:t> </a:t>
            </a:r>
            <a:r>
              <a:rPr sz="2350" spc="140" dirty="0">
                <a:latin typeface="Tahoma"/>
                <a:cs typeface="Tahoma"/>
              </a:rPr>
              <a:t>TO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-160" dirty="0">
                <a:latin typeface="Tahoma"/>
                <a:cs typeface="Tahoma"/>
              </a:rPr>
              <a:t>2011,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135" dirty="0">
                <a:latin typeface="Tahoma"/>
                <a:cs typeface="Tahoma"/>
              </a:rPr>
              <a:t>WITH </a:t>
            </a:r>
            <a:r>
              <a:rPr sz="2350" spc="210" dirty="0">
                <a:latin typeface="Tahoma"/>
                <a:cs typeface="Tahoma"/>
              </a:rPr>
              <a:t>FEATURES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70" dirty="0">
                <a:latin typeface="Tahoma"/>
                <a:cs typeface="Tahoma"/>
              </a:rPr>
              <a:t>SUCH</a:t>
            </a:r>
            <a:r>
              <a:rPr sz="2350" spc="-90" dirty="0">
                <a:latin typeface="Tahoma"/>
                <a:cs typeface="Tahoma"/>
              </a:rPr>
              <a:t> </a:t>
            </a:r>
            <a:r>
              <a:rPr sz="2350" spc="210" dirty="0">
                <a:latin typeface="Tahoma"/>
                <a:cs typeface="Tahoma"/>
              </a:rPr>
              <a:t>AS</a:t>
            </a:r>
            <a:r>
              <a:rPr sz="2350" spc="-90" dirty="0">
                <a:latin typeface="Tahoma"/>
                <a:cs typeface="Tahoma"/>
              </a:rPr>
              <a:t> </a:t>
            </a:r>
            <a:r>
              <a:rPr sz="2350" spc="155" dirty="0">
                <a:latin typeface="Tahoma"/>
                <a:cs typeface="Tahoma"/>
              </a:rPr>
              <a:t>INVOICE</a:t>
            </a:r>
            <a:r>
              <a:rPr sz="2350" spc="-90" dirty="0">
                <a:latin typeface="Tahoma"/>
                <a:cs typeface="Tahoma"/>
              </a:rPr>
              <a:t> </a:t>
            </a:r>
            <a:r>
              <a:rPr sz="2350" spc="265" dirty="0">
                <a:latin typeface="Tahoma"/>
                <a:cs typeface="Tahoma"/>
              </a:rPr>
              <a:t>NUMBER,</a:t>
            </a:r>
            <a:r>
              <a:rPr sz="2350" spc="-90" dirty="0">
                <a:latin typeface="Tahoma"/>
                <a:cs typeface="Tahoma"/>
              </a:rPr>
              <a:t> </a:t>
            </a:r>
            <a:r>
              <a:rPr sz="2350" spc="120" dirty="0">
                <a:latin typeface="Tahoma"/>
                <a:cs typeface="Tahoma"/>
              </a:rPr>
              <a:t>DATE,</a:t>
            </a:r>
            <a:r>
              <a:rPr sz="2350" spc="-90" dirty="0">
                <a:latin typeface="Tahoma"/>
                <a:cs typeface="Tahoma"/>
              </a:rPr>
              <a:t> </a:t>
            </a:r>
            <a:r>
              <a:rPr sz="2350" spc="100" dirty="0">
                <a:latin typeface="Tahoma"/>
                <a:cs typeface="Tahoma"/>
              </a:rPr>
              <a:t>QUANTITY,</a:t>
            </a:r>
            <a:r>
              <a:rPr sz="2350" spc="-90" dirty="0">
                <a:latin typeface="Tahoma"/>
                <a:cs typeface="Tahoma"/>
              </a:rPr>
              <a:t> </a:t>
            </a:r>
            <a:r>
              <a:rPr sz="2350" spc="130" dirty="0">
                <a:latin typeface="Tahoma"/>
                <a:cs typeface="Tahoma"/>
              </a:rPr>
              <a:t>UNIT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130" dirty="0">
                <a:latin typeface="Tahoma"/>
                <a:cs typeface="Tahoma"/>
              </a:rPr>
              <a:t>PRICE, </a:t>
            </a:r>
            <a:r>
              <a:rPr sz="2350" spc="250" dirty="0">
                <a:latin typeface="Tahoma"/>
                <a:cs typeface="Tahoma"/>
              </a:rPr>
              <a:t>CUSTOMER</a:t>
            </a:r>
            <a:r>
              <a:rPr sz="2350" spc="-130" dirty="0">
                <a:latin typeface="Tahoma"/>
                <a:cs typeface="Tahoma"/>
              </a:rPr>
              <a:t> </a:t>
            </a:r>
            <a:r>
              <a:rPr sz="2350" dirty="0">
                <a:latin typeface="Tahoma"/>
                <a:cs typeface="Tahoma"/>
              </a:rPr>
              <a:t>ID,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330" dirty="0">
                <a:latin typeface="Tahoma"/>
                <a:cs typeface="Tahoma"/>
              </a:rPr>
              <a:t>AND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155" dirty="0">
                <a:latin typeface="Tahoma"/>
                <a:cs typeface="Tahoma"/>
              </a:rPr>
              <a:t>COUNTRY.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350">
              <a:latin typeface="Tahoma"/>
              <a:cs typeface="Tahoma"/>
            </a:endParaRPr>
          </a:p>
          <a:p>
            <a:pPr marL="12065" marR="5080" indent="79375" algn="ctr">
              <a:lnSpc>
                <a:spcPct val="116100"/>
              </a:lnSpc>
              <a:spcBef>
                <a:spcPts val="5"/>
              </a:spcBef>
            </a:pPr>
            <a:r>
              <a:rPr sz="2350" spc="270" dirty="0">
                <a:latin typeface="Tahoma"/>
                <a:cs typeface="Tahoma"/>
              </a:rPr>
              <a:t>BECAUSE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195" dirty="0">
                <a:latin typeface="Tahoma"/>
                <a:cs typeface="Tahoma"/>
              </a:rPr>
              <a:t>THE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160" dirty="0">
                <a:latin typeface="Tahoma"/>
                <a:cs typeface="Tahoma"/>
              </a:rPr>
              <a:t>DATASET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70" dirty="0">
                <a:latin typeface="Tahoma"/>
                <a:cs typeface="Tahoma"/>
              </a:rPr>
              <a:t>DOES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10" dirty="0">
                <a:latin typeface="Tahoma"/>
                <a:cs typeface="Tahoma"/>
              </a:rPr>
              <a:t>NOT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25" dirty="0">
                <a:latin typeface="Tahoma"/>
                <a:cs typeface="Tahoma"/>
              </a:rPr>
              <a:t>PROVIDE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80" dirty="0">
                <a:latin typeface="Tahoma"/>
                <a:cs typeface="Tahoma"/>
              </a:rPr>
              <a:t>A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160" dirty="0">
                <a:latin typeface="Tahoma"/>
                <a:cs typeface="Tahoma"/>
              </a:rPr>
              <a:t>TARGET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04" dirty="0">
                <a:latin typeface="Tahoma"/>
                <a:cs typeface="Tahoma"/>
              </a:rPr>
              <a:t>VARIABLE </a:t>
            </a:r>
            <a:r>
              <a:rPr sz="2350" spc="95" dirty="0">
                <a:latin typeface="Tahoma"/>
                <a:cs typeface="Tahoma"/>
              </a:rPr>
              <a:t>DIRECTLY,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375" dirty="0">
                <a:latin typeface="Tahoma"/>
                <a:cs typeface="Tahoma"/>
              </a:rPr>
              <a:t>WE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90" dirty="0">
                <a:latin typeface="Tahoma"/>
                <a:cs typeface="Tahoma"/>
              </a:rPr>
              <a:t>COMPUTED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50" dirty="0">
                <a:latin typeface="Tahoma"/>
                <a:cs typeface="Tahoma"/>
              </a:rPr>
              <a:t>CUSTOMER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145" dirty="0">
                <a:latin typeface="Tahoma"/>
                <a:cs typeface="Tahoma"/>
              </a:rPr>
              <a:t>LIFETIME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50" dirty="0">
                <a:latin typeface="Tahoma"/>
                <a:cs typeface="Tahoma"/>
              </a:rPr>
              <a:t>VALUE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25" dirty="0">
                <a:latin typeface="Tahoma"/>
                <a:cs typeface="Tahoma"/>
              </a:rPr>
              <a:t>OURSELVES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-25" dirty="0">
                <a:latin typeface="Tahoma"/>
                <a:cs typeface="Tahoma"/>
              </a:rPr>
              <a:t>AS: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3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350" spc="210" dirty="0">
                <a:latin typeface="Tahoma"/>
                <a:cs typeface="Tahoma"/>
              </a:rPr>
              <a:t>CLV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-360" dirty="0">
                <a:latin typeface="Tahoma"/>
                <a:cs typeface="Tahoma"/>
              </a:rPr>
              <a:t>=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280" dirty="0">
                <a:latin typeface="Tahoma"/>
                <a:cs typeface="Tahoma"/>
              </a:rPr>
              <a:t>FREQUENCYPERMONTH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-360" dirty="0">
                <a:latin typeface="Tahoma"/>
                <a:cs typeface="Tahoma"/>
              </a:rPr>
              <a:t>×</a:t>
            </a:r>
            <a:r>
              <a:rPr sz="2350" spc="-95" dirty="0">
                <a:latin typeface="Tahoma"/>
                <a:cs typeface="Tahoma"/>
              </a:rPr>
              <a:t> </a:t>
            </a:r>
            <a:r>
              <a:rPr sz="2350" spc="260" dirty="0">
                <a:latin typeface="Tahoma"/>
                <a:cs typeface="Tahoma"/>
              </a:rPr>
              <a:t>AVERAGEORDERVALUE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-360" dirty="0">
                <a:latin typeface="Tahoma"/>
                <a:cs typeface="Tahoma"/>
              </a:rPr>
              <a:t>×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50" dirty="0">
                <a:latin typeface="Tahoma"/>
                <a:cs typeface="Tahoma"/>
              </a:rPr>
              <a:t>3</a:t>
            </a:r>
            <a:r>
              <a:rPr sz="2350" spc="-100" dirty="0">
                <a:latin typeface="Tahoma"/>
                <a:cs typeface="Tahoma"/>
              </a:rPr>
              <a:t> </a:t>
            </a:r>
            <a:r>
              <a:rPr sz="2350" spc="130" dirty="0">
                <a:latin typeface="Tahoma"/>
                <a:cs typeface="Tahoma"/>
              </a:rPr>
              <a:t>(LIFESPAN)</a:t>
            </a:r>
            <a:endParaRPr sz="23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2350" spc="-50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1557655">
              <a:lnSpc>
                <a:spcPct val="100000"/>
              </a:lnSpc>
              <a:spcBef>
                <a:spcPts val="2225"/>
              </a:spcBef>
            </a:pPr>
            <a:r>
              <a:rPr sz="2850" b="1" spc="-120" dirty="0">
                <a:solidFill>
                  <a:srgbClr val="8FA3C1"/>
                </a:solidFill>
                <a:latin typeface="Tahoma"/>
                <a:cs typeface="Tahoma"/>
              </a:rPr>
              <a:t>Next</a:t>
            </a:r>
            <a:r>
              <a:rPr sz="2850" b="1" spc="-41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850" b="1" spc="-10" dirty="0">
                <a:solidFill>
                  <a:srgbClr val="8FA3C1"/>
                </a:solidFill>
                <a:latin typeface="Tahoma"/>
                <a:cs typeface="Tahoma"/>
              </a:rPr>
              <a:t>Slide</a:t>
            </a:r>
            <a:endParaRPr sz="28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53145" cy="10287000"/>
            <a:chOff x="0" y="0"/>
            <a:chExt cx="8653145" cy="10287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942715" cy="10287000"/>
            </a:xfrm>
            <a:custGeom>
              <a:avLst/>
              <a:gdLst/>
              <a:ahLst/>
              <a:cxnLst/>
              <a:rect l="l" t="t" r="r" b="b"/>
              <a:pathLst>
                <a:path w="3942715" h="10287000">
                  <a:moveTo>
                    <a:pt x="3456580" y="10286999"/>
                  </a:moveTo>
                  <a:lnTo>
                    <a:pt x="164071" y="10286999"/>
                  </a:lnTo>
                  <a:lnTo>
                    <a:pt x="116058" y="10284622"/>
                  </a:lnTo>
                  <a:lnTo>
                    <a:pt x="68858" y="10277579"/>
                  </a:lnTo>
                  <a:lnTo>
                    <a:pt x="22791" y="10266001"/>
                  </a:lnTo>
                  <a:lnTo>
                    <a:pt x="0" y="10257839"/>
                  </a:lnTo>
                  <a:lnTo>
                    <a:pt x="0" y="29160"/>
                  </a:lnTo>
                  <a:lnTo>
                    <a:pt x="68858" y="9420"/>
                  </a:lnTo>
                  <a:lnTo>
                    <a:pt x="116058" y="2377"/>
                  </a:lnTo>
                  <a:lnTo>
                    <a:pt x="164071" y="0"/>
                  </a:lnTo>
                  <a:lnTo>
                    <a:pt x="3456580" y="0"/>
                  </a:lnTo>
                  <a:lnTo>
                    <a:pt x="3504593" y="2377"/>
                  </a:lnTo>
                  <a:lnTo>
                    <a:pt x="3551793" y="9420"/>
                  </a:lnTo>
                  <a:lnTo>
                    <a:pt x="3597861" y="20997"/>
                  </a:lnTo>
                  <a:lnTo>
                    <a:pt x="3642478" y="36977"/>
                  </a:lnTo>
                  <a:lnTo>
                    <a:pt x="3685327" y="57227"/>
                  </a:lnTo>
                  <a:lnTo>
                    <a:pt x="3726088" y="81615"/>
                  </a:lnTo>
                  <a:lnTo>
                    <a:pt x="3764444" y="110010"/>
                  </a:lnTo>
                  <a:lnTo>
                    <a:pt x="3800075" y="142280"/>
                  </a:lnTo>
                  <a:lnTo>
                    <a:pt x="3832344" y="177911"/>
                  </a:lnTo>
                  <a:lnTo>
                    <a:pt x="3860739" y="216266"/>
                  </a:lnTo>
                  <a:lnTo>
                    <a:pt x="3885128" y="257028"/>
                  </a:lnTo>
                  <a:lnTo>
                    <a:pt x="3905378" y="299876"/>
                  </a:lnTo>
                  <a:lnTo>
                    <a:pt x="3921357" y="344494"/>
                  </a:lnTo>
                  <a:lnTo>
                    <a:pt x="3932935" y="390562"/>
                  </a:lnTo>
                  <a:lnTo>
                    <a:pt x="3939978" y="437762"/>
                  </a:lnTo>
                  <a:lnTo>
                    <a:pt x="3942355" y="485775"/>
                  </a:lnTo>
                  <a:lnTo>
                    <a:pt x="3942355" y="9801224"/>
                  </a:lnTo>
                  <a:lnTo>
                    <a:pt x="3939978" y="9849237"/>
                  </a:lnTo>
                  <a:lnTo>
                    <a:pt x="3932935" y="9896437"/>
                  </a:lnTo>
                  <a:lnTo>
                    <a:pt x="3921357" y="9942505"/>
                  </a:lnTo>
                  <a:lnTo>
                    <a:pt x="3905378" y="9987122"/>
                  </a:lnTo>
                  <a:lnTo>
                    <a:pt x="3885128" y="10029971"/>
                  </a:lnTo>
                  <a:lnTo>
                    <a:pt x="3860739" y="10070732"/>
                  </a:lnTo>
                  <a:lnTo>
                    <a:pt x="3832344" y="10109088"/>
                  </a:lnTo>
                  <a:lnTo>
                    <a:pt x="3800075" y="10144719"/>
                  </a:lnTo>
                  <a:lnTo>
                    <a:pt x="3764444" y="10176989"/>
                  </a:lnTo>
                  <a:lnTo>
                    <a:pt x="3726088" y="10205384"/>
                  </a:lnTo>
                  <a:lnTo>
                    <a:pt x="3685327" y="10229772"/>
                  </a:lnTo>
                  <a:lnTo>
                    <a:pt x="3642478" y="10250022"/>
                  </a:lnTo>
                  <a:lnTo>
                    <a:pt x="3597861" y="10266001"/>
                  </a:lnTo>
                  <a:lnTo>
                    <a:pt x="3551793" y="10277579"/>
                  </a:lnTo>
                  <a:lnTo>
                    <a:pt x="3504593" y="10284622"/>
                  </a:lnTo>
                  <a:lnTo>
                    <a:pt x="3456580" y="1028699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523" y="2161932"/>
              <a:ext cx="6968279" cy="68124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29803" y="1927533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5">
                  <a:moveTo>
                    <a:pt x="911499" y="1822998"/>
                  </a:moveTo>
                  <a:lnTo>
                    <a:pt x="863090" y="1821735"/>
                  </a:lnTo>
                  <a:lnTo>
                    <a:pt x="815339" y="1817987"/>
                  </a:lnTo>
                  <a:lnTo>
                    <a:pt x="768310" y="1811816"/>
                  </a:lnTo>
                  <a:lnTo>
                    <a:pt x="722064" y="1803287"/>
                  </a:lnTo>
                  <a:lnTo>
                    <a:pt x="676666" y="1792462"/>
                  </a:lnTo>
                  <a:lnTo>
                    <a:pt x="632177" y="1779404"/>
                  </a:lnTo>
                  <a:lnTo>
                    <a:pt x="588662" y="1764176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4" y="1706101"/>
                  </a:lnTo>
                  <a:lnTo>
                    <a:pt x="425591" y="1682823"/>
                  </a:lnTo>
                  <a:lnTo>
                    <a:pt x="387886" y="1657690"/>
                  </a:lnTo>
                  <a:lnTo>
                    <a:pt x="351532" y="1630765"/>
                  </a:lnTo>
                  <a:lnTo>
                    <a:pt x="316592" y="1602111"/>
                  </a:lnTo>
                  <a:lnTo>
                    <a:pt x="283129" y="1571791"/>
                  </a:lnTo>
                  <a:lnTo>
                    <a:pt x="251206" y="1539869"/>
                  </a:lnTo>
                  <a:lnTo>
                    <a:pt x="220886" y="1506406"/>
                  </a:lnTo>
                  <a:lnTo>
                    <a:pt x="192232" y="1471466"/>
                  </a:lnTo>
                  <a:lnTo>
                    <a:pt x="165307" y="1435111"/>
                  </a:lnTo>
                  <a:lnTo>
                    <a:pt x="140174" y="1397406"/>
                  </a:lnTo>
                  <a:lnTo>
                    <a:pt x="116896" y="1358413"/>
                  </a:lnTo>
                  <a:lnTo>
                    <a:pt x="95536" y="1318195"/>
                  </a:lnTo>
                  <a:lnTo>
                    <a:pt x="76157" y="1276815"/>
                  </a:lnTo>
                  <a:lnTo>
                    <a:pt x="58822" y="1234336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4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8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40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8"/>
                  </a:lnTo>
                  <a:lnTo>
                    <a:pt x="58822" y="588662"/>
                  </a:lnTo>
                  <a:lnTo>
                    <a:pt x="76157" y="546183"/>
                  </a:lnTo>
                  <a:lnTo>
                    <a:pt x="95536" y="504803"/>
                  </a:lnTo>
                  <a:lnTo>
                    <a:pt x="116896" y="464585"/>
                  </a:lnTo>
                  <a:lnTo>
                    <a:pt x="140174" y="425592"/>
                  </a:lnTo>
                  <a:lnTo>
                    <a:pt x="165307" y="387887"/>
                  </a:lnTo>
                  <a:lnTo>
                    <a:pt x="192232" y="351532"/>
                  </a:lnTo>
                  <a:lnTo>
                    <a:pt x="220886" y="316592"/>
                  </a:lnTo>
                  <a:lnTo>
                    <a:pt x="251206" y="283129"/>
                  </a:lnTo>
                  <a:lnTo>
                    <a:pt x="283129" y="251206"/>
                  </a:lnTo>
                  <a:lnTo>
                    <a:pt x="316592" y="220887"/>
                  </a:lnTo>
                  <a:lnTo>
                    <a:pt x="351532" y="192233"/>
                  </a:lnTo>
                  <a:lnTo>
                    <a:pt x="387886" y="165308"/>
                  </a:lnTo>
                  <a:lnTo>
                    <a:pt x="425591" y="140175"/>
                  </a:lnTo>
                  <a:lnTo>
                    <a:pt x="464584" y="116897"/>
                  </a:lnTo>
                  <a:lnTo>
                    <a:pt x="504803" y="95537"/>
                  </a:lnTo>
                  <a:lnTo>
                    <a:pt x="546183" y="76158"/>
                  </a:lnTo>
                  <a:lnTo>
                    <a:pt x="588662" y="58822"/>
                  </a:lnTo>
                  <a:lnTo>
                    <a:pt x="632177" y="43594"/>
                  </a:lnTo>
                  <a:lnTo>
                    <a:pt x="676666" y="30536"/>
                  </a:lnTo>
                  <a:lnTo>
                    <a:pt x="722064" y="19711"/>
                  </a:lnTo>
                  <a:lnTo>
                    <a:pt x="768310" y="11182"/>
                  </a:lnTo>
                  <a:lnTo>
                    <a:pt x="815339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7" y="1263"/>
                  </a:lnTo>
                  <a:lnTo>
                    <a:pt x="1007658" y="5011"/>
                  </a:lnTo>
                  <a:lnTo>
                    <a:pt x="1054688" y="11182"/>
                  </a:lnTo>
                  <a:lnTo>
                    <a:pt x="1100933" y="19711"/>
                  </a:lnTo>
                  <a:lnTo>
                    <a:pt x="1146332" y="30536"/>
                  </a:lnTo>
                  <a:lnTo>
                    <a:pt x="1190820" y="43594"/>
                  </a:lnTo>
                  <a:lnTo>
                    <a:pt x="1234336" y="58822"/>
                  </a:lnTo>
                  <a:lnTo>
                    <a:pt x="1276815" y="76158"/>
                  </a:lnTo>
                  <a:lnTo>
                    <a:pt x="1318195" y="95537"/>
                  </a:lnTo>
                  <a:lnTo>
                    <a:pt x="1358413" y="116897"/>
                  </a:lnTo>
                  <a:lnTo>
                    <a:pt x="1397406" y="140175"/>
                  </a:lnTo>
                  <a:lnTo>
                    <a:pt x="1435111" y="165308"/>
                  </a:lnTo>
                  <a:lnTo>
                    <a:pt x="1471465" y="192233"/>
                  </a:lnTo>
                  <a:lnTo>
                    <a:pt x="1506406" y="220887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2" y="316592"/>
                  </a:lnTo>
                  <a:lnTo>
                    <a:pt x="1630766" y="351532"/>
                  </a:lnTo>
                  <a:lnTo>
                    <a:pt x="1657691" y="387887"/>
                  </a:lnTo>
                  <a:lnTo>
                    <a:pt x="1682824" y="425592"/>
                  </a:lnTo>
                  <a:lnTo>
                    <a:pt x="1706102" y="464585"/>
                  </a:lnTo>
                  <a:lnTo>
                    <a:pt x="1727462" y="504803"/>
                  </a:lnTo>
                  <a:lnTo>
                    <a:pt x="1746841" y="546183"/>
                  </a:lnTo>
                  <a:lnTo>
                    <a:pt x="1764176" y="588662"/>
                  </a:lnTo>
                  <a:lnTo>
                    <a:pt x="1779404" y="632178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7" y="768310"/>
                  </a:lnTo>
                  <a:lnTo>
                    <a:pt x="1817987" y="815340"/>
                  </a:lnTo>
                  <a:lnTo>
                    <a:pt x="1821735" y="863090"/>
                  </a:lnTo>
                  <a:lnTo>
                    <a:pt x="1822999" y="911499"/>
                  </a:lnTo>
                  <a:lnTo>
                    <a:pt x="1821735" y="959908"/>
                  </a:lnTo>
                  <a:lnTo>
                    <a:pt x="1817987" y="1007658"/>
                  </a:lnTo>
                  <a:lnTo>
                    <a:pt x="1811817" y="1054688"/>
                  </a:lnTo>
                  <a:lnTo>
                    <a:pt x="1803287" y="1100934"/>
                  </a:lnTo>
                  <a:lnTo>
                    <a:pt x="1792462" y="1146332"/>
                  </a:lnTo>
                  <a:lnTo>
                    <a:pt x="1779404" y="1190820"/>
                  </a:lnTo>
                  <a:lnTo>
                    <a:pt x="1764176" y="1234336"/>
                  </a:lnTo>
                  <a:lnTo>
                    <a:pt x="1746841" y="1276815"/>
                  </a:lnTo>
                  <a:lnTo>
                    <a:pt x="1727462" y="1318195"/>
                  </a:lnTo>
                  <a:lnTo>
                    <a:pt x="1706102" y="1358413"/>
                  </a:lnTo>
                  <a:lnTo>
                    <a:pt x="1682824" y="1397406"/>
                  </a:lnTo>
                  <a:lnTo>
                    <a:pt x="1657691" y="1435111"/>
                  </a:lnTo>
                  <a:lnTo>
                    <a:pt x="1630766" y="1471466"/>
                  </a:lnTo>
                  <a:lnTo>
                    <a:pt x="1602112" y="1506406"/>
                  </a:lnTo>
                  <a:lnTo>
                    <a:pt x="1571792" y="1539869"/>
                  </a:lnTo>
                  <a:lnTo>
                    <a:pt x="1539869" y="1571791"/>
                  </a:lnTo>
                  <a:lnTo>
                    <a:pt x="1506406" y="1602111"/>
                  </a:lnTo>
                  <a:lnTo>
                    <a:pt x="1471465" y="1630765"/>
                  </a:lnTo>
                  <a:lnTo>
                    <a:pt x="1435111" y="1657690"/>
                  </a:lnTo>
                  <a:lnTo>
                    <a:pt x="1397406" y="1682823"/>
                  </a:lnTo>
                  <a:lnTo>
                    <a:pt x="1358413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6" y="1764176"/>
                  </a:lnTo>
                  <a:lnTo>
                    <a:pt x="1190820" y="1779404"/>
                  </a:lnTo>
                  <a:lnTo>
                    <a:pt x="1146332" y="1792462"/>
                  </a:lnTo>
                  <a:lnTo>
                    <a:pt x="1100933" y="1803287"/>
                  </a:lnTo>
                  <a:lnTo>
                    <a:pt x="1054688" y="1811816"/>
                  </a:lnTo>
                  <a:lnTo>
                    <a:pt x="1007658" y="1817987"/>
                  </a:lnTo>
                  <a:lnTo>
                    <a:pt x="959907" y="1821735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0238" y="2497967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4" y="682130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6" y="655327"/>
                  </a:lnTo>
                  <a:lnTo>
                    <a:pt x="168922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7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7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2" y="46565"/>
                  </a:lnTo>
                  <a:lnTo>
                    <a:pt x="208306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4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2" y="26802"/>
                  </a:lnTo>
                  <a:lnTo>
                    <a:pt x="513206" y="46565"/>
                  </a:lnTo>
                  <a:lnTo>
                    <a:pt x="549479" y="71065"/>
                  </a:lnTo>
                  <a:lnTo>
                    <a:pt x="582234" y="99895"/>
                  </a:lnTo>
                  <a:lnTo>
                    <a:pt x="611064" y="132650"/>
                  </a:lnTo>
                  <a:lnTo>
                    <a:pt x="635564" y="168922"/>
                  </a:lnTo>
                  <a:lnTo>
                    <a:pt x="655327" y="208307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7"/>
                  </a:lnTo>
                  <a:lnTo>
                    <a:pt x="611064" y="549479"/>
                  </a:lnTo>
                  <a:lnTo>
                    <a:pt x="582234" y="582234"/>
                  </a:lnTo>
                  <a:lnTo>
                    <a:pt x="549479" y="611064"/>
                  </a:lnTo>
                  <a:lnTo>
                    <a:pt x="513206" y="635564"/>
                  </a:lnTo>
                  <a:lnTo>
                    <a:pt x="473822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4" y="682130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7441397" y="9514209"/>
            <a:ext cx="714375" cy="714375"/>
            <a:chOff x="17441397" y="9514209"/>
            <a:chExt cx="714375" cy="714375"/>
          </a:xfrm>
        </p:grpSpPr>
        <p:sp>
          <p:nvSpPr>
            <p:cNvPr id="12" name="object 12"/>
            <p:cNvSpPr/>
            <p:nvPr/>
          </p:nvSpPr>
          <p:spPr>
            <a:xfrm>
              <a:off x="17441397" y="9514209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398343" y="714374"/>
                  </a:moveTo>
                  <a:lnTo>
                    <a:pt x="318709" y="714374"/>
                  </a:lnTo>
                  <a:lnTo>
                    <a:pt x="309876" y="713780"/>
                  </a:lnTo>
                  <a:lnTo>
                    <a:pt x="263215" y="704246"/>
                  </a:lnTo>
                  <a:lnTo>
                    <a:pt x="218971" y="688878"/>
                  </a:lnTo>
                  <a:lnTo>
                    <a:pt x="177571" y="668104"/>
                  </a:lnTo>
                  <a:lnTo>
                    <a:pt x="139441" y="642350"/>
                  </a:lnTo>
                  <a:lnTo>
                    <a:pt x="105009" y="612043"/>
                  </a:lnTo>
                  <a:lnTo>
                    <a:pt x="74703" y="577611"/>
                  </a:lnTo>
                  <a:lnTo>
                    <a:pt x="48949" y="539482"/>
                  </a:lnTo>
                  <a:lnTo>
                    <a:pt x="28174" y="498081"/>
                  </a:lnTo>
                  <a:lnTo>
                    <a:pt x="12806" y="453837"/>
                  </a:lnTo>
                  <a:lnTo>
                    <a:pt x="3272" y="407177"/>
                  </a:lnTo>
                  <a:lnTo>
                    <a:pt x="0" y="358527"/>
                  </a:lnTo>
                  <a:lnTo>
                    <a:pt x="3272" y="309876"/>
                  </a:lnTo>
                  <a:lnTo>
                    <a:pt x="12806" y="263215"/>
                  </a:lnTo>
                  <a:lnTo>
                    <a:pt x="28174" y="218971"/>
                  </a:lnTo>
                  <a:lnTo>
                    <a:pt x="48949" y="177571"/>
                  </a:lnTo>
                  <a:lnTo>
                    <a:pt x="74703" y="139441"/>
                  </a:lnTo>
                  <a:lnTo>
                    <a:pt x="105009" y="105009"/>
                  </a:lnTo>
                  <a:lnTo>
                    <a:pt x="139441" y="74703"/>
                  </a:lnTo>
                  <a:lnTo>
                    <a:pt x="177571" y="48949"/>
                  </a:lnTo>
                  <a:lnTo>
                    <a:pt x="218971" y="28174"/>
                  </a:lnTo>
                  <a:lnTo>
                    <a:pt x="263215" y="12806"/>
                  </a:lnTo>
                  <a:lnTo>
                    <a:pt x="309876" y="3272"/>
                  </a:lnTo>
                  <a:lnTo>
                    <a:pt x="358526" y="0"/>
                  </a:lnTo>
                  <a:lnTo>
                    <a:pt x="407176" y="3272"/>
                  </a:lnTo>
                  <a:lnTo>
                    <a:pt x="453837" y="12806"/>
                  </a:lnTo>
                  <a:lnTo>
                    <a:pt x="498081" y="28174"/>
                  </a:lnTo>
                  <a:lnTo>
                    <a:pt x="539482" y="48949"/>
                  </a:lnTo>
                  <a:lnTo>
                    <a:pt x="577611" y="74703"/>
                  </a:lnTo>
                  <a:lnTo>
                    <a:pt x="612043" y="105009"/>
                  </a:lnTo>
                  <a:lnTo>
                    <a:pt x="642349" y="139441"/>
                  </a:lnTo>
                  <a:lnTo>
                    <a:pt x="668104" y="177571"/>
                  </a:lnTo>
                  <a:lnTo>
                    <a:pt x="688878" y="218971"/>
                  </a:lnTo>
                  <a:lnTo>
                    <a:pt x="704246" y="263215"/>
                  </a:lnTo>
                  <a:lnTo>
                    <a:pt x="713780" y="309876"/>
                  </a:lnTo>
                  <a:lnTo>
                    <a:pt x="714374" y="318711"/>
                  </a:lnTo>
                  <a:lnTo>
                    <a:pt x="714374" y="398341"/>
                  </a:lnTo>
                  <a:lnTo>
                    <a:pt x="704246" y="453837"/>
                  </a:lnTo>
                  <a:lnTo>
                    <a:pt x="688878" y="498081"/>
                  </a:lnTo>
                  <a:lnTo>
                    <a:pt x="668104" y="539482"/>
                  </a:lnTo>
                  <a:lnTo>
                    <a:pt x="642349" y="577611"/>
                  </a:lnTo>
                  <a:lnTo>
                    <a:pt x="612043" y="612043"/>
                  </a:lnTo>
                  <a:lnTo>
                    <a:pt x="577611" y="642350"/>
                  </a:lnTo>
                  <a:lnTo>
                    <a:pt x="539482" y="668104"/>
                  </a:lnTo>
                  <a:lnTo>
                    <a:pt x="498081" y="688878"/>
                  </a:lnTo>
                  <a:lnTo>
                    <a:pt x="453837" y="704246"/>
                  </a:lnTo>
                  <a:lnTo>
                    <a:pt x="407176" y="713780"/>
                  </a:lnTo>
                  <a:lnTo>
                    <a:pt x="398343" y="714374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26961" y="9687317"/>
              <a:ext cx="205104" cy="370840"/>
            </a:xfrm>
            <a:custGeom>
              <a:avLst/>
              <a:gdLst/>
              <a:ahLst/>
              <a:cxnLst/>
              <a:rect l="l" t="t" r="r" b="b"/>
              <a:pathLst>
                <a:path w="205105" h="370840">
                  <a:moveTo>
                    <a:pt x="19619" y="370834"/>
                  </a:moveTo>
                  <a:lnTo>
                    <a:pt x="0" y="351214"/>
                  </a:lnTo>
                  <a:lnTo>
                    <a:pt x="165791" y="185419"/>
                  </a:lnTo>
                  <a:lnTo>
                    <a:pt x="0" y="19619"/>
                  </a:lnTo>
                  <a:lnTo>
                    <a:pt x="19619" y="0"/>
                  </a:lnTo>
                  <a:lnTo>
                    <a:pt x="205038" y="185419"/>
                  </a:lnTo>
                  <a:lnTo>
                    <a:pt x="19619" y="370834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40102" y="1862272"/>
            <a:ext cx="9314815" cy="2425065"/>
          </a:xfrm>
          <a:prstGeom prst="rect">
            <a:avLst/>
          </a:prstGeom>
        </p:spPr>
        <p:txBody>
          <a:bodyPr vert="horz" wrap="square" lIns="0" tIns="271780" rIns="0" bIns="0" rtlCol="0">
            <a:spAutoFit/>
          </a:bodyPr>
          <a:lstStyle/>
          <a:p>
            <a:pPr marL="497840" marR="2010410">
              <a:lnSpc>
                <a:spcPct val="74100"/>
              </a:lnSpc>
              <a:spcBef>
                <a:spcPts val="2140"/>
              </a:spcBef>
            </a:pPr>
            <a:r>
              <a:rPr sz="6600" b="1" dirty="0">
                <a:solidFill>
                  <a:srgbClr val="0F1B40"/>
                </a:solidFill>
                <a:latin typeface="Tahoma"/>
                <a:cs typeface="Tahoma"/>
              </a:rPr>
              <a:t>Data</a:t>
            </a:r>
            <a:r>
              <a:rPr sz="6600" b="1" spc="9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25" dirty="0">
                <a:solidFill>
                  <a:srgbClr val="0F1B40"/>
                </a:solidFill>
                <a:latin typeface="Tahoma"/>
                <a:cs typeface="Tahoma"/>
              </a:rPr>
              <a:t>Cleaning</a:t>
            </a:r>
            <a:r>
              <a:rPr sz="6600" b="1" spc="9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465" dirty="0">
                <a:solidFill>
                  <a:srgbClr val="0F1B40"/>
                </a:solidFill>
                <a:latin typeface="Tahoma"/>
                <a:cs typeface="Tahoma"/>
              </a:rPr>
              <a:t>&amp; </a:t>
            </a:r>
            <a:r>
              <a:rPr sz="6600" b="1" spc="-75" dirty="0">
                <a:solidFill>
                  <a:srgbClr val="0F1B40"/>
                </a:solidFill>
                <a:latin typeface="Tahoma"/>
                <a:cs typeface="Tahoma"/>
              </a:rPr>
              <a:t>Preprocessing</a:t>
            </a:r>
            <a:endParaRPr sz="6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550" b="1" i="1" spc="-440" dirty="0">
                <a:solidFill>
                  <a:srgbClr val="8FA3C1"/>
                </a:solidFill>
                <a:latin typeface="Verdana"/>
                <a:cs typeface="Verdana"/>
              </a:rPr>
              <a:t>IN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15" dirty="0">
                <a:solidFill>
                  <a:srgbClr val="8FA3C1"/>
                </a:solidFill>
                <a:latin typeface="Verdana"/>
                <a:cs typeface="Verdana"/>
              </a:rPr>
              <a:t>PREPROCESSING,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125" dirty="0">
                <a:solidFill>
                  <a:srgbClr val="8FA3C1"/>
                </a:solidFill>
                <a:latin typeface="Verdana"/>
                <a:cs typeface="Verdana"/>
              </a:rPr>
              <a:t>WE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90" dirty="0">
                <a:solidFill>
                  <a:srgbClr val="8FA3C1"/>
                </a:solidFill>
                <a:latin typeface="Verdana"/>
                <a:cs typeface="Verdana"/>
              </a:rPr>
              <a:t>APPLIED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70" dirty="0">
                <a:solidFill>
                  <a:srgbClr val="8FA3C1"/>
                </a:solidFill>
                <a:latin typeface="Verdana"/>
                <a:cs typeface="Verdana"/>
              </a:rPr>
              <a:t>SEVERAL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0" dirty="0">
                <a:solidFill>
                  <a:srgbClr val="8FA3C1"/>
                </a:solidFill>
                <a:latin typeface="Verdana"/>
                <a:cs typeface="Verdana"/>
              </a:rPr>
              <a:t>ESSENTIAL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5" dirty="0">
                <a:solidFill>
                  <a:srgbClr val="8FA3C1"/>
                </a:solidFill>
                <a:latin typeface="Verdana"/>
                <a:cs typeface="Verdana"/>
              </a:rPr>
              <a:t>STEPS:</a:t>
            </a:r>
            <a:endParaRPr sz="25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6668" y="4637251"/>
            <a:ext cx="10085070" cy="52482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546735" algn="ctr">
              <a:lnSpc>
                <a:spcPct val="100000"/>
              </a:lnSpc>
              <a:spcBef>
                <a:spcPts val="455"/>
              </a:spcBef>
            </a:pPr>
            <a:r>
              <a:rPr sz="1950" b="1" spc="-280" dirty="0">
                <a:latin typeface="Tahoma"/>
                <a:cs typeface="Tahoma"/>
              </a:rPr>
              <a:t>1-</a:t>
            </a:r>
            <a:r>
              <a:rPr sz="1950" b="1" spc="-10" dirty="0">
                <a:latin typeface="Tahoma"/>
                <a:cs typeface="Tahoma"/>
              </a:rPr>
              <a:t> </a:t>
            </a:r>
            <a:r>
              <a:rPr sz="1950" b="1" spc="75" dirty="0">
                <a:latin typeface="Tahoma"/>
                <a:cs typeface="Tahoma"/>
              </a:rPr>
              <a:t>DATA</a:t>
            </a:r>
            <a:r>
              <a:rPr sz="1950" b="1" spc="-5" dirty="0">
                <a:latin typeface="Tahoma"/>
                <a:cs typeface="Tahoma"/>
              </a:rPr>
              <a:t> </a:t>
            </a:r>
            <a:r>
              <a:rPr sz="1950" b="1" spc="-10" dirty="0">
                <a:latin typeface="Tahoma"/>
                <a:cs typeface="Tahoma"/>
              </a:rPr>
              <a:t>CLEANING:</a:t>
            </a:r>
            <a:endParaRPr sz="1950">
              <a:latin typeface="Tahoma"/>
              <a:cs typeface="Tahoma"/>
            </a:endParaRPr>
          </a:p>
          <a:p>
            <a:pPr marL="791845" marR="237490" indent="-11430" algn="ctr">
              <a:lnSpc>
                <a:spcPct val="115399"/>
              </a:lnSpc>
              <a:buFont typeface="Tahoma"/>
              <a:buAutoNum type="arabicPlain"/>
              <a:tabLst>
                <a:tab pos="1056640" algn="l"/>
              </a:tabLst>
            </a:pPr>
            <a:r>
              <a:rPr sz="1950" spc="235" dirty="0">
                <a:latin typeface="Tahoma"/>
                <a:cs typeface="Tahoma"/>
              </a:rPr>
              <a:t>	REMOVED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220" dirty="0">
                <a:latin typeface="Tahoma"/>
                <a:cs typeface="Tahoma"/>
              </a:rPr>
              <a:t>CANCELLED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204" dirty="0">
                <a:latin typeface="Tahoma"/>
                <a:cs typeface="Tahoma"/>
              </a:rPr>
              <a:t>ORDERS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05" dirty="0">
                <a:latin typeface="Tahoma"/>
                <a:cs typeface="Tahoma"/>
              </a:rPr>
              <a:t>(NEGATIVE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QUANTITIES,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40" dirty="0">
                <a:latin typeface="Tahoma"/>
                <a:cs typeface="Tahoma"/>
              </a:rPr>
              <a:t>INVOICENO </a:t>
            </a:r>
            <a:r>
              <a:rPr sz="1950" spc="90" dirty="0">
                <a:latin typeface="Tahoma"/>
                <a:cs typeface="Tahoma"/>
              </a:rPr>
              <a:t>STARTING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20" dirty="0">
                <a:latin typeface="Tahoma"/>
                <a:cs typeface="Tahoma"/>
              </a:rPr>
              <a:t>WITH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-20" dirty="0">
                <a:latin typeface="Tahoma"/>
                <a:cs typeface="Tahoma"/>
              </a:rPr>
              <a:t>“C”).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Tahoma"/>
              <a:buAutoNum type="arabicPlain"/>
            </a:pPr>
            <a:endParaRPr sz="1950">
              <a:latin typeface="Tahoma"/>
              <a:cs typeface="Tahoma"/>
            </a:endParaRPr>
          </a:p>
          <a:p>
            <a:pPr marL="559435" marR="5080" indent="313690" algn="ctr">
              <a:lnSpc>
                <a:spcPct val="115399"/>
              </a:lnSpc>
              <a:buFont typeface="Tahoma"/>
              <a:buAutoNum type="arabicPlain"/>
              <a:tabLst>
                <a:tab pos="873125" algn="l"/>
              </a:tabLst>
            </a:pPr>
            <a:r>
              <a:rPr sz="1950" spc="155" dirty="0">
                <a:latin typeface="Tahoma"/>
                <a:cs typeface="Tahoma"/>
              </a:rPr>
              <a:t>FILLED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10" dirty="0">
                <a:latin typeface="Tahoma"/>
                <a:cs typeface="Tahoma"/>
              </a:rPr>
              <a:t>MISSING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65" dirty="0">
                <a:latin typeface="Tahoma"/>
                <a:cs typeface="Tahoma"/>
              </a:rPr>
              <a:t>CUSTOMERIDS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00" dirty="0">
                <a:latin typeface="Tahoma"/>
                <a:cs typeface="Tahoma"/>
              </a:rPr>
              <a:t>BY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25" dirty="0">
                <a:latin typeface="Tahoma"/>
                <a:cs typeface="Tahoma"/>
              </a:rPr>
              <a:t>ASSIGNING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90" dirty="0">
                <a:latin typeface="Tahoma"/>
                <a:cs typeface="Tahoma"/>
              </a:rPr>
              <a:t>UNIQUE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90" dirty="0">
                <a:latin typeface="Tahoma"/>
                <a:cs typeface="Tahoma"/>
              </a:rPr>
              <a:t>GENERATED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60" dirty="0">
                <a:latin typeface="Tahoma"/>
                <a:cs typeface="Tahoma"/>
              </a:rPr>
              <a:t>IDS </a:t>
            </a:r>
            <a:r>
              <a:rPr sz="1950" spc="110" dirty="0">
                <a:latin typeface="Tahoma"/>
                <a:cs typeface="Tahoma"/>
              </a:rPr>
              <a:t>(KEPT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90" dirty="0">
                <a:latin typeface="Tahoma"/>
                <a:cs typeface="Tahoma"/>
              </a:rPr>
              <a:t>ALL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04" dirty="0">
                <a:latin typeface="Tahoma"/>
                <a:cs typeface="Tahoma"/>
              </a:rPr>
              <a:t>RECORDS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30" dirty="0">
                <a:latin typeface="Tahoma"/>
                <a:cs typeface="Tahoma"/>
              </a:rPr>
              <a:t>INSTEAD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40" dirty="0">
                <a:latin typeface="Tahoma"/>
                <a:cs typeface="Tahoma"/>
              </a:rPr>
              <a:t>OF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210" dirty="0">
                <a:latin typeface="Tahoma"/>
                <a:cs typeface="Tahoma"/>
              </a:rPr>
              <a:t>DROPPING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-85" dirty="0">
                <a:latin typeface="Tahoma"/>
                <a:cs typeface="Tahoma"/>
              </a:rPr>
              <a:t>~135K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90" dirty="0">
                <a:latin typeface="Tahoma"/>
                <a:cs typeface="Tahoma"/>
              </a:rPr>
              <a:t>ROWS).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Font typeface="Tahoma"/>
              <a:buAutoNum type="arabicPlain"/>
            </a:pPr>
            <a:endParaRPr sz="1950">
              <a:latin typeface="Tahoma"/>
              <a:cs typeface="Tahoma"/>
            </a:endParaRPr>
          </a:p>
          <a:p>
            <a:pPr marL="861694" indent="-314960" algn="ctr">
              <a:lnSpc>
                <a:spcPct val="100000"/>
              </a:lnSpc>
              <a:buFont typeface="Tahoma"/>
              <a:buAutoNum type="arabicPlain"/>
              <a:tabLst>
                <a:tab pos="861694" algn="l"/>
              </a:tabLst>
            </a:pPr>
            <a:r>
              <a:rPr sz="1950" spc="235" dirty="0">
                <a:latin typeface="Tahoma"/>
                <a:cs typeface="Tahoma"/>
              </a:rPr>
              <a:t>REMOVED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50" dirty="0">
                <a:latin typeface="Tahoma"/>
                <a:cs typeface="Tahoma"/>
              </a:rPr>
              <a:t>DUPLICATES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265" dirty="0">
                <a:latin typeface="Tahoma"/>
                <a:cs typeface="Tahoma"/>
              </a:rPr>
              <a:t>AND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FIXED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14" dirty="0">
                <a:latin typeface="Tahoma"/>
                <a:cs typeface="Tahoma"/>
              </a:rPr>
              <a:t>INCONSISTENT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40" dirty="0">
                <a:latin typeface="Tahoma"/>
                <a:cs typeface="Tahoma"/>
              </a:rPr>
              <a:t>DATA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TYPES.</a:t>
            </a:r>
            <a:endParaRPr sz="1950">
              <a:latin typeface="Tahoma"/>
              <a:cs typeface="Tahoma"/>
            </a:endParaRPr>
          </a:p>
          <a:p>
            <a:pPr marL="3617595" marR="4173220" algn="ctr">
              <a:lnSpc>
                <a:spcPct val="117200"/>
              </a:lnSpc>
              <a:spcBef>
                <a:spcPts val="1520"/>
              </a:spcBef>
            </a:pPr>
            <a:r>
              <a:rPr sz="1600" b="1" spc="-45" dirty="0">
                <a:latin typeface="Tahoma"/>
                <a:cs typeface="Tahoma"/>
              </a:rPr>
              <a:t>2-</a:t>
            </a:r>
            <a:r>
              <a:rPr sz="1600" b="1" spc="-40" dirty="0">
                <a:latin typeface="Tahoma"/>
                <a:cs typeface="Tahoma"/>
              </a:rPr>
              <a:t> </a:t>
            </a:r>
            <a:r>
              <a:rPr sz="1600" b="1" spc="75" dirty="0">
                <a:latin typeface="Tahoma"/>
                <a:cs typeface="Tahoma"/>
              </a:rPr>
              <a:t>CLV</a:t>
            </a:r>
            <a:r>
              <a:rPr sz="1600" b="1" spc="-35" dirty="0">
                <a:latin typeface="Tahoma"/>
                <a:cs typeface="Tahoma"/>
              </a:rPr>
              <a:t> </a:t>
            </a:r>
            <a:r>
              <a:rPr sz="1600" b="1" spc="40" dirty="0">
                <a:latin typeface="Tahoma"/>
                <a:cs typeface="Tahoma"/>
              </a:rPr>
              <a:t>CALCULATION </a:t>
            </a:r>
            <a:r>
              <a:rPr sz="1600" b="1" spc="-10" dirty="0">
                <a:latin typeface="Tahoma"/>
                <a:cs typeface="Tahoma"/>
              </a:rPr>
              <a:t>USED</a:t>
            </a:r>
            <a:r>
              <a:rPr sz="1600" spc="-10" dirty="0"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  <a:p>
            <a:pPr marR="555625" algn="ctr">
              <a:lnSpc>
                <a:spcPct val="100000"/>
              </a:lnSpc>
              <a:spcBef>
                <a:spcPts val="330"/>
              </a:spcBef>
            </a:pPr>
            <a:r>
              <a:rPr sz="1600" spc="-140" dirty="0">
                <a:latin typeface="Tahoma"/>
                <a:cs typeface="Tahoma"/>
              </a:rPr>
              <a:t>1-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140" dirty="0">
                <a:latin typeface="Tahoma"/>
                <a:cs typeface="Tahoma"/>
              </a:rPr>
              <a:t>CLV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spc="-250" dirty="0">
                <a:latin typeface="Tahoma"/>
                <a:cs typeface="Tahoma"/>
              </a:rPr>
              <a:t>=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190" dirty="0">
                <a:latin typeface="Tahoma"/>
                <a:cs typeface="Tahoma"/>
              </a:rPr>
              <a:t>FREQUENCYPERMONTH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spc="-250" dirty="0">
                <a:latin typeface="Tahoma"/>
                <a:cs typeface="Tahoma"/>
              </a:rPr>
              <a:t>×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175" dirty="0">
                <a:latin typeface="Tahoma"/>
                <a:cs typeface="Tahoma"/>
              </a:rPr>
              <a:t>AVERAGEORDERVALUE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spc="-250" dirty="0">
                <a:latin typeface="Tahoma"/>
                <a:cs typeface="Tahoma"/>
              </a:rPr>
              <a:t>×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3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spc="85" dirty="0">
                <a:latin typeface="Tahoma"/>
                <a:cs typeface="Tahoma"/>
              </a:rPr>
              <a:t>(LIFESPAN)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600">
              <a:latin typeface="Tahoma"/>
              <a:cs typeface="Tahoma"/>
            </a:endParaRPr>
          </a:p>
          <a:p>
            <a:pPr marR="555625" algn="ctr">
              <a:lnSpc>
                <a:spcPct val="100000"/>
              </a:lnSpc>
            </a:pPr>
            <a:r>
              <a:rPr sz="1600" b="1" spc="50" dirty="0">
                <a:latin typeface="Tahoma"/>
                <a:cs typeface="Tahoma"/>
              </a:rPr>
              <a:t>APPLIED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70" dirty="0">
                <a:latin typeface="Tahoma"/>
                <a:cs typeface="Tahoma"/>
              </a:rPr>
              <a:t>RECENCY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ADJUSTMENT</a:t>
            </a:r>
            <a:r>
              <a:rPr sz="1600" spc="-10" dirty="0"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  <a:p>
            <a:pPr marR="555625" algn="ctr">
              <a:lnSpc>
                <a:spcPct val="100000"/>
              </a:lnSpc>
              <a:spcBef>
                <a:spcPts val="330"/>
              </a:spcBef>
            </a:pPr>
            <a:r>
              <a:rPr sz="1600" spc="140" dirty="0">
                <a:latin typeface="Tahoma"/>
                <a:cs typeface="Tahoma"/>
              </a:rPr>
              <a:t>CLV</a:t>
            </a:r>
            <a:r>
              <a:rPr sz="1600" spc="-70" dirty="0">
                <a:latin typeface="Tahoma"/>
                <a:cs typeface="Tahoma"/>
              </a:rPr>
              <a:t> </a:t>
            </a:r>
            <a:r>
              <a:rPr sz="1600" spc="-250" dirty="0">
                <a:latin typeface="Tahoma"/>
                <a:cs typeface="Tahoma"/>
              </a:rPr>
              <a:t>=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140" dirty="0">
                <a:latin typeface="Tahoma"/>
                <a:cs typeface="Tahoma"/>
              </a:rPr>
              <a:t>CLV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250" dirty="0">
                <a:latin typeface="Tahoma"/>
                <a:cs typeface="Tahoma"/>
              </a:rPr>
              <a:t>×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114" dirty="0">
                <a:latin typeface="Tahoma"/>
                <a:cs typeface="Tahoma"/>
              </a:rPr>
              <a:t>1/(RECENCYMONTH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250" dirty="0">
                <a:latin typeface="Tahoma"/>
                <a:cs typeface="Tahoma"/>
              </a:rPr>
              <a:t>+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1)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600">
              <a:latin typeface="Tahoma"/>
              <a:cs typeface="Tahoma"/>
            </a:endParaRPr>
          </a:p>
          <a:p>
            <a:pPr marR="555625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ahoma"/>
                <a:cs typeface="Tahoma"/>
              </a:rPr>
              <a:t>“</a:t>
            </a:r>
            <a:r>
              <a:rPr sz="1600" b="1" dirty="0">
                <a:latin typeface="Tahoma"/>
                <a:cs typeface="Tahoma"/>
              </a:rPr>
              <a:t>GIVES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HIGHER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80" dirty="0">
                <a:latin typeface="Tahoma"/>
                <a:cs typeface="Tahoma"/>
              </a:rPr>
              <a:t>VALUE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60" dirty="0">
                <a:latin typeface="Tahoma"/>
                <a:cs typeface="Tahoma"/>
              </a:rPr>
              <a:t>TO</a:t>
            </a:r>
            <a:r>
              <a:rPr sz="1600" b="1" spc="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ACTIVE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60" dirty="0">
                <a:latin typeface="Tahoma"/>
                <a:cs typeface="Tahoma"/>
              </a:rPr>
              <a:t>CUSTOMERS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105" dirty="0">
                <a:latin typeface="Tahoma"/>
                <a:cs typeface="Tahoma"/>
              </a:rPr>
              <a:t>AND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85" dirty="0">
                <a:latin typeface="Tahoma"/>
                <a:cs typeface="Tahoma"/>
              </a:rPr>
              <a:t>LOWER</a:t>
            </a:r>
            <a:r>
              <a:rPr sz="1600" b="1" spc="20" dirty="0">
                <a:latin typeface="Tahoma"/>
                <a:cs typeface="Tahoma"/>
              </a:rPr>
              <a:t> </a:t>
            </a:r>
            <a:r>
              <a:rPr sz="1600" b="1" spc="80" dirty="0">
                <a:latin typeface="Tahoma"/>
                <a:cs typeface="Tahoma"/>
              </a:rPr>
              <a:t>VALUE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60" dirty="0">
                <a:latin typeface="Tahoma"/>
                <a:cs typeface="Tahoma"/>
              </a:rPr>
              <a:t>TO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INACTIVE</a:t>
            </a:r>
            <a:r>
              <a:rPr sz="1600" b="1" spc="2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ONES”</a:t>
            </a:r>
            <a:r>
              <a:rPr sz="1600" spc="-10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53145" cy="10287000"/>
            <a:chOff x="0" y="0"/>
            <a:chExt cx="8653145" cy="10287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942715" cy="10287000"/>
            </a:xfrm>
            <a:custGeom>
              <a:avLst/>
              <a:gdLst/>
              <a:ahLst/>
              <a:cxnLst/>
              <a:rect l="l" t="t" r="r" b="b"/>
              <a:pathLst>
                <a:path w="3942715" h="10287000">
                  <a:moveTo>
                    <a:pt x="3456580" y="10286999"/>
                  </a:moveTo>
                  <a:lnTo>
                    <a:pt x="164071" y="10286999"/>
                  </a:lnTo>
                  <a:lnTo>
                    <a:pt x="116058" y="10284622"/>
                  </a:lnTo>
                  <a:lnTo>
                    <a:pt x="68858" y="10277579"/>
                  </a:lnTo>
                  <a:lnTo>
                    <a:pt x="22791" y="10266001"/>
                  </a:lnTo>
                  <a:lnTo>
                    <a:pt x="0" y="10257839"/>
                  </a:lnTo>
                  <a:lnTo>
                    <a:pt x="0" y="29160"/>
                  </a:lnTo>
                  <a:lnTo>
                    <a:pt x="68858" y="9420"/>
                  </a:lnTo>
                  <a:lnTo>
                    <a:pt x="116058" y="2377"/>
                  </a:lnTo>
                  <a:lnTo>
                    <a:pt x="164071" y="0"/>
                  </a:lnTo>
                  <a:lnTo>
                    <a:pt x="3456580" y="0"/>
                  </a:lnTo>
                  <a:lnTo>
                    <a:pt x="3504593" y="2377"/>
                  </a:lnTo>
                  <a:lnTo>
                    <a:pt x="3551793" y="9420"/>
                  </a:lnTo>
                  <a:lnTo>
                    <a:pt x="3597861" y="20997"/>
                  </a:lnTo>
                  <a:lnTo>
                    <a:pt x="3642478" y="36977"/>
                  </a:lnTo>
                  <a:lnTo>
                    <a:pt x="3685327" y="57227"/>
                  </a:lnTo>
                  <a:lnTo>
                    <a:pt x="3726088" y="81615"/>
                  </a:lnTo>
                  <a:lnTo>
                    <a:pt x="3764444" y="110010"/>
                  </a:lnTo>
                  <a:lnTo>
                    <a:pt x="3800075" y="142280"/>
                  </a:lnTo>
                  <a:lnTo>
                    <a:pt x="3832344" y="177911"/>
                  </a:lnTo>
                  <a:lnTo>
                    <a:pt x="3860739" y="216266"/>
                  </a:lnTo>
                  <a:lnTo>
                    <a:pt x="3885128" y="257028"/>
                  </a:lnTo>
                  <a:lnTo>
                    <a:pt x="3905378" y="299876"/>
                  </a:lnTo>
                  <a:lnTo>
                    <a:pt x="3921357" y="344494"/>
                  </a:lnTo>
                  <a:lnTo>
                    <a:pt x="3932935" y="390562"/>
                  </a:lnTo>
                  <a:lnTo>
                    <a:pt x="3939978" y="437762"/>
                  </a:lnTo>
                  <a:lnTo>
                    <a:pt x="3942355" y="485775"/>
                  </a:lnTo>
                  <a:lnTo>
                    <a:pt x="3942355" y="9801224"/>
                  </a:lnTo>
                  <a:lnTo>
                    <a:pt x="3939978" y="9849237"/>
                  </a:lnTo>
                  <a:lnTo>
                    <a:pt x="3932935" y="9896437"/>
                  </a:lnTo>
                  <a:lnTo>
                    <a:pt x="3921357" y="9942505"/>
                  </a:lnTo>
                  <a:lnTo>
                    <a:pt x="3905378" y="9987122"/>
                  </a:lnTo>
                  <a:lnTo>
                    <a:pt x="3885128" y="10029971"/>
                  </a:lnTo>
                  <a:lnTo>
                    <a:pt x="3860739" y="10070732"/>
                  </a:lnTo>
                  <a:lnTo>
                    <a:pt x="3832344" y="10109088"/>
                  </a:lnTo>
                  <a:lnTo>
                    <a:pt x="3800075" y="10144719"/>
                  </a:lnTo>
                  <a:lnTo>
                    <a:pt x="3764444" y="10176989"/>
                  </a:lnTo>
                  <a:lnTo>
                    <a:pt x="3726088" y="10205384"/>
                  </a:lnTo>
                  <a:lnTo>
                    <a:pt x="3685327" y="10229772"/>
                  </a:lnTo>
                  <a:lnTo>
                    <a:pt x="3642478" y="10250022"/>
                  </a:lnTo>
                  <a:lnTo>
                    <a:pt x="3597861" y="10266001"/>
                  </a:lnTo>
                  <a:lnTo>
                    <a:pt x="3551793" y="10277579"/>
                  </a:lnTo>
                  <a:lnTo>
                    <a:pt x="3504593" y="10284622"/>
                  </a:lnTo>
                  <a:lnTo>
                    <a:pt x="3456580" y="1028699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523" y="2161932"/>
              <a:ext cx="6968279" cy="68124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29803" y="1927533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5">
                  <a:moveTo>
                    <a:pt x="911499" y="1822998"/>
                  </a:moveTo>
                  <a:lnTo>
                    <a:pt x="863090" y="1821735"/>
                  </a:lnTo>
                  <a:lnTo>
                    <a:pt x="815339" y="1817987"/>
                  </a:lnTo>
                  <a:lnTo>
                    <a:pt x="768310" y="1811816"/>
                  </a:lnTo>
                  <a:lnTo>
                    <a:pt x="722064" y="1803287"/>
                  </a:lnTo>
                  <a:lnTo>
                    <a:pt x="676666" y="1792462"/>
                  </a:lnTo>
                  <a:lnTo>
                    <a:pt x="632177" y="1779404"/>
                  </a:lnTo>
                  <a:lnTo>
                    <a:pt x="588662" y="1764176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4" y="1706101"/>
                  </a:lnTo>
                  <a:lnTo>
                    <a:pt x="425591" y="1682823"/>
                  </a:lnTo>
                  <a:lnTo>
                    <a:pt x="387886" y="1657690"/>
                  </a:lnTo>
                  <a:lnTo>
                    <a:pt x="351532" y="1630765"/>
                  </a:lnTo>
                  <a:lnTo>
                    <a:pt x="316592" y="1602111"/>
                  </a:lnTo>
                  <a:lnTo>
                    <a:pt x="283129" y="1571791"/>
                  </a:lnTo>
                  <a:lnTo>
                    <a:pt x="251206" y="1539869"/>
                  </a:lnTo>
                  <a:lnTo>
                    <a:pt x="220886" y="1506406"/>
                  </a:lnTo>
                  <a:lnTo>
                    <a:pt x="192232" y="1471466"/>
                  </a:lnTo>
                  <a:lnTo>
                    <a:pt x="165307" y="1435111"/>
                  </a:lnTo>
                  <a:lnTo>
                    <a:pt x="140174" y="1397406"/>
                  </a:lnTo>
                  <a:lnTo>
                    <a:pt x="116896" y="1358413"/>
                  </a:lnTo>
                  <a:lnTo>
                    <a:pt x="95536" y="1318195"/>
                  </a:lnTo>
                  <a:lnTo>
                    <a:pt x="76157" y="1276815"/>
                  </a:lnTo>
                  <a:lnTo>
                    <a:pt x="58822" y="1234336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4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8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40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8"/>
                  </a:lnTo>
                  <a:lnTo>
                    <a:pt x="58822" y="588662"/>
                  </a:lnTo>
                  <a:lnTo>
                    <a:pt x="76157" y="546183"/>
                  </a:lnTo>
                  <a:lnTo>
                    <a:pt x="95536" y="504803"/>
                  </a:lnTo>
                  <a:lnTo>
                    <a:pt x="116896" y="464585"/>
                  </a:lnTo>
                  <a:lnTo>
                    <a:pt x="140174" y="425592"/>
                  </a:lnTo>
                  <a:lnTo>
                    <a:pt x="165307" y="387887"/>
                  </a:lnTo>
                  <a:lnTo>
                    <a:pt x="192232" y="351532"/>
                  </a:lnTo>
                  <a:lnTo>
                    <a:pt x="220886" y="316592"/>
                  </a:lnTo>
                  <a:lnTo>
                    <a:pt x="251206" y="283129"/>
                  </a:lnTo>
                  <a:lnTo>
                    <a:pt x="283129" y="251206"/>
                  </a:lnTo>
                  <a:lnTo>
                    <a:pt x="316592" y="220887"/>
                  </a:lnTo>
                  <a:lnTo>
                    <a:pt x="351532" y="192233"/>
                  </a:lnTo>
                  <a:lnTo>
                    <a:pt x="387886" y="165308"/>
                  </a:lnTo>
                  <a:lnTo>
                    <a:pt x="425591" y="140175"/>
                  </a:lnTo>
                  <a:lnTo>
                    <a:pt x="464584" y="116897"/>
                  </a:lnTo>
                  <a:lnTo>
                    <a:pt x="504803" y="95537"/>
                  </a:lnTo>
                  <a:lnTo>
                    <a:pt x="546183" y="76158"/>
                  </a:lnTo>
                  <a:lnTo>
                    <a:pt x="588662" y="58822"/>
                  </a:lnTo>
                  <a:lnTo>
                    <a:pt x="632177" y="43594"/>
                  </a:lnTo>
                  <a:lnTo>
                    <a:pt x="676666" y="30536"/>
                  </a:lnTo>
                  <a:lnTo>
                    <a:pt x="722064" y="19711"/>
                  </a:lnTo>
                  <a:lnTo>
                    <a:pt x="768310" y="11182"/>
                  </a:lnTo>
                  <a:lnTo>
                    <a:pt x="815339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7" y="1263"/>
                  </a:lnTo>
                  <a:lnTo>
                    <a:pt x="1007658" y="5011"/>
                  </a:lnTo>
                  <a:lnTo>
                    <a:pt x="1054688" y="11182"/>
                  </a:lnTo>
                  <a:lnTo>
                    <a:pt x="1100933" y="19711"/>
                  </a:lnTo>
                  <a:lnTo>
                    <a:pt x="1146332" y="30536"/>
                  </a:lnTo>
                  <a:lnTo>
                    <a:pt x="1190820" y="43594"/>
                  </a:lnTo>
                  <a:lnTo>
                    <a:pt x="1234336" y="58822"/>
                  </a:lnTo>
                  <a:lnTo>
                    <a:pt x="1276815" y="76158"/>
                  </a:lnTo>
                  <a:lnTo>
                    <a:pt x="1318195" y="95537"/>
                  </a:lnTo>
                  <a:lnTo>
                    <a:pt x="1358413" y="116897"/>
                  </a:lnTo>
                  <a:lnTo>
                    <a:pt x="1397406" y="140175"/>
                  </a:lnTo>
                  <a:lnTo>
                    <a:pt x="1435111" y="165308"/>
                  </a:lnTo>
                  <a:lnTo>
                    <a:pt x="1471465" y="192233"/>
                  </a:lnTo>
                  <a:lnTo>
                    <a:pt x="1506406" y="220887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2" y="316592"/>
                  </a:lnTo>
                  <a:lnTo>
                    <a:pt x="1630766" y="351532"/>
                  </a:lnTo>
                  <a:lnTo>
                    <a:pt x="1657691" y="387887"/>
                  </a:lnTo>
                  <a:lnTo>
                    <a:pt x="1682824" y="425592"/>
                  </a:lnTo>
                  <a:lnTo>
                    <a:pt x="1706102" y="464585"/>
                  </a:lnTo>
                  <a:lnTo>
                    <a:pt x="1727462" y="504803"/>
                  </a:lnTo>
                  <a:lnTo>
                    <a:pt x="1746841" y="546183"/>
                  </a:lnTo>
                  <a:lnTo>
                    <a:pt x="1764176" y="588662"/>
                  </a:lnTo>
                  <a:lnTo>
                    <a:pt x="1779404" y="632178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7" y="768310"/>
                  </a:lnTo>
                  <a:lnTo>
                    <a:pt x="1817987" y="815340"/>
                  </a:lnTo>
                  <a:lnTo>
                    <a:pt x="1821735" y="863090"/>
                  </a:lnTo>
                  <a:lnTo>
                    <a:pt x="1822999" y="911499"/>
                  </a:lnTo>
                  <a:lnTo>
                    <a:pt x="1821735" y="959908"/>
                  </a:lnTo>
                  <a:lnTo>
                    <a:pt x="1817987" y="1007658"/>
                  </a:lnTo>
                  <a:lnTo>
                    <a:pt x="1811817" y="1054688"/>
                  </a:lnTo>
                  <a:lnTo>
                    <a:pt x="1803287" y="1100934"/>
                  </a:lnTo>
                  <a:lnTo>
                    <a:pt x="1792462" y="1146332"/>
                  </a:lnTo>
                  <a:lnTo>
                    <a:pt x="1779404" y="1190820"/>
                  </a:lnTo>
                  <a:lnTo>
                    <a:pt x="1764176" y="1234336"/>
                  </a:lnTo>
                  <a:lnTo>
                    <a:pt x="1746841" y="1276815"/>
                  </a:lnTo>
                  <a:lnTo>
                    <a:pt x="1727462" y="1318195"/>
                  </a:lnTo>
                  <a:lnTo>
                    <a:pt x="1706102" y="1358413"/>
                  </a:lnTo>
                  <a:lnTo>
                    <a:pt x="1682824" y="1397406"/>
                  </a:lnTo>
                  <a:lnTo>
                    <a:pt x="1657691" y="1435111"/>
                  </a:lnTo>
                  <a:lnTo>
                    <a:pt x="1630766" y="1471466"/>
                  </a:lnTo>
                  <a:lnTo>
                    <a:pt x="1602112" y="1506406"/>
                  </a:lnTo>
                  <a:lnTo>
                    <a:pt x="1571792" y="1539869"/>
                  </a:lnTo>
                  <a:lnTo>
                    <a:pt x="1539869" y="1571791"/>
                  </a:lnTo>
                  <a:lnTo>
                    <a:pt x="1506406" y="1602111"/>
                  </a:lnTo>
                  <a:lnTo>
                    <a:pt x="1471465" y="1630765"/>
                  </a:lnTo>
                  <a:lnTo>
                    <a:pt x="1435111" y="1657690"/>
                  </a:lnTo>
                  <a:lnTo>
                    <a:pt x="1397406" y="1682823"/>
                  </a:lnTo>
                  <a:lnTo>
                    <a:pt x="1358413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6" y="1764176"/>
                  </a:lnTo>
                  <a:lnTo>
                    <a:pt x="1190820" y="1779404"/>
                  </a:lnTo>
                  <a:lnTo>
                    <a:pt x="1146332" y="1792462"/>
                  </a:lnTo>
                  <a:lnTo>
                    <a:pt x="1100933" y="1803287"/>
                  </a:lnTo>
                  <a:lnTo>
                    <a:pt x="1054688" y="1811816"/>
                  </a:lnTo>
                  <a:lnTo>
                    <a:pt x="1007658" y="1817987"/>
                  </a:lnTo>
                  <a:lnTo>
                    <a:pt x="959907" y="1821735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0238" y="2497967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4" y="682130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6" y="655327"/>
                  </a:lnTo>
                  <a:lnTo>
                    <a:pt x="168922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7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7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2" y="46565"/>
                  </a:lnTo>
                  <a:lnTo>
                    <a:pt x="208306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4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2" y="26802"/>
                  </a:lnTo>
                  <a:lnTo>
                    <a:pt x="513206" y="46565"/>
                  </a:lnTo>
                  <a:lnTo>
                    <a:pt x="549479" y="71065"/>
                  </a:lnTo>
                  <a:lnTo>
                    <a:pt x="582234" y="99895"/>
                  </a:lnTo>
                  <a:lnTo>
                    <a:pt x="611064" y="132650"/>
                  </a:lnTo>
                  <a:lnTo>
                    <a:pt x="635564" y="168922"/>
                  </a:lnTo>
                  <a:lnTo>
                    <a:pt x="655327" y="208307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7"/>
                  </a:lnTo>
                  <a:lnTo>
                    <a:pt x="611064" y="549479"/>
                  </a:lnTo>
                  <a:lnTo>
                    <a:pt x="582234" y="582234"/>
                  </a:lnTo>
                  <a:lnTo>
                    <a:pt x="549479" y="611064"/>
                  </a:lnTo>
                  <a:lnTo>
                    <a:pt x="513206" y="635564"/>
                  </a:lnTo>
                  <a:lnTo>
                    <a:pt x="473822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4" y="682130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997858" y="9070671"/>
            <a:ext cx="1160780" cy="1160780"/>
            <a:chOff x="16997858" y="9070671"/>
            <a:chExt cx="1160780" cy="1160780"/>
          </a:xfrm>
        </p:grpSpPr>
        <p:sp>
          <p:nvSpPr>
            <p:cNvPr id="12" name="object 12"/>
            <p:cNvSpPr/>
            <p:nvPr/>
          </p:nvSpPr>
          <p:spPr>
            <a:xfrm>
              <a:off x="16997858" y="9070671"/>
              <a:ext cx="1160780" cy="1160780"/>
            </a:xfrm>
            <a:custGeom>
              <a:avLst/>
              <a:gdLst/>
              <a:ahLst/>
              <a:cxnLst/>
              <a:rect l="l" t="t" r="r" b="b"/>
              <a:pathLst>
                <a:path w="1160780" h="1160779">
                  <a:moveTo>
                    <a:pt x="580281" y="1160561"/>
                  </a:moveTo>
                  <a:lnTo>
                    <a:pt x="532688" y="1158638"/>
                  </a:lnTo>
                  <a:lnTo>
                    <a:pt x="486155" y="1152966"/>
                  </a:lnTo>
                  <a:lnTo>
                    <a:pt x="440832" y="1143697"/>
                  </a:lnTo>
                  <a:lnTo>
                    <a:pt x="396866" y="1130978"/>
                  </a:lnTo>
                  <a:lnTo>
                    <a:pt x="354409" y="1114960"/>
                  </a:lnTo>
                  <a:lnTo>
                    <a:pt x="313608" y="1095791"/>
                  </a:lnTo>
                  <a:lnTo>
                    <a:pt x="274613" y="1073622"/>
                  </a:lnTo>
                  <a:lnTo>
                    <a:pt x="237574" y="1048601"/>
                  </a:lnTo>
                  <a:lnTo>
                    <a:pt x="202640" y="1020877"/>
                  </a:lnTo>
                  <a:lnTo>
                    <a:pt x="169960" y="990601"/>
                  </a:lnTo>
                  <a:lnTo>
                    <a:pt x="139683" y="957921"/>
                  </a:lnTo>
                  <a:lnTo>
                    <a:pt x="111960" y="922987"/>
                  </a:lnTo>
                  <a:lnTo>
                    <a:pt x="86939" y="885948"/>
                  </a:lnTo>
                  <a:lnTo>
                    <a:pt x="64769" y="846953"/>
                  </a:lnTo>
                  <a:lnTo>
                    <a:pt x="45601" y="806152"/>
                  </a:lnTo>
                  <a:lnTo>
                    <a:pt x="29583" y="763694"/>
                  </a:lnTo>
                  <a:lnTo>
                    <a:pt x="16864" y="719729"/>
                  </a:lnTo>
                  <a:lnTo>
                    <a:pt x="7594" y="674405"/>
                  </a:lnTo>
                  <a:lnTo>
                    <a:pt x="1923" y="627873"/>
                  </a:lnTo>
                  <a:lnTo>
                    <a:pt x="0" y="580280"/>
                  </a:lnTo>
                  <a:lnTo>
                    <a:pt x="1923" y="532688"/>
                  </a:lnTo>
                  <a:lnTo>
                    <a:pt x="7594" y="486155"/>
                  </a:lnTo>
                  <a:lnTo>
                    <a:pt x="16864" y="440832"/>
                  </a:lnTo>
                  <a:lnTo>
                    <a:pt x="29583" y="396866"/>
                  </a:lnTo>
                  <a:lnTo>
                    <a:pt x="45601" y="354409"/>
                  </a:lnTo>
                  <a:lnTo>
                    <a:pt x="64769" y="313608"/>
                  </a:lnTo>
                  <a:lnTo>
                    <a:pt x="86939" y="274613"/>
                  </a:lnTo>
                  <a:lnTo>
                    <a:pt x="111960" y="237574"/>
                  </a:lnTo>
                  <a:lnTo>
                    <a:pt x="139683" y="202640"/>
                  </a:lnTo>
                  <a:lnTo>
                    <a:pt x="169960" y="169960"/>
                  </a:lnTo>
                  <a:lnTo>
                    <a:pt x="202640" y="139683"/>
                  </a:lnTo>
                  <a:lnTo>
                    <a:pt x="237574" y="111960"/>
                  </a:lnTo>
                  <a:lnTo>
                    <a:pt x="274613" y="86939"/>
                  </a:lnTo>
                  <a:lnTo>
                    <a:pt x="313608" y="64769"/>
                  </a:lnTo>
                  <a:lnTo>
                    <a:pt x="354409" y="45601"/>
                  </a:lnTo>
                  <a:lnTo>
                    <a:pt x="396866" y="29583"/>
                  </a:lnTo>
                  <a:lnTo>
                    <a:pt x="440832" y="16864"/>
                  </a:lnTo>
                  <a:lnTo>
                    <a:pt x="486155" y="7594"/>
                  </a:lnTo>
                  <a:lnTo>
                    <a:pt x="532688" y="1923"/>
                  </a:lnTo>
                  <a:lnTo>
                    <a:pt x="580281" y="0"/>
                  </a:lnTo>
                  <a:lnTo>
                    <a:pt x="627873" y="1923"/>
                  </a:lnTo>
                  <a:lnTo>
                    <a:pt x="674405" y="7594"/>
                  </a:lnTo>
                  <a:lnTo>
                    <a:pt x="719729" y="16864"/>
                  </a:lnTo>
                  <a:lnTo>
                    <a:pt x="763694" y="29583"/>
                  </a:lnTo>
                  <a:lnTo>
                    <a:pt x="806152" y="45601"/>
                  </a:lnTo>
                  <a:lnTo>
                    <a:pt x="846953" y="64769"/>
                  </a:lnTo>
                  <a:lnTo>
                    <a:pt x="885948" y="86939"/>
                  </a:lnTo>
                  <a:lnTo>
                    <a:pt x="922987" y="111960"/>
                  </a:lnTo>
                  <a:lnTo>
                    <a:pt x="957921" y="139683"/>
                  </a:lnTo>
                  <a:lnTo>
                    <a:pt x="990601" y="169960"/>
                  </a:lnTo>
                  <a:lnTo>
                    <a:pt x="1020877" y="202640"/>
                  </a:lnTo>
                  <a:lnTo>
                    <a:pt x="1048601" y="237574"/>
                  </a:lnTo>
                  <a:lnTo>
                    <a:pt x="1073622" y="274613"/>
                  </a:lnTo>
                  <a:lnTo>
                    <a:pt x="1095791" y="313608"/>
                  </a:lnTo>
                  <a:lnTo>
                    <a:pt x="1114960" y="354409"/>
                  </a:lnTo>
                  <a:lnTo>
                    <a:pt x="1130978" y="396866"/>
                  </a:lnTo>
                  <a:lnTo>
                    <a:pt x="1143697" y="440832"/>
                  </a:lnTo>
                  <a:lnTo>
                    <a:pt x="1152966" y="486155"/>
                  </a:lnTo>
                  <a:lnTo>
                    <a:pt x="1158638" y="532688"/>
                  </a:lnTo>
                  <a:lnTo>
                    <a:pt x="1160561" y="580281"/>
                  </a:lnTo>
                  <a:lnTo>
                    <a:pt x="1158638" y="627873"/>
                  </a:lnTo>
                  <a:lnTo>
                    <a:pt x="1152966" y="674405"/>
                  </a:lnTo>
                  <a:lnTo>
                    <a:pt x="1143697" y="719729"/>
                  </a:lnTo>
                  <a:lnTo>
                    <a:pt x="1130978" y="763694"/>
                  </a:lnTo>
                  <a:lnTo>
                    <a:pt x="1114960" y="806152"/>
                  </a:lnTo>
                  <a:lnTo>
                    <a:pt x="1095791" y="846953"/>
                  </a:lnTo>
                  <a:lnTo>
                    <a:pt x="1073622" y="885948"/>
                  </a:lnTo>
                  <a:lnTo>
                    <a:pt x="1048601" y="922987"/>
                  </a:lnTo>
                  <a:lnTo>
                    <a:pt x="1020877" y="957921"/>
                  </a:lnTo>
                  <a:lnTo>
                    <a:pt x="990601" y="990601"/>
                  </a:lnTo>
                  <a:lnTo>
                    <a:pt x="957921" y="1020877"/>
                  </a:lnTo>
                  <a:lnTo>
                    <a:pt x="922987" y="1048601"/>
                  </a:lnTo>
                  <a:lnTo>
                    <a:pt x="885948" y="1073622"/>
                  </a:lnTo>
                  <a:lnTo>
                    <a:pt x="846953" y="1095791"/>
                  </a:lnTo>
                  <a:lnTo>
                    <a:pt x="806152" y="1114960"/>
                  </a:lnTo>
                  <a:lnTo>
                    <a:pt x="763694" y="1130978"/>
                  </a:lnTo>
                  <a:lnTo>
                    <a:pt x="719729" y="1143697"/>
                  </a:lnTo>
                  <a:lnTo>
                    <a:pt x="674405" y="1152966"/>
                  </a:lnTo>
                  <a:lnTo>
                    <a:pt x="627873" y="1158638"/>
                  </a:lnTo>
                  <a:lnTo>
                    <a:pt x="580281" y="116056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460049" y="9350849"/>
              <a:ext cx="332105" cy="600710"/>
            </a:xfrm>
            <a:custGeom>
              <a:avLst/>
              <a:gdLst/>
              <a:ahLst/>
              <a:cxnLst/>
              <a:rect l="l" t="t" r="r" b="b"/>
              <a:pathLst>
                <a:path w="332105" h="600709">
                  <a:moveTo>
                    <a:pt x="31754" y="600201"/>
                  </a:moveTo>
                  <a:lnTo>
                    <a:pt x="0" y="568446"/>
                  </a:lnTo>
                  <a:lnTo>
                    <a:pt x="268336" y="300103"/>
                  </a:lnTo>
                  <a:lnTo>
                    <a:pt x="0" y="31754"/>
                  </a:lnTo>
                  <a:lnTo>
                    <a:pt x="31754" y="0"/>
                  </a:lnTo>
                  <a:lnTo>
                    <a:pt x="331858" y="300103"/>
                  </a:lnTo>
                  <a:lnTo>
                    <a:pt x="31754" y="60020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9177" y="1862272"/>
            <a:ext cx="14025880" cy="7924800"/>
          </a:xfrm>
          <a:prstGeom prst="rect">
            <a:avLst/>
          </a:prstGeom>
        </p:spPr>
        <p:txBody>
          <a:bodyPr vert="horz" wrap="square" lIns="0" tIns="271780" rIns="0" bIns="0" rtlCol="0">
            <a:spAutoFit/>
          </a:bodyPr>
          <a:lstStyle/>
          <a:p>
            <a:pPr marL="5208905" marR="2010410">
              <a:lnSpc>
                <a:spcPct val="74100"/>
              </a:lnSpc>
              <a:spcBef>
                <a:spcPts val="2140"/>
              </a:spcBef>
            </a:pPr>
            <a:r>
              <a:rPr sz="6600" b="1" dirty="0">
                <a:solidFill>
                  <a:srgbClr val="0F1B40"/>
                </a:solidFill>
                <a:latin typeface="Tahoma"/>
                <a:cs typeface="Tahoma"/>
              </a:rPr>
              <a:t>Data</a:t>
            </a:r>
            <a:r>
              <a:rPr sz="6600" b="1" spc="9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25" dirty="0">
                <a:solidFill>
                  <a:srgbClr val="0F1B40"/>
                </a:solidFill>
                <a:latin typeface="Tahoma"/>
                <a:cs typeface="Tahoma"/>
              </a:rPr>
              <a:t>Cleaning</a:t>
            </a:r>
            <a:r>
              <a:rPr sz="6600" b="1" spc="9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465" dirty="0">
                <a:solidFill>
                  <a:srgbClr val="0F1B40"/>
                </a:solidFill>
                <a:latin typeface="Tahoma"/>
                <a:cs typeface="Tahoma"/>
              </a:rPr>
              <a:t>&amp; </a:t>
            </a:r>
            <a:r>
              <a:rPr sz="6600" b="1" spc="-75" dirty="0">
                <a:solidFill>
                  <a:srgbClr val="0F1B40"/>
                </a:solidFill>
                <a:latin typeface="Tahoma"/>
                <a:cs typeface="Tahoma"/>
              </a:rPr>
              <a:t>Preprocessing</a:t>
            </a:r>
            <a:endParaRPr sz="6600">
              <a:latin typeface="Tahoma"/>
              <a:cs typeface="Tahoma"/>
            </a:endParaRPr>
          </a:p>
          <a:p>
            <a:pPr marL="4723130">
              <a:lnSpc>
                <a:spcPct val="100000"/>
              </a:lnSpc>
              <a:spcBef>
                <a:spcPts val="2050"/>
              </a:spcBef>
            </a:pPr>
            <a:r>
              <a:rPr sz="2550" b="1" i="1" spc="-440" dirty="0">
                <a:solidFill>
                  <a:srgbClr val="8FA3C1"/>
                </a:solidFill>
                <a:latin typeface="Verdana"/>
                <a:cs typeface="Verdana"/>
              </a:rPr>
              <a:t>IN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15" dirty="0">
                <a:solidFill>
                  <a:srgbClr val="8FA3C1"/>
                </a:solidFill>
                <a:latin typeface="Verdana"/>
                <a:cs typeface="Verdana"/>
              </a:rPr>
              <a:t>PREPROCESSING,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125" dirty="0">
                <a:solidFill>
                  <a:srgbClr val="8FA3C1"/>
                </a:solidFill>
                <a:latin typeface="Verdana"/>
                <a:cs typeface="Verdana"/>
              </a:rPr>
              <a:t>WE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90" dirty="0">
                <a:solidFill>
                  <a:srgbClr val="8FA3C1"/>
                </a:solidFill>
                <a:latin typeface="Verdana"/>
                <a:cs typeface="Verdana"/>
              </a:rPr>
              <a:t>APPLIED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70" dirty="0">
                <a:solidFill>
                  <a:srgbClr val="8FA3C1"/>
                </a:solidFill>
                <a:latin typeface="Verdana"/>
                <a:cs typeface="Verdana"/>
              </a:rPr>
              <a:t>SEVERAL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0" dirty="0">
                <a:solidFill>
                  <a:srgbClr val="8FA3C1"/>
                </a:solidFill>
                <a:latin typeface="Verdana"/>
                <a:cs typeface="Verdana"/>
              </a:rPr>
              <a:t>ESSENTIAL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5" dirty="0">
                <a:solidFill>
                  <a:srgbClr val="8FA3C1"/>
                </a:solidFill>
                <a:latin typeface="Verdana"/>
                <a:cs typeface="Verdana"/>
              </a:rPr>
              <a:t>STEPS:</a:t>
            </a:r>
            <a:endParaRPr sz="2550">
              <a:latin typeface="Verdana"/>
              <a:cs typeface="Verdana"/>
            </a:endParaRPr>
          </a:p>
          <a:p>
            <a:pPr marL="3858260" algn="ctr">
              <a:lnSpc>
                <a:spcPct val="100000"/>
              </a:lnSpc>
              <a:spcBef>
                <a:spcPts val="2550"/>
              </a:spcBef>
            </a:pPr>
            <a:r>
              <a:rPr sz="1850" b="1" spc="-55" dirty="0">
                <a:latin typeface="Tahoma"/>
                <a:cs typeface="Tahoma"/>
              </a:rPr>
              <a:t>3-</a:t>
            </a:r>
            <a:r>
              <a:rPr sz="1850" b="1" spc="-35" dirty="0">
                <a:latin typeface="Tahoma"/>
                <a:cs typeface="Tahoma"/>
              </a:rPr>
              <a:t> </a:t>
            </a:r>
            <a:r>
              <a:rPr sz="1850" b="1" spc="75" dirty="0">
                <a:latin typeface="Tahoma"/>
                <a:cs typeface="Tahoma"/>
              </a:rPr>
              <a:t>RFM</a:t>
            </a:r>
            <a:r>
              <a:rPr sz="1850" b="1" spc="-30" dirty="0">
                <a:latin typeface="Tahoma"/>
                <a:cs typeface="Tahoma"/>
              </a:rPr>
              <a:t> </a:t>
            </a:r>
            <a:r>
              <a:rPr sz="1850" b="1" spc="65" dirty="0">
                <a:latin typeface="Tahoma"/>
                <a:cs typeface="Tahoma"/>
              </a:rPr>
              <a:t>FEATURE</a:t>
            </a:r>
            <a:r>
              <a:rPr sz="1850" b="1" spc="-35" dirty="0">
                <a:latin typeface="Tahoma"/>
                <a:cs typeface="Tahoma"/>
              </a:rPr>
              <a:t> </a:t>
            </a:r>
            <a:r>
              <a:rPr sz="1850" b="1" spc="-10" dirty="0">
                <a:latin typeface="Tahoma"/>
                <a:cs typeface="Tahoma"/>
              </a:rPr>
              <a:t>ENGINEERING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50">
              <a:latin typeface="Tahoma"/>
              <a:cs typeface="Tahoma"/>
            </a:endParaRPr>
          </a:p>
          <a:p>
            <a:pPr marL="4093845" indent="-235585" algn="ctr">
              <a:lnSpc>
                <a:spcPct val="100000"/>
              </a:lnSpc>
              <a:buAutoNum type="arabicPlain"/>
              <a:tabLst>
                <a:tab pos="4093845" algn="l"/>
              </a:tabLst>
            </a:pPr>
            <a:r>
              <a:rPr sz="1850" spc="125" dirty="0">
                <a:latin typeface="Tahoma"/>
                <a:cs typeface="Tahoma"/>
              </a:rPr>
              <a:t>RECENCY: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45" dirty="0">
                <a:latin typeface="Tahoma"/>
                <a:cs typeface="Tahoma"/>
              </a:rPr>
              <a:t>DAYS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30" dirty="0">
                <a:latin typeface="Tahoma"/>
                <a:cs typeface="Tahoma"/>
              </a:rPr>
              <a:t>SINCE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210" dirty="0">
                <a:latin typeface="Tahoma"/>
                <a:cs typeface="Tahoma"/>
              </a:rPr>
              <a:t>EACH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55" dirty="0">
                <a:latin typeface="Tahoma"/>
                <a:cs typeface="Tahoma"/>
              </a:rPr>
              <a:t>CUSTOMER’S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10" dirty="0">
                <a:latin typeface="Tahoma"/>
                <a:cs typeface="Tahoma"/>
              </a:rPr>
              <a:t>LAST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60" dirty="0">
                <a:latin typeface="Tahoma"/>
                <a:cs typeface="Tahoma"/>
              </a:rPr>
              <a:t>PURCHASE.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lain"/>
            </a:pPr>
            <a:endParaRPr sz="1850">
              <a:latin typeface="Tahoma"/>
              <a:cs typeface="Tahoma"/>
            </a:endParaRPr>
          </a:p>
          <a:p>
            <a:pPr marL="4140835" indent="-282575" algn="ctr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4140835" algn="l"/>
              </a:tabLst>
            </a:pPr>
            <a:r>
              <a:rPr sz="1850" spc="145" dirty="0">
                <a:latin typeface="Tahoma"/>
                <a:cs typeface="Tahoma"/>
              </a:rPr>
              <a:t>FREQUENCY: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250" dirty="0">
                <a:latin typeface="Tahoma"/>
                <a:cs typeface="Tahoma"/>
              </a:rPr>
              <a:t>NUMBER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215" dirty="0">
                <a:latin typeface="Tahoma"/>
                <a:cs typeface="Tahoma"/>
              </a:rPr>
              <a:t>OF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130" dirty="0">
                <a:latin typeface="Tahoma"/>
                <a:cs typeface="Tahoma"/>
              </a:rPr>
              <a:t>TRANSACTIONS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215" dirty="0">
                <a:latin typeface="Tahoma"/>
                <a:cs typeface="Tahoma"/>
              </a:rPr>
              <a:t>PER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130" dirty="0">
                <a:latin typeface="Tahoma"/>
                <a:cs typeface="Tahoma"/>
              </a:rPr>
              <a:t>CUSTOMER.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lain"/>
            </a:pPr>
            <a:endParaRPr sz="1850">
              <a:latin typeface="Tahoma"/>
              <a:cs typeface="Tahoma"/>
            </a:endParaRPr>
          </a:p>
          <a:p>
            <a:pPr marL="4142104" indent="-283845" algn="ctr">
              <a:lnSpc>
                <a:spcPct val="100000"/>
              </a:lnSpc>
              <a:buAutoNum type="arabicPlain"/>
              <a:tabLst>
                <a:tab pos="4142104" algn="l"/>
              </a:tabLst>
            </a:pPr>
            <a:r>
              <a:rPr sz="1850" spc="120" dirty="0">
                <a:latin typeface="Tahoma"/>
                <a:cs typeface="Tahoma"/>
              </a:rPr>
              <a:t>MONETARY: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90" dirty="0">
                <a:latin typeface="Tahoma"/>
                <a:cs typeface="Tahoma"/>
              </a:rPr>
              <a:t>TOTAL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175" dirty="0">
                <a:latin typeface="Tahoma"/>
                <a:cs typeface="Tahoma"/>
              </a:rPr>
              <a:t>SPENDING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35" dirty="0">
                <a:latin typeface="Tahoma"/>
                <a:cs typeface="Tahoma"/>
              </a:rPr>
              <a:t>AMOUNT.</a:t>
            </a:r>
            <a:endParaRPr sz="1850">
              <a:latin typeface="Tahoma"/>
              <a:cs typeface="Tahoma"/>
            </a:endParaRPr>
          </a:p>
          <a:p>
            <a:pPr marL="5493385" marR="2343150" indent="341630" algn="ctr">
              <a:lnSpc>
                <a:spcPct val="115399"/>
              </a:lnSpc>
              <a:spcBef>
                <a:spcPts val="2190"/>
              </a:spcBef>
              <a:buAutoNum type="arabicPlain"/>
              <a:tabLst>
                <a:tab pos="5835015" algn="l"/>
              </a:tabLst>
            </a:pPr>
            <a:r>
              <a:rPr sz="1950" b="1" spc="95" dirty="0">
                <a:latin typeface="Tahoma"/>
                <a:cs typeface="Tahoma"/>
              </a:rPr>
              <a:t>TEMPORAL</a:t>
            </a:r>
            <a:r>
              <a:rPr sz="1950" b="1" spc="55" dirty="0">
                <a:latin typeface="Tahoma"/>
                <a:cs typeface="Tahoma"/>
              </a:rPr>
              <a:t> </a:t>
            </a:r>
            <a:r>
              <a:rPr sz="1950" b="1" spc="65" dirty="0">
                <a:latin typeface="Tahoma"/>
                <a:cs typeface="Tahoma"/>
              </a:rPr>
              <a:t>FEATURES</a:t>
            </a:r>
            <a:r>
              <a:rPr sz="1950" b="1" spc="60" dirty="0">
                <a:latin typeface="Tahoma"/>
                <a:cs typeface="Tahoma"/>
              </a:rPr>
              <a:t> </a:t>
            </a:r>
            <a:r>
              <a:rPr sz="1950" b="1" dirty="0">
                <a:latin typeface="Tahoma"/>
                <a:cs typeface="Tahoma"/>
              </a:rPr>
              <a:t>(FROM</a:t>
            </a:r>
            <a:r>
              <a:rPr sz="1950" b="1" spc="60" dirty="0">
                <a:latin typeface="Tahoma"/>
                <a:cs typeface="Tahoma"/>
              </a:rPr>
              <a:t> </a:t>
            </a:r>
            <a:r>
              <a:rPr sz="1950" b="1" spc="-10" dirty="0">
                <a:latin typeface="Tahoma"/>
                <a:cs typeface="Tahoma"/>
              </a:rPr>
              <a:t>INVOICEDATE) EXTRACTED</a:t>
            </a:r>
            <a:r>
              <a:rPr sz="1950" spc="-10" dirty="0"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AutoNum type="arabicPlain"/>
            </a:pPr>
            <a:endParaRPr sz="1950">
              <a:latin typeface="Tahoma"/>
              <a:cs typeface="Tahoma"/>
            </a:endParaRPr>
          </a:p>
          <a:p>
            <a:pPr marL="3392804" lvl="1" indent="-250825" algn="ctr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3392804" algn="l"/>
              </a:tabLst>
            </a:pPr>
            <a:r>
              <a:rPr sz="1950" spc="245" dirty="0">
                <a:latin typeface="Tahoma"/>
                <a:cs typeface="Tahoma"/>
              </a:rPr>
              <a:t>HOUR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240" dirty="0">
                <a:latin typeface="Tahoma"/>
                <a:cs typeface="Tahoma"/>
              </a:rPr>
              <a:t>OF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50" dirty="0">
                <a:latin typeface="Tahoma"/>
                <a:cs typeface="Tahoma"/>
              </a:rPr>
              <a:t>DAY</a:t>
            </a:r>
            <a:endParaRPr sz="1950">
              <a:latin typeface="Tahoma"/>
              <a:cs typeface="Tahoma"/>
            </a:endParaRPr>
          </a:p>
          <a:p>
            <a:pPr marL="3444240" lvl="1" indent="-302260" algn="ctr">
              <a:lnSpc>
                <a:spcPct val="100000"/>
              </a:lnSpc>
              <a:spcBef>
                <a:spcPts val="359"/>
              </a:spcBef>
              <a:buAutoNum type="arabicPlain"/>
              <a:tabLst>
                <a:tab pos="3444240" algn="l"/>
              </a:tabLst>
            </a:pPr>
            <a:r>
              <a:rPr sz="1950" spc="175" dirty="0">
                <a:latin typeface="Tahoma"/>
                <a:cs typeface="Tahoma"/>
              </a:rPr>
              <a:t>DAY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240" dirty="0">
                <a:latin typeface="Tahoma"/>
                <a:cs typeface="Tahoma"/>
              </a:rPr>
              <a:t>OF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235" dirty="0">
                <a:latin typeface="Tahoma"/>
                <a:cs typeface="Tahoma"/>
              </a:rPr>
              <a:t>WEEK</a:t>
            </a:r>
            <a:endParaRPr sz="1950">
              <a:latin typeface="Tahoma"/>
              <a:cs typeface="Tahoma"/>
            </a:endParaRPr>
          </a:p>
          <a:p>
            <a:pPr marL="3443604" lvl="1" indent="-301625" algn="ctr">
              <a:lnSpc>
                <a:spcPct val="100000"/>
              </a:lnSpc>
              <a:spcBef>
                <a:spcPts val="359"/>
              </a:spcBef>
              <a:buAutoNum type="arabicPlain"/>
              <a:tabLst>
                <a:tab pos="3443604" algn="l"/>
              </a:tabLst>
            </a:pPr>
            <a:r>
              <a:rPr sz="1950" spc="220" dirty="0">
                <a:latin typeface="Tahoma"/>
                <a:cs typeface="Tahoma"/>
              </a:rPr>
              <a:t>MONTH</a:t>
            </a:r>
            <a:endParaRPr sz="1950">
              <a:latin typeface="Tahoma"/>
              <a:cs typeface="Tahoma"/>
            </a:endParaRPr>
          </a:p>
          <a:p>
            <a:pPr marL="3467735" lvl="1" indent="-325755" algn="ctr">
              <a:lnSpc>
                <a:spcPts val="2305"/>
              </a:lnSpc>
              <a:spcBef>
                <a:spcPts val="359"/>
              </a:spcBef>
              <a:buAutoNum type="arabicPlain"/>
              <a:tabLst>
                <a:tab pos="3467735" algn="l"/>
              </a:tabLst>
            </a:pPr>
            <a:r>
              <a:rPr sz="1950" spc="185" dirty="0">
                <a:latin typeface="Tahoma"/>
                <a:cs typeface="Tahoma"/>
              </a:rPr>
              <a:t>SEASON</a:t>
            </a:r>
            <a:endParaRPr sz="1950">
              <a:latin typeface="Tahoma"/>
              <a:cs typeface="Tahoma"/>
            </a:endParaRPr>
          </a:p>
          <a:p>
            <a:pPr marR="1269365" algn="ctr">
              <a:lnSpc>
                <a:spcPts val="2185"/>
              </a:lnSpc>
            </a:pPr>
            <a:r>
              <a:rPr sz="1850" b="1" spc="55" dirty="0">
                <a:latin typeface="Tahoma"/>
                <a:cs typeface="Tahoma"/>
              </a:rPr>
              <a:t>“THESE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STEPS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65" dirty="0">
                <a:latin typeface="Tahoma"/>
                <a:cs typeface="Tahoma"/>
              </a:rPr>
              <a:t>ENSURED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55" dirty="0">
                <a:latin typeface="Tahoma"/>
                <a:cs typeface="Tahoma"/>
              </a:rPr>
              <a:t>THE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50" dirty="0">
                <a:latin typeface="Tahoma"/>
                <a:cs typeface="Tahoma"/>
              </a:rPr>
              <a:t>DATASET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105" dirty="0">
                <a:latin typeface="Tahoma"/>
                <a:cs typeface="Tahoma"/>
              </a:rPr>
              <a:t>WAS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CONSISTENT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110" dirty="0">
                <a:latin typeface="Tahoma"/>
                <a:cs typeface="Tahoma"/>
              </a:rPr>
              <a:t>AND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70" dirty="0">
                <a:latin typeface="Tahoma"/>
                <a:cs typeface="Tahoma"/>
              </a:rPr>
              <a:t>READY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75" dirty="0">
                <a:latin typeface="Tahoma"/>
                <a:cs typeface="Tahoma"/>
              </a:rPr>
              <a:t>FOR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ANALYSIS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110" dirty="0">
                <a:latin typeface="Tahoma"/>
                <a:cs typeface="Tahoma"/>
              </a:rPr>
              <a:t>AND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-10" dirty="0">
                <a:latin typeface="Tahoma"/>
                <a:cs typeface="Tahoma"/>
              </a:rPr>
              <a:t>MODELING”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53145" cy="10287000"/>
            <a:chOff x="0" y="0"/>
            <a:chExt cx="8653145" cy="10287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942715" cy="10287000"/>
            </a:xfrm>
            <a:custGeom>
              <a:avLst/>
              <a:gdLst/>
              <a:ahLst/>
              <a:cxnLst/>
              <a:rect l="l" t="t" r="r" b="b"/>
              <a:pathLst>
                <a:path w="3942715" h="10287000">
                  <a:moveTo>
                    <a:pt x="3456580" y="10286999"/>
                  </a:moveTo>
                  <a:lnTo>
                    <a:pt x="164071" y="10286999"/>
                  </a:lnTo>
                  <a:lnTo>
                    <a:pt x="116058" y="10284622"/>
                  </a:lnTo>
                  <a:lnTo>
                    <a:pt x="68858" y="10277579"/>
                  </a:lnTo>
                  <a:lnTo>
                    <a:pt x="22791" y="10266001"/>
                  </a:lnTo>
                  <a:lnTo>
                    <a:pt x="0" y="10257839"/>
                  </a:lnTo>
                  <a:lnTo>
                    <a:pt x="0" y="29160"/>
                  </a:lnTo>
                  <a:lnTo>
                    <a:pt x="68858" y="9420"/>
                  </a:lnTo>
                  <a:lnTo>
                    <a:pt x="116058" y="2377"/>
                  </a:lnTo>
                  <a:lnTo>
                    <a:pt x="164071" y="0"/>
                  </a:lnTo>
                  <a:lnTo>
                    <a:pt x="3456580" y="0"/>
                  </a:lnTo>
                  <a:lnTo>
                    <a:pt x="3504593" y="2377"/>
                  </a:lnTo>
                  <a:lnTo>
                    <a:pt x="3551793" y="9420"/>
                  </a:lnTo>
                  <a:lnTo>
                    <a:pt x="3597861" y="20997"/>
                  </a:lnTo>
                  <a:lnTo>
                    <a:pt x="3642478" y="36977"/>
                  </a:lnTo>
                  <a:lnTo>
                    <a:pt x="3685327" y="57227"/>
                  </a:lnTo>
                  <a:lnTo>
                    <a:pt x="3726088" y="81615"/>
                  </a:lnTo>
                  <a:lnTo>
                    <a:pt x="3764444" y="110010"/>
                  </a:lnTo>
                  <a:lnTo>
                    <a:pt x="3800075" y="142280"/>
                  </a:lnTo>
                  <a:lnTo>
                    <a:pt x="3832344" y="177911"/>
                  </a:lnTo>
                  <a:lnTo>
                    <a:pt x="3860739" y="216266"/>
                  </a:lnTo>
                  <a:lnTo>
                    <a:pt x="3885128" y="257028"/>
                  </a:lnTo>
                  <a:lnTo>
                    <a:pt x="3905378" y="299876"/>
                  </a:lnTo>
                  <a:lnTo>
                    <a:pt x="3921357" y="344494"/>
                  </a:lnTo>
                  <a:lnTo>
                    <a:pt x="3932935" y="390562"/>
                  </a:lnTo>
                  <a:lnTo>
                    <a:pt x="3939978" y="437762"/>
                  </a:lnTo>
                  <a:lnTo>
                    <a:pt x="3942355" y="485775"/>
                  </a:lnTo>
                  <a:lnTo>
                    <a:pt x="3942355" y="9801224"/>
                  </a:lnTo>
                  <a:lnTo>
                    <a:pt x="3939978" y="9849237"/>
                  </a:lnTo>
                  <a:lnTo>
                    <a:pt x="3932935" y="9896437"/>
                  </a:lnTo>
                  <a:lnTo>
                    <a:pt x="3921357" y="9942505"/>
                  </a:lnTo>
                  <a:lnTo>
                    <a:pt x="3905378" y="9987122"/>
                  </a:lnTo>
                  <a:lnTo>
                    <a:pt x="3885128" y="10029971"/>
                  </a:lnTo>
                  <a:lnTo>
                    <a:pt x="3860739" y="10070732"/>
                  </a:lnTo>
                  <a:lnTo>
                    <a:pt x="3832344" y="10109088"/>
                  </a:lnTo>
                  <a:lnTo>
                    <a:pt x="3800075" y="10144719"/>
                  </a:lnTo>
                  <a:lnTo>
                    <a:pt x="3764444" y="10176989"/>
                  </a:lnTo>
                  <a:lnTo>
                    <a:pt x="3726088" y="10205384"/>
                  </a:lnTo>
                  <a:lnTo>
                    <a:pt x="3685327" y="10229772"/>
                  </a:lnTo>
                  <a:lnTo>
                    <a:pt x="3642478" y="10250022"/>
                  </a:lnTo>
                  <a:lnTo>
                    <a:pt x="3597861" y="10266001"/>
                  </a:lnTo>
                  <a:lnTo>
                    <a:pt x="3551793" y="10277579"/>
                  </a:lnTo>
                  <a:lnTo>
                    <a:pt x="3504593" y="10284622"/>
                  </a:lnTo>
                  <a:lnTo>
                    <a:pt x="3456580" y="1028699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523" y="2161932"/>
              <a:ext cx="6968279" cy="68124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29803" y="1927533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5">
                  <a:moveTo>
                    <a:pt x="911499" y="1822998"/>
                  </a:moveTo>
                  <a:lnTo>
                    <a:pt x="863090" y="1821735"/>
                  </a:lnTo>
                  <a:lnTo>
                    <a:pt x="815339" y="1817987"/>
                  </a:lnTo>
                  <a:lnTo>
                    <a:pt x="768310" y="1811816"/>
                  </a:lnTo>
                  <a:lnTo>
                    <a:pt x="722064" y="1803287"/>
                  </a:lnTo>
                  <a:lnTo>
                    <a:pt x="676666" y="1792462"/>
                  </a:lnTo>
                  <a:lnTo>
                    <a:pt x="632177" y="1779404"/>
                  </a:lnTo>
                  <a:lnTo>
                    <a:pt x="588662" y="1764176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4" y="1706101"/>
                  </a:lnTo>
                  <a:lnTo>
                    <a:pt x="425591" y="1682823"/>
                  </a:lnTo>
                  <a:lnTo>
                    <a:pt x="387886" y="1657690"/>
                  </a:lnTo>
                  <a:lnTo>
                    <a:pt x="351532" y="1630765"/>
                  </a:lnTo>
                  <a:lnTo>
                    <a:pt x="316592" y="1602111"/>
                  </a:lnTo>
                  <a:lnTo>
                    <a:pt x="283129" y="1571791"/>
                  </a:lnTo>
                  <a:lnTo>
                    <a:pt x="251206" y="1539869"/>
                  </a:lnTo>
                  <a:lnTo>
                    <a:pt x="220886" y="1506406"/>
                  </a:lnTo>
                  <a:lnTo>
                    <a:pt x="192232" y="1471466"/>
                  </a:lnTo>
                  <a:lnTo>
                    <a:pt x="165307" y="1435111"/>
                  </a:lnTo>
                  <a:lnTo>
                    <a:pt x="140174" y="1397406"/>
                  </a:lnTo>
                  <a:lnTo>
                    <a:pt x="116896" y="1358413"/>
                  </a:lnTo>
                  <a:lnTo>
                    <a:pt x="95536" y="1318195"/>
                  </a:lnTo>
                  <a:lnTo>
                    <a:pt x="76157" y="1276815"/>
                  </a:lnTo>
                  <a:lnTo>
                    <a:pt x="58822" y="1234336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4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8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40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8"/>
                  </a:lnTo>
                  <a:lnTo>
                    <a:pt x="58822" y="588662"/>
                  </a:lnTo>
                  <a:lnTo>
                    <a:pt x="76157" y="546183"/>
                  </a:lnTo>
                  <a:lnTo>
                    <a:pt x="95536" y="504803"/>
                  </a:lnTo>
                  <a:lnTo>
                    <a:pt x="116896" y="464585"/>
                  </a:lnTo>
                  <a:lnTo>
                    <a:pt x="140174" y="425592"/>
                  </a:lnTo>
                  <a:lnTo>
                    <a:pt x="165307" y="387887"/>
                  </a:lnTo>
                  <a:lnTo>
                    <a:pt x="192232" y="351532"/>
                  </a:lnTo>
                  <a:lnTo>
                    <a:pt x="220886" y="316592"/>
                  </a:lnTo>
                  <a:lnTo>
                    <a:pt x="251206" y="283129"/>
                  </a:lnTo>
                  <a:lnTo>
                    <a:pt x="283129" y="251206"/>
                  </a:lnTo>
                  <a:lnTo>
                    <a:pt x="316592" y="220887"/>
                  </a:lnTo>
                  <a:lnTo>
                    <a:pt x="351532" y="192233"/>
                  </a:lnTo>
                  <a:lnTo>
                    <a:pt x="387886" y="165308"/>
                  </a:lnTo>
                  <a:lnTo>
                    <a:pt x="425591" y="140175"/>
                  </a:lnTo>
                  <a:lnTo>
                    <a:pt x="464584" y="116897"/>
                  </a:lnTo>
                  <a:lnTo>
                    <a:pt x="504803" y="95537"/>
                  </a:lnTo>
                  <a:lnTo>
                    <a:pt x="546183" y="76158"/>
                  </a:lnTo>
                  <a:lnTo>
                    <a:pt x="588662" y="58822"/>
                  </a:lnTo>
                  <a:lnTo>
                    <a:pt x="632177" y="43594"/>
                  </a:lnTo>
                  <a:lnTo>
                    <a:pt x="676666" y="30536"/>
                  </a:lnTo>
                  <a:lnTo>
                    <a:pt x="722064" y="19711"/>
                  </a:lnTo>
                  <a:lnTo>
                    <a:pt x="768310" y="11182"/>
                  </a:lnTo>
                  <a:lnTo>
                    <a:pt x="815339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7" y="1263"/>
                  </a:lnTo>
                  <a:lnTo>
                    <a:pt x="1007658" y="5011"/>
                  </a:lnTo>
                  <a:lnTo>
                    <a:pt x="1054688" y="11182"/>
                  </a:lnTo>
                  <a:lnTo>
                    <a:pt x="1100933" y="19711"/>
                  </a:lnTo>
                  <a:lnTo>
                    <a:pt x="1146332" y="30536"/>
                  </a:lnTo>
                  <a:lnTo>
                    <a:pt x="1190820" y="43594"/>
                  </a:lnTo>
                  <a:lnTo>
                    <a:pt x="1234336" y="58822"/>
                  </a:lnTo>
                  <a:lnTo>
                    <a:pt x="1276815" y="76158"/>
                  </a:lnTo>
                  <a:lnTo>
                    <a:pt x="1318195" y="95537"/>
                  </a:lnTo>
                  <a:lnTo>
                    <a:pt x="1358413" y="116897"/>
                  </a:lnTo>
                  <a:lnTo>
                    <a:pt x="1397406" y="140175"/>
                  </a:lnTo>
                  <a:lnTo>
                    <a:pt x="1435111" y="165308"/>
                  </a:lnTo>
                  <a:lnTo>
                    <a:pt x="1471465" y="192233"/>
                  </a:lnTo>
                  <a:lnTo>
                    <a:pt x="1506406" y="220887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2" y="316592"/>
                  </a:lnTo>
                  <a:lnTo>
                    <a:pt x="1630766" y="351532"/>
                  </a:lnTo>
                  <a:lnTo>
                    <a:pt x="1657691" y="387887"/>
                  </a:lnTo>
                  <a:lnTo>
                    <a:pt x="1682824" y="425592"/>
                  </a:lnTo>
                  <a:lnTo>
                    <a:pt x="1706102" y="464585"/>
                  </a:lnTo>
                  <a:lnTo>
                    <a:pt x="1727462" y="504803"/>
                  </a:lnTo>
                  <a:lnTo>
                    <a:pt x="1746841" y="546183"/>
                  </a:lnTo>
                  <a:lnTo>
                    <a:pt x="1764176" y="588662"/>
                  </a:lnTo>
                  <a:lnTo>
                    <a:pt x="1779404" y="632178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7" y="768310"/>
                  </a:lnTo>
                  <a:lnTo>
                    <a:pt x="1817987" y="815340"/>
                  </a:lnTo>
                  <a:lnTo>
                    <a:pt x="1821735" y="863090"/>
                  </a:lnTo>
                  <a:lnTo>
                    <a:pt x="1822999" y="911499"/>
                  </a:lnTo>
                  <a:lnTo>
                    <a:pt x="1821735" y="959908"/>
                  </a:lnTo>
                  <a:lnTo>
                    <a:pt x="1817987" y="1007658"/>
                  </a:lnTo>
                  <a:lnTo>
                    <a:pt x="1811817" y="1054688"/>
                  </a:lnTo>
                  <a:lnTo>
                    <a:pt x="1803287" y="1100934"/>
                  </a:lnTo>
                  <a:lnTo>
                    <a:pt x="1792462" y="1146332"/>
                  </a:lnTo>
                  <a:lnTo>
                    <a:pt x="1779404" y="1190820"/>
                  </a:lnTo>
                  <a:lnTo>
                    <a:pt x="1764176" y="1234336"/>
                  </a:lnTo>
                  <a:lnTo>
                    <a:pt x="1746841" y="1276815"/>
                  </a:lnTo>
                  <a:lnTo>
                    <a:pt x="1727462" y="1318195"/>
                  </a:lnTo>
                  <a:lnTo>
                    <a:pt x="1706102" y="1358413"/>
                  </a:lnTo>
                  <a:lnTo>
                    <a:pt x="1682824" y="1397406"/>
                  </a:lnTo>
                  <a:lnTo>
                    <a:pt x="1657691" y="1435111"/>
                  </a:lnTo>
                  <a:lnTo>
                    <a:pt x="1630766" y="1471466"/>
                  </a:lnTo>
                  <a:lnTo>
                    <a:pt x="1602112" y="1506406"/>
                  </a:lnTo>
                  <a:lnTo>
                    <a:pt x="1571792" y="1539869"/>
                  </a:lnTo>
                  <a:lnTo>
                    <a:pt x="1539869" y="1571791"/>
                  </a:lnTo>
                  <a:lnTo>
                    <a:pt x="1506406" y="1602111"/>
                  </a:lnTo>
                  <a:lnTo>
                    <a:pt x="1471465" y="1630765"/>
                  </a:lnTo>
                  <a:lnTo>
                    <a:pt x="1435111" y="1657690"/>
                  </a:lnTo>
                  <a:lnTo>
                    <a:pt x="1397406" y="1682823"/>
                  </a:lnTo>
                  <a:lnTo>
                    <a:pt x="1358413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6" y="1764176"/>
                  </a:lnTo>
                  <a:lnTo>
                    <a:pt x="1190820" y="1779404"/>
                  </a:lnTo>
                  <a:lnTo>
                    <a:pt x="1146332" y="1792462"/>
                  </a:lnTo>
                  <a:lnTo>
                    <a:pt x="1100933" y="1803287"/>
                  </a:lnTo>
                  <a:lnTo>
                    <a:pt x="1054688" y="1811816"/>
                  </a:lnTo>
                  <a:lnTo>
                    <a:pt x="1007658" y="1817987"/>
                  </a:lnTo>
                  <a:lnTo>
                    <a:pt x="959907" y="1821735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0238" y="2497967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4" y="682130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6" y="655327"/>
                  </a:lnTo>
                  <a:lnTo>
                    <a:pt x="168922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7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7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2" y="46565"/>
                  </a:lnTo>
                  <a:lnTo>
                    <a:pt x="208306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4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2" y="26802"/>
                  </a:lnTo>
                  <a:lnTo>
                    <a:pt x="513206" y="46565"/>
                  </a:lnTo>
                  <a:lnTo>
                    <a:pt x="549479" y="71065"/>
                  </a:lnTo>
                  <a:lnTo>
                    <a:pt x="582234" y="99895"/>
                  </a:lnTo>
                  <a:lnTo>
                    <a:pt x="611064" y="132650"/>
                  </a:lnTo>
                  <a:lnTo>
                    <a:pt x="635564" y="168922"/>
                  </a:lnTo>
                  <a:lnTo>
                    <a:pt x="655327" y="208307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7"/>
                  </a:lnTo>
                  <a:lnTo>
                    <a:pt x="611064" y="549479"/>
                  </a:lnTo>
                  <a:lnTo>
                    <a:pt x="582234" y="582234"/>
                  </a:lnTo>
                  <a:lnTo>
                    <a:pt x="549479" y="611064"/>
                  </a:lnTo>
                  <a:lnTo>
                    <a:pt x="513206" y="635564"/>
                  </a:lnTo>
                  <a:lnTo>
                    <a:pt x="473822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4" y="682130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997858" y="9070671"/>
            <a:ext cx="1160780" cy="1160780"/>
            <a:chOff x="16997858" y="9070671"/>
            <a:chExt cx="1160780" cy="1160780"/>
          </a:xfrm>
        </p:grpSpPr>
        <p:sp>
          <p:nvSpPr>
            <p:cNvPr id="12" name="object 12"/>
            <p:cNvSpPr/>
            <p:nvPr/>
          </p:nvSpPr>
          <p:spPr>
            <a:xfrm>
              <a:off x="16997858" y="9070671"/>
              <a:ext cx="1160780" cy="1160780"/>
            </a:xfrm>
            <a:custGeom>
              <a:avLst/>
              <a:gdLst/>
              <a:ahLst/>
              <a:cxnLst/>
              <a:rect l="l" t="t" r="r" b="b"/>
              <a:pathLst>
                <a:path w="1160780" h="1160779">
                  <a:moveTo>
                    <a:pt x="580281" y="1160561"/>
                  </a:moveTo>
                  <a:lnTo>
                    <a:pt x="532688" y="1158638"/>
                  </a:lnTo>
                  <a:lnTo>
                    <a:pt x="486155" y="1152966"/>
                  </a:lnTo>
                  <a:lnTo>
                    <a:pt x="440832" y="1143697"/>
                  </a:lnTo>
                  <a:lnTo>
                    <a:pt x="396866" y="1130978"/>
                  </a:lnTo>
                  <a:lnTo>
                    <a:pt x="354409" y="1114960"/>
                  </a:lnTo>
                  <a:lnTo>
                    <a:pt x="313608" y="1095791"/>
                  </a:lnTo>
                  <a:lnTo>
                    <a:pt x="274613" y="1073622"/>
                  </a:lnTo>
                  <a:lnTo>
                    <a:pt x="237574" y="1048601"/>
                  </a:lnTo>
                  <a:lnTo>
                    <a:pt x="202640" y="1020877"/>
                  </a:lnTo>
                  <a:lnTo>
                    <a:pt x="169960" y="990601"/>
                  </a:lnTo>
                  <a:lnTo>
                    <a:pt x="139683" y="957921"/>
                  </a:lnTo>
                  <a:lnTo>
                    <a:pt x="111960" y="922987"/>
                  </a:lnTo>
                  <a:lnTo>
                    <a:pt x="86939" y="885948"/>
                  </a:lnTo>
                  <a:lnTo>
                    <a:pt x="64769" y="846953"/>
                  </a:lnTo>
                  <a:lnTo>
                    <a:pt x="45601" y="806152"/>
                  </a:lnTo>
                  <a:lnTo>
                    <a:pt x="29583" y="763694"/>
                  </a:lnTo>
                  <a:lnTo>
                    <a:pt x="16864" y="719729"/>
                  </a:lnTo>
                  <a:lnTo>
                    <a:pt x="7594" y="674405"/>
                  </a:lnTo>
                  <a:lnTo>
                    <a:pt x="1923" y="627873"/>
                  </a:lnTo>
                  <a:lnTo>
                    <a:pt x="0" y="580280"/>
                  </a:lnTo>
                  <a:lnTo>
                    <a:pt x="1923" y="532688"/>
                  </a:lnTo>
                  <a:lnTo>
                    <a:pt x="7594" y="486155"/>
                  </a:lnTo>
                  <a:lnTo>
                    <a:pt x="16864" y="440832"/>
                  </a:lnTo>
                  <a:lnTo>
                    <a:pt x="29583" y="396866"/>
                  </a:lnTo>
                  <a:lnTo>
                    <a:pt x="45601" y="354409"/>
                  </a:lnTo>
                  <a:lnTo>
                    <a:pt x="64769" y="313608"/>
                  </a:lnTo>
                  <a:lnTo>
                    <a:pt x="86939" y="274613"/>
                  </a:lnTo>
                  <a:lnTo>
                    <a:pt x="111960" y="237574"/>
                  </a:lnTo>
                  <a:lnTo>
                    <a:pt x="139683" y="202640"/>
                  </a:lnTo>
                  <a:lnTo>
                    <a:pt x="169960" y="169960"/>
                  </a:lnTo>
                  <a:lnTo>
                    <a:pt x="202640" y="139683"/>
                  </a:lnTo>
                  <a:lnTo>
                    <a:pt x="237574" y="111960"/>
                  </a:lnTo>
                  <a:lnTo>
                    <a:pt x="274613" y="86939"/>
                  </a:lnTo>
                  <a:lnTo>
                    <a:pt x="313608" y="64769"/>
                  </a:lnTo>
                  <a:lnTo>
                    <a:pt x="354409" y="45601"/>
                  </a:lnTo>
                  <a:lnTo>
                    <a:pt x="396866" y="29583"/>
                  </a:lnTo>
                  <a:lnTo>
                    <a:pt x="440832" y="16864"/>
                  </a:lnTo>
                  <a:lnTo>
                    <a:pt x="486155" y="7594"/>
                  </a:lnTo>
                  <a:lnTo>
                    <a:pt x="532688" y="1923"/>
                  </a:lnTo>
                  <a:lnTo>
                    <a:pt x="580281" y="0"/>
                  </a:lnTo>
                  <a:lnTo>
                    <a:pt x="627873" y="1923"/>
                  </a:lnTo>
                  <a:lnTo>
                    <a:pt x="674405" y="7594"/>
                  </a:lnTo>
                  <a:lnTo>
                    <a:pt x="719729" y="16864"/>
                  </a:lnTo>
                  <a:lnTo>
                    <a:pt x="763694" y="29583"/>
                  </a:lnTo>
                  <a:lnTo>
                    <a:pt x="806152" y="45601"/>
                  </a:lnTo>
                  <a:lnTo>
                    <a:pt x="846953" y="64769"/>
                  </a:lnTo>
                  <a:lnTo>
                    <a:pt x="885948" y="86939"/>
                  </a:lnTo>
                  <a:lnTo>
                    <a:pt x="922987" y="111960"/>
                  </a:lnTo>
                  <a:lnTo>
                    <a:pt x="957921" y="139683"/>
                  </a:lnTo>
                  <a:lnTo>
                    <a:pt x="990601" y="169960"/>
                  </a:lnTo>
                  <a:lnTo>
                    <a:pt x="1020877" y="202640"/>
                  </a:lnTo>
                  <a:lnTo>
                    <a:pt x="1048601" y="237574"/>
                  </a:lnTo>
                  <a:lnTo>
                    <a:pt x="1073622" y="274613"/>
                  </a:lnTo>
                  <a:lnTo>
                    <a:pt x="1095791" y="313608"/>
                  </a:lnTo>
                  <a:lnTo>
                    <a:pt x="1114960" y="354409"/>
                  </a:lnTo>
                  <a:lnTo>
                    <a:pt x="1130978" y="396866"/>
                  </a:lnTo>
                  <a:lnTo>
                    <a:pt x="1143697" y="440832"/>
                  </a:lnTo>
                  <a:lnTo>
                    <a:pt x="1152966" y="486155"/>
                  </a:lnTo>
                  <a:lnTo>
                    <a:pt x="1158638" y="532688"/>
                  </a:lnTo>
                  <a:lnTo>
                    <a:pt x="1160561" y="580281"/>
                  </a:lnTo>
                  <a:lnTo>
                    <a:pt x="1158638" y="627873"/>
                  </a:lnTo>
                  <a:lnTo>
                    <a:pt x="1152966" y="674405"/>
                  </a:lnTo>
                  <a:lnTo>
                    <a:pt x="1143697" y="719729"/>
                  </a:lnTo>
                  <a:lnTo>
                    <a:pt x="1130978" y="763694"/>
                  </a:lnTo>
                  <a:lnTo>
                    <a:pt x="1114960" y="806152"/>
                  </a:lnTo>
                  <a:lnTo>
                    <a:pt x="1095791" y="846953"/>
                  </a:lnTo>
                  <a:lnTo>
                    <a:pt x="1073622" y="885948"/>
                  </a:lnTo>
                  <a:lnTo>
                    <a:pt x="1048601" y="922987"/>
                  </a:lnTo>
                  <a:lnTo>
                    <a:pt x="1020877" y="957921"/>
                  </a:lnTo>
                  <a:lnTo>
                    <a:pt x="990601" y="990601"/>
                  </a:lnTo>
                  <a:lnTo>
                    <a:pt x="957921" y="1020877"/>
                  </a:lnTo>
                  <a:lnTo>
                    <a:pt x="922987" y="1048601"/>
                  </a:lnTo>
                  <a:lnTo>
                    <a:pt x="885948" y="1073622"/>
                  </a:lnTo>
                  <a:lnTo>
                    <a:pt x="846953" y="1095791"/>
                  </a:lnTo>
                  <a:lnTo>
                    <a:pt x="806152" y="1114960"/>
                  </a:lnTo>
                  <a:lnTo>
                    <a:pt x="763694" y="1130978"/>
                  </a:lnTo>
                  <a:lnTo>
                    <a:pt x="719729" y="1143697"/>
                  </a:lnTo>
                  <a:lnTo>
                    <a:pt x="674405" y="1152966"/>
                  </a:lnTo>
                  <a:lnTo>
                    <a:pt x="627873" y="1158638"/>
                  </a:lnTo>
                  <a:lnTo>
                    <a:pt x="580281" y="116056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460049" y="9350849"/>
              <a:ext cx="332105" cy="600710"/>
            </a:xfrm>
            <a:custGeom>
              <a:avLst/>
              <a:gdLst/>
              <a:ahLst/>
              <a:cxnLst/>
              <a:rect l="l" t="t" r="r" b="b"/>
              <a:pathLst>
                <a:path w="332105" h="600709">
                  <a:moveTo>
                    <a:pt x="31754" y="600201"/>
                  </a:moveTo>
                  <a:lnTo>
                    <a:pt x="0" y="568446"/>
                  </a:lnTo>
                  <a:lnTo>
                    <a:pt x="268336" y="300103"/>
                  </a:lnTo>
                  <a:lnTo>
                    <a:pt x="0" y="31754"/>
                  </a:lnTo>
                  <a:lnTo>
                    <a:pt x="31754" y="0"/>
                  </a:lnTo>
                  <a:lnTo>
                    <a:pt x="331858" y="300103"/>
                  </a:lnTo>
                  <a:lnTo>
                    <a:pt x="31754" y="60020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9177" y="9479426"/>
            <a:ext cx="127482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latin typeface="Tahoma"/>
                <a:cs typeface="Tahoma"/>
              </a:rPr>
              <a:t>“THESE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STEPS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65" dirty="0">
                <a:latin typeface="Tahoma"/>
                <a:cs typeface="Tahoma"/>
              </a:rPr>
              <a:t>ENSURED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55" dirty="0">
                <a:latin typeface="Tahoma"/>
                <a:cs typeface="Tahoma"/>
              </a:rPr>
              <a:t>THE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50" dirty="0">
                <a:latin typeface="Tahoma"/>
                <a:cs typeface="Tahoma"/>
              </a:rPr>
              <a:t>DATASET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105" dirty="0">
                <a:latin typeface="Tahoma"/>
                <a:cs typeface="Tahoma"/>
              </a:rPr>
              <a:t>WAS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CONSISTENT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110" dirty="0">
                <a:latin typeface="Tahoma"/>
                <a:cs typeface="Tahoma"/>
              </a:rPr>
              <a:t>AND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70" dirty="0">
                <a:latin typeface="Tahoma"/>
                <a:cs typeface="Tahoma"/>
              </a:rPr>
              <a:t>READY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75" dirty="0">
                <a:latin typeface="Tahoma"/>
                <a:cs typeface="Tahoma"/>
              </a:rPr>
              <a:t>FOR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ANALYSIS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110" dirty="0">
                <a:latin typeface="Tahoma"/>
                <a:cs typeface="Tahoma"/>
              </a:rPr>
              <a:t>AND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-10" dirty="0">
                <a:latin typeface="Tahoma"/>
                <a:cs typeface="Tahoma"/>
              </a:rPr>
              <a:t>MODELING”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22514" y="1862272"/>
            <a:ext cx="9680575" cy="6828155"/>
          </a:xfrm>
          <a:prstGeom prst="rect">
            <a:avLst/>
          </a:prstGeom>
        </p:spPr>
        <p:txBody>
          <a:bodyPr vert="horz" wrap="square" lIns="0" tIns="271780" rIns="0" bIns="0" rtlCol="0">
            <a:spAutoFit/>
          </a:bodyPr>
          <a:lstStyle/>
          <a:p>
            <a:pPr marL="715645" marR="2159000">
              <a:lnSpc>
                <a:spcPct val="74100"/>
              </a:lnSpc>
              <a:spcBef>
                <a:spcPts val="2140"/>
              </a:spcBef>
            </a:pPr>
            <a:r>
              <a:rPr sz="6600" b="1" dirty="0">
                <a:solidFill>
                  <a:srgbClr val="0F1B40"/>
                </a:solidFill>
                <a:latin typeface="Tahoma"/>
                <a:cs typeface="Tahoma"/>
              </a:rPr>
              <a:t>Data</a:t>
            </a:r>
            <a:r>
              <a:rPr sz="6600" b="1" spc="9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25" dirty="0">
                <a:solidFill>
                  <a:srgbClr val="0F1B40"/>
                </a:solidFill>
                <a:latin typeface="Tahoma"/>
                <a:cs typeface="Tahoma"/>
              </a:rPr>
              <a:t>Cleaning</a:t>
            </a:r>
            <a:r>
              <a:rPr sz="6600" b="1" spc="9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465" dirty="0">
                <a:solidFill>
                  <a:srgbClr val="0F1B40"/>
                </a:solidFill>
                <a:latin typeface="Tahoma"/>
                <a:cs typeface="Tahoma"/>
              </a:rPr>
              <a:t>&amp; </a:t>
            </a:r>
            <a:r>
              <a:rPr sz="6600" b="1" spc="-75" dirty="0">
                <a:solidFill>
                  <a:srgbClr val="0F1B40"/>
                </a:solidFill>
                <a:latin typeface="Tahoma"/>
                <a:cs typeface="Tahoma"/>
              </a:rPr>
              <a:t>Preprocessing</a:t>
            </a:r>
            <a:endParaRPr sz="6600">
              <a:latin typeface="Tahoma"/>
              <a:cs typeface="Tahoma"/>
            </a:endParaRPr>
          </a:p>
          <a:p>
            <a:pPr marL="69215" algn="ctr">
              <a:lnSpc>
                <a:spcPct val="100000"/>
              </a:lnSpc>
              <a:spcBef>
                <a:spcPts val="2050"/>
              </a:spcBef>
            </a:pPr>
            <a:r>
              <a:rPr sz="2550" b="1" i="1" spc="-440" dirty="0">
                <a:solidFill>
                  <a:srgbClr val="8FA3C1"/>
                </a:solidFill>
                <a:latin typeface="Verdana"/>
                <a:cs typeface="Verdana"/>
              </a:rPr>
              <a:t>IN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15" dirty="0">
                <a:solidFill>
                  <a:srgbClr val="8FA3C1"/>
                </a:solidFill>
                <a:latin typeface="Verdana"/>
                <a:cs typeface="Verdana"/>
              </a:rPr>
              <a:t>PREPROCESSING,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125" dirty="0">
                <a:solidFill>
                  <a:srgbClr val="8FA3C1"/>
                </a:solidFill>
                <a:latin typeface="Verdana"/>
                <a:cs typeface="Verdana"/>
              </a:rPr>
              <a:t>WE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90" dirty="0">
                <a:solidFill>
                  <a:srgbClr val="8FA3C1"/>
                </a:solidFill>
                <a:latin typeface="Verdana"/>
                <a:cs typeface="Verdana"/>
              </a:rPr>
              <a:t>APPLIED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70" dirty="0">
                <a:solidFill>
                  <a:srgbClr val="8FA3C1"/>
                </a:solidFill>
                <a:latin typeface="Verdana"/>
                <a:cs typeface="Verdana"/>
              </a:rPr>
              <a:t>SEVERAL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0" dirty="0">
                <a:solidFill>
                  <a:srgbClr val="8FA3C1"/>
                </a:solidFill>
                <a:latin typeface="Verdana"/>
                <a:cs typeface="Verdana"/>
              </a:rPr>
              <a:t>ESSENTIAL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5" dirty="0">
                <a:solidFill>
                  <a:srgbClr val="8FA3C1"/>
                </a:solidFill>
                <a:latin typeface="Verdana"/>
                <a:cs typeface="Verdana"/>
              </a:rPr>
              <a:t>STEPS:</a:t>
            </a:r>
            <a:endParaRPr sz="25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950" b="1" spc="-30" dirty="0">
                <a:latin typeface="Tahoma"/>
                <a:cs typeface="Tahoma"/>
              </a:rPr>
              <a:t>5-</a:t>
            </a:r>
            <a:r>
              <a:rPr sz="1950" b="1" spc="-55" dirty="0">
                <a:latin typeface="Tahoma"/>
                <a:cs typeface="Tahoma"/>
              </a:rPr>
              <a:t> </a:t>
            </a:r>
            <a:r>
              <a:rPr sz="1950" b="1" spc="60" dirty="0">
                <a:latin typeface="Tahoma"/>
                <a:cs typeface="Tahoma"/>
              </a:rPr>
              <a:t>PRODUCT-</a:t>
            </a:r>
            <a:r>
              <a:rPr sz="1950" b="1" spc="110" dirty="0">
                <a:latin typeface="Tahoma"/>
                <a:cs typeface="Tahoma"/>
              </a:rPr>
              <a:t>BASED</a:t>
            </a:r>
            <a:r>
              <a:rPr sz="1950" b="1" spc="-50" dirty="0">
                <a:latin typeface="Tahoma"/>
                <a:cs typeface="Tahoma"/>
              </a:rPr>
              <a:t> </a:t>
            </a:r>
            <a:r>
              <a:rPr sz="1950" b="1" spc="55" dirty="0">
                <a:latin typeface="Tahoma"/>
                <a:cs typeface="Tahoma"/>
              </a:rPr>
              <a:t>FEATURES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950">
              <a:latin typeface="Tahoma"/>
              <a:cs typeface="Tahoma"/>
            </a:endParaRPr>
          </a:p>
          <a:p>
            <a:pPr marL="12700" marR="5080" indent="250825" algn="ctr">
              <a:lnSpc>
                <a:spcPct val="115399"/>
              </a:lnSpc>
              <a:buAutoNum type="arabicPlain"/>
              <a:tabLst>
                <a:tab pos="263525" algn="l"/>
              </a:tabLst>
            </a:pPr>
            <a:r>
              <a:rPr sz="1950" spc="180" dirty="0">
                <a:latin typeface="Tahoma"/>
                <a:cs typeface="Tahoma"/>
              </a:rPr>
              <a:t>CREATED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210" dirty="0">
                <a:latin typeface="Tahoma"/>
                <a:cs typeface="Tahoma"/>
              </a:rPr>
              <a:t>PRODUCT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60" dirty="0">
                <a:latin typeface="Tahoma"/>
                <a:cs typeface="Tahoma"/>
              </a:rPr>
              <a:t>CATEGORY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54" dirty="0">
                <a:latin typeface="Tahoma"/>
                <a:cs typeface="Tahoma"/>
              </a:rPr>
              <a:t>FROM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50" dirty="0">
                <a:latin typeface="Tahoma"/>
                <a:cs typeface="Tahoma"/>
              </a:rPr>
              <a:t>THE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DESCRIPTION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50" dirty="0">
                <a:latin typeface="Tahoma"/>
                <a:cs typeface="Tahoma"/>
              </a:rPr>
              <a:t>COLUMN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USING </a:t>
            </a:r>
            <a:r>
              <a:rPr sz="1950" spc="55" dirty="0">
                <a:latin typeface="Tahoma"/>
                <a:cs typeface="Tahoma"/>
              </a:rPr>
              <a:t>TEXT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145" dirty="0">
                <a:latin typeface="Tahoma"/>
                <a:cs typeface="Tahoma"/>
              </a:rPr>
              <a:t>GROUPING.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Tahoma"/>
              <a:buAutoNum type="arabicPlain"/>
            </a:pPr>
            <a:endParaRPr sz="1950">
              <a:latin typeface="Tahoma"/>
              <a:cs typeface="Tahoma"/>
            </a:endParaRPr>
          </a:p>
          <a:p>
            <a:pPr marL="321310" marR="313690" indent="302260" algn="ctr">
              <a:lnSpc>
                <a:spcPct val="115399"/>
              </a:lnSpc>
              <a:buAutoNum type="arabicPlain"/>
              <a:tabLst>
                <a:tab pos="623570" algn="l"/>
              </a:tabLst>
            </a:pPr>
            <a:r>
              <a:rPr sz="1950" spc="185" dirty="0">
                <a:latin typeface="Tahoma"/>
                <a:cs typeface="Tahoma"/>
              </a:rPr>
              <a:t>CALCULATED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10" dirty="0">
                <a:latin typeface="Tahoma"/>
                <a:cs typeface="Tahoma"/>
              </a:rPr>
              <a:t>PRODUCT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80" dirty="0">
                <a:latin typeface="Tahoma"/>
                <a:cs typeface="Tahoma"/>
              </a:rPr>
              <a:t>DIVERSITY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254" dirty="0">
                <a:latin typeface="Tahoma"/>
                <a:cs typeface="Tahoma"/>
              </a:rPr>
              <a:t>FROM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185" dirty="0">
                <a:latin typeface="Tahoma"/>
                <a:cs typeface="Tahoma"/>
              </a:rPr>
              <a:t>STOCKCODE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15" dirty="0">
                <a:latin typeface="Tahoma"/>
                <a:cs typeface="Tahoma"/>
              </a:rPr>
              <a:t>(NUMBER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215" dirty="0">
                <a:latin typeface="Tahoma"/>
                <a:cs typeface="Tahoma"/>
              </a:rPr>
              <a:t>OF </a:t>
            </a:r>
            <a:r>
              <a:rPr sz="1950" spc="190" dirty="0">
                <a:latin typeface="Tahoma"/>
                <a:cs typeface="Tahoma"/>
              </a:rPr>
              <a:t>UNIQUE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95" dirty="0">
                <a:latin typeface="Tahoma"/>
                <a:cs typeface="Tahoma"/>
              </a:rPr>
              <a:t>PRODUCTS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29" dirty="0">
                <a:latin typeface="Tahoma"/>
                <a:cs typeface="Tahoma"/>
              </a:rPr>
              <a:t>PURCHASED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235" dirty="0">
                <a:latin typeface="Tahoma"/>
                <a:cs typeface="Tahoma"/>
              </a:rPr>
              <a:t>PER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114" dirty="0">
                <a:latin typeface="Tahoma"/>
                <a:cs typeface="Tahoma"/>
              </a:rPr>
              <a:t>CUSTOMER).</a:t>
            </a:r>
            <a:endParaRPr sz="1950">
              <a:latin typeface="Tahoma"/>
              <a:cs typeface="Tahoma"/>
            </a:endParaRPr>
          </a:p>
          <a:p>
            <a:pPr marR="453390" algn="ctr">
              <a:lnSpc>
                <a:spcPct val="100000"/>
              </a:lnSpc>
              <a:spcBef>
                <a:spcPts val="1805"/>
              </a:spcBef>
              <a:tabLst>
                <a:tab pos="376555" algn="l"/>
              </a:tabLst>
            </a:pPr>
            <a:r>
              <a:rPr sz="1850" b="1" spc="-25" dirty="0">
                <a:latin typeface="Tahoma"/>
                <a:cs typeface="Tahoma"/>
              </a:rPr>
              <a:t>6-</a:t>
            </a:r>
            <a:r>
              <a:rPr sz="1850" b="1" dirty="0">
                <a:latin typeface="Tahoma"/>
                <a:cs typeface="Tahoma"/>
              </a:rPr>
              <a:t>	HANDLING</a:t>
            </a:r>
            <a:r>
              <a:rPr sz="1850" b="1" spc="335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CATEGORICAL</a:t>
            </a:r>
            <a:r>
              <a:rPr sz="1850" b="1" spc="340" dirty="0">
                <a:latin typeface="Tahoma"/>
                <a:cs typeface="Tahoma"/>
              </a:rPr>
              <a:t> </a:t>
            </a:r>
            <a:r>
              <a:rPr sz="1850" b="1" spc="-10" dirty="0">
                <a:latin typeface="Tahoma"/>
                <a:cs typeface="Tahoma"/>
              </a:rPr>
              <a:t>VARIABLES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50">
              <a:latin typeface="Tahoma"/>
              <a:cs typeface="Tahoma"/>
            </a:endParaRPr>
          </a:p>
          <a:p>
            <a:pPr marL="235585" marR="453390" lvl="1" indent="-235585" algn="ctr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235585" algn="l"/>
              </a:tabLst>
            </a:pPr>
            <a:r>
              <a:rPr sz="1850" spc="229" dirty="0">
                <a:latin typeface="Tahoma"/>
                <a:cs typeface="Tahoma"/>
              </a:rPr>
              <a:t>ENCODED</a:t>
            </a:r>
            <a:r>
              <a:rPr sz="1850" spc="-65" dirty="0">
                <a:latin typeface="Tahoma"/>
                <a:cs typeface="Tahoma"/>
              </a:rPr>
              <a:t> </a:t>
            </a:r>
            <a:r>
              <a:rPr sz="1850" spc="135" dirty="0">
                <a:latin typeface="Tahoma"/>
                <a:cs typeface="Tahoma"/>
              </a:rPr>
              <a:t>CATEGORICAL</a:t>
            </a:r>
            <a:r>
              <a:rPr sz="1850" spc="-65" dirty="0">
                <a:latin typeface="Tahoma"/>
                <a:cs typeface="Tahoma"/>
              </a:rPr>
              <a:t> </a:t>
            </a:r>
            <a:r>
              <a:rPr sz="1850" spc="150" dirty="0">
                <a:latin typeface="Tahoma"/>
                <a:cs typeface="Tahoma"/>
              </a:rPr>
              <a:t>FEATURES</a:t>
            </a:r>
            <a:r>
              <a:rPr sz="1850" spc="-60" dirty="0">
                <a:latin typeface="Tahoma"/>
                <a:cs typeface="Tahoma"/>
              </a:rPr>
              <a:t> </a:t>
            </a:r>
            <a:r>
              <a:rPr sz="1850" spc="90" dirty="0">
                <a:latin typeface="Tahoma"/>
                <a:cs typeface="Tahoma"/>
              </a:rPr>
              <a:t>INCLUDING:</a:t>
            </a:r>
            <a:endParaRPr sz="1850">
              <a:latin typeface="Tahoma"/>
              <a:cs typeface="Tahoma"/>
            </a:endParaRPr>
          </a:p>
          <a:p>
            <a:pPr marL="282575" marR="453390" lvl="1" indent="-282575" algn="ctr">
              <a:lnSpc>
                <a:spcPct val="100000"/>
              </a:lnSpc>
              <a:spcBef>
                <a:spcPts val="330"/>
              </a:spcBef>
              <a:buAutoNum type="arabicPlain"/>
              <a:tabLst>
                <a:tab pos="282575" algn="l"/>
              </a:tabLst>
            </a:pPr>
            <a:r>
              <a:rPr sz="1850" spc="155" dirty="0">
                <a:latin typeface="Tahoma"/>
                <a:cs typeface="Tahoma"/>
              </a:rPr>
              <a:t>COUNTRY</a:t>
            </a:r>
            <a:endParaRPr sz="1850">
              <a:latin typeface="Tahoma"/>
              <a:cs typeface="Tahoma"/>
            </a:endParaRPr>
          </a:p>
          <a:p>
            <a:pPr marL="283845" marR="453390" lvl="1" indent="-283845" algn="ctr">
              <a:lnSpc>
                <a:spcPct val="100000"/>
              </a:lnSpc>
              <a:spcBef>
                <a:spcPts val="330"/>
              </a:spcBef>
              <a:buAutoNum type="arabicPlain"/>
              <a:tabLst>
                <a:tab pos="283845" algn="l"/>
              </a:tabLst>
            </a:pPr>
            <a:r>
              <a:rPr sz="1850" spc="195" dirty="0">
                <a:latin typeface="Tahoma"/>
                <a:cs typeface="Tahoma"/>
              </a:rPr>
              <a:t>PRODUCT</a:t>
            </a:r>
            <a:r>
              <a:rPr sz="1850" spc="-70" dirty="0">
                <a:latin typeface="Tahoma"/>
                <a:cs typeface="Tahoma"/>
              </a:rPr>
              <a:t> </a:t>
            </a:r>
            <a:r>
              <a:rPr sz="1850" spc="135" dirty="0">
                <a:latin typeface="Tahoma"/>
                <a:cs typeface="Tahoma"/>
              </a:rPr>
              <a:t>CATEGORY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53145" cy="10287000"/>
            <a:chOff x="0" y="0"/>
            <a:chExt cx="8653145" cy="10287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942715" cy="10287000"/>
            </a:xfrm>
            <a:custGeom>
              <a:avLst/>
              <a:gdLst/>
              <a:ahLst/>
              <a:cxnLst/>
              <a:rect l="l" t="t" r="r" b="b"/>
              <a:pathLst>
                <a:path w="3942715" h="10287000">
                  <a:moveTo>
                    <a:pt x="3456580" y="10286999"/>
                  </a:moveTo>
                  <a:lnTo>
                    <a:pt x="164071" y="10286999"/>
                  </a:lnTo>
                  <a:lnTo>
                    <a:pt x="116058" y="10284622"/>
                  </a:lnTo>
                  <a:lnTo>
                    <a:pt x="68858" y="10277579"/>
                  </a:lnTo>
                  <a:lnTo>
                    <a:pt x="22791" y="10266001"/>
                  </a:lnTo>
                  <a:lnTo>
                    <a:pt x="0" y="10257839"/>
                  </a:lnTo>
                  <a:lnTo>
                    <a:pt x="0" y="29160"/>
                  </a:lnTo>
                  <a:lnTo>
                    <a:pt x="68858" y="9420"/>
                  </a:lnTo>
                  <a:lnTo>
                    <a:pt x="116058" y="2377"/>
                  </a:lnTo>
                  <a:lnTo>
                    <a:pt x="164071" y="0"/>
                  </a:lnTo>
                  <a:lnTo>
                    <a:pt x="3456580" y="0"/>
                  </a:lnTo>
                  <a:lnTo>
                    <a:pt x="3504593" y="2377"/>
                  </a:lnTo>
                  <a:lnTo>
                    <a:pt x="3551793" y="9420"/>
                  </a:lnTo>
                  <a:lnTo>
                    <a:pt x="3597861" y="20997"/>
                  </a:lnTo>
                  <a:lnTo>
                    <a:pt x="3642478" y="36977"/>
                  </a:lnTo>
                  <a:lnTo>
                    <a:pt x="3685327" y="57227"/>
                  </a:lnTo>
                  <a:lnTo>
                    <a:pt x="3726088" y="81615"/>
                  </a:lnTo>
                  <a:lnTo>
                    <a:pt x="3764444" y="110010"/>
                  </a:lnTo>
                  <a:lnTo>
                    <a:pt x="3800075" y="142280"/>
                  </a:lnTo>
                  <a:lnTo>
                    <a:pt x="3832344" y="177911"/>
                  </a:lnTo>
                  <a:lnTo>
                    <a:pt x="3860739" y="216266"/>
                  </a:lnTo>
                  <a:lnTo>
                    <a:pt x="3885128" y="257028"/>
                  </a:lnTo>
                  <a:lnTo>
                    <a:pt x="3905378" y="299876"/>
                  </a:lnTo>
                  <a:lnTo>
                    <a:pt x="3921357" y="344494"/>
                  </a:lnTo>
                  <a:lnTo>
                    <a:pt x="3932935" y="390562"/>
                  </a:lnTo>
                  <a:lnTo>
                    <a:pt x="3939978" y="437762"/>
                  </a:lnTo>
                  <a:lnTo>
                    <a:pt x="3942355" y="485775"/>
                  </a:lnTo>
                  <a:lnTo>
                    <a:pt x="3942355" y="9801224"/>
                  </a:lnTo>
                  <a:lnTo>
                    <a:pt x="3939978" y="9849237"/>
                  </a:lnTo>
                  <a:lnTo>
                    <a:pt x="3932935" y="9896437"/>
                  </a:lnTo>
                  <a:lnTo>
                    <a:pt x="3921357" y="9942505"/>
                  </a:lnTo>
                  <a:lnTo>
                    <a:pt x="3905378" y="9987122"/>
                  </a:lnTo>
                  <a:lnTo>
                    <a:pt x="3885128" y="10029971"/>
                  </a:lnTo>
                  <a:lnTo>
                    <a:pt x="3860739" y="10070732"/>
                  </a:lnTo>
                  <a:lnTo>
                    <a:pt x="3832344" y="10109088"/>
                  </a:lnTo>
                  <a:lnTo>
                    <a:pt x="3800075" y="10144719"/>
                  </a:lnTo>
                  <a:lnTo>
                    <a:pt x="3764444" y="10176989"/>
                  </a:lnTo>
                  <a:lnTo>
                    <a:pt x="3726088" y="10205384"/>
                  </a:lnTo>
                  <a:lnTo>
                    <a:pt x="3685327" y="10229772"/>
                  </a:lnTo>
                  <a:lnTo>
                    <a:pt x="3642478" y="10250022"/>
                  </a:lnTo>
                  <a:lnTo>
                    <a:pt x="3597861" y="10266001"/>
                  </a:lnTo>
                  <a:lnTo>
                    <a:pt x="3551793" y="10277579"/>
                  </a:lnTo>
                  <a:lnTo>
                    <a:pt x="3504593" y="10284622"/>
                  </a:lnTo>
                  <a:lnTo>
                    <a:pt x="3456580" y="1028699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523" y="2161932"/>
              <a:ext cx="6968279" cy="68124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29803" y="1927533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5">
                  <a:moveTo>
                    <a:pt x="911499" y="1822998"/>
                  </a:moveTo>
                  <a:lnTo>
                    <a:pt x="863090" y="1821735"/>
                  </a:lnTo>
                  <a:lnTo>
                    <a:pt x="815339" y="1817987"/>
                  </a:lnTo>
                  <a:lnTo>
                    <a:pt x="768310" y="1811816"/>
                  </a:lnTo>
                  <a:lnTo>
                    <a:pt x="722064" y="1803287"/>
                  </a:lnTo>
                  <a:lnTo>
                    <a:pt x="676666" y="1792462"/>
                  </a:lnTo>
                  <a:lnTo>
                    <a:pt x="632177" y="1779404"/>
                  </a:lnTo>
                  <a:lnTo>
                    <a:pt x="588662" y="1764176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4" y="1706101"/>
                  </a:lnTo>
                  <a:lnTo>
                    <a:pt x="425591" y="1682823"/>
                  </a:lnTo>
                  <a:lnTo>
                    <a:pt x="387886" y="1657690"/>
                  </a:lnTo>
                  <a:lnTo>
                    <a:pt x="351532" y="1630765"/>
                  </a:lnTo>
                  <a:lnTo>
                    <a:pt x="316592" y="1602111"/>
                  </a:lnTo>
                  <a:lnTo>
                    <a:pt x="283129" y="1571791"/>
                  </a:lnTo>
                  <a:lnTo>
                    <a:pt x="251206" y="1539869"/>
                  </a:lnTo>
                  <a:lnTo>
                    <a:pt x="220886" y="1506406"/>
                  </a:lnTo>
                  <a:lnTo>
                    <a:pt x="192232" y="1471466"/>
                  </a:lnTo>
                  <a:lnTo>
                    <a:pt x="165307" y="1435111"/>
                  </a:lnTo>
                  <a:lnTo>
                    <a:pt x="140174" y="1397406"/>
                  </a:lnTo>
                  <a:lnTo>
                    <a:pt x="116896" y="1358413"/>
                  </a:lnTo>
                  <a:lnTo>
                    <a:pt x="95536" y="1318195"/>
                  </a:lnTo>
                  <a:lnTo>
                    <a:pt x="76157" y="1276815"/>
                  </a:lnTo>
                  <a:lnTo>
                    <a:pt x="58822" y="1234336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4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8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40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8"/>
                  </a:lnTo>
                  <a:lnTo>
                    <a:pt x="58822" y="588662"/>
                  </a:lnTo>
                  <a:lnTo>
                    <a:pt x="76157" y="546183"/>
                  </a:lnTo>
                  <a:lnTo>
                    <a:pt x="95536" y="504803"/>
                  </a:lnTo>
                  <a:lnTo>
                    <a:pt x="116896" y="464585"/>
                  </a:lnTo>
                  <a:lnTo>
                    <a:pt x="140174" y="425592"/>
                  </a:lnTo>
                  <a:lnTo>
                    <a:pt x="165307" y="387887"/>
                  </a:lnTo>
                  <a:lnTo>
                    <a:pt x="192232" y="351532"/>
                  </a:lnTo>
                  <a:lnTo>
                    <a:pt x="220886" y="316592"/>
                  </a:lnTo>
                  <a:lnTo>
                    <a:pt x="251206" y="283129"/>
                  </a:lnTo>
                  <a:lnTo>
                    <a:pt x="283129" y="251206"/>
                  </a:lnTo>
                  <a:lnTo>
                    <a:pt x="316592" y="220887"/>
                  </a:lnTo>
                  <a:lnTo>
                    <a:pt x="351532" y="192233"/>
                  </a:lnTo>
                  <a:lnTo>
                    <a:pt x="387886" y="165308"/>
                  </a:lnTo>
                  <a:lnTo>
                    <a:pt x="425591" y="140175"/>
                  </a:lnTo>
                  <a:lnTo>
                    <a:pt x="464584" y="116897"/>
                  </a:lnTo>
                  <a:lnTo>
                    <a:pt x="504803" y="95537"/>
                  </a:lnTo>
                  <a:lnTo>
                    <a:pt x="546183" y="76158"/>
                  </a:lnTo>
                  <a:lnTo>
                    <a:pt x="588662" y="58822"/>
                  </a:lnTo>
                  <a:lnTo>
                    <a:pt x="632177" y="43594"/>
                  </a:lnTo>
                  <a:lnTo>
                    <a:pt x="676666" y="30536"/>
                  </a:lnTo>
                  <a:lnTo>
                    <a:pt x="722064" y="19711"/>
                  </a:lnTo>
                  <a:lnTo>
                    <a:pt x="768310" y="11182"/>
                  </a:lnTo>
                  <a:lnTo>
                    <a:pt x="815339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7" y="1263"/>
                  </a:lnTo>
                  <a:lnTo>
                    <a:pt x="1007658" y="5011"/>
                  </a:lnTo>
                  <a:lnTo>
                    <a:pt x="1054688" y="11182"/>
                  </a:lnTo>
                  <a:lnTo>
                    <a:pt x="1100933" y="19711"/>
                  </a:lnTo>
                  <a:lnTo>
                    <a:pt x="1146332" y="30536"/>
                  </a:lnTo>
                  <a:lnTo>
                    <a:pt x="1190820" y="43594"/>
                  </a:lnTo>
                  <a:lnTo>
                    <a:pt x="1234336" y="58822"/>
                  </a:lnTo>
                  <a:lnTo>
                    <a:pt x="1276815" y="76158"/>
                  </a:lnTo>
                  <a:lnTo>
                    <a:pt x="1318195" y="95537"/>
                  </a:lnTo>
                  <a:lnTo>
                    <a:pt x="1358413" y="116897"/>
                  </a:lnTo>
                  <a:lnTo>
                    <a:pt x="1397406" y="140175"/>
                  </a:lnTo>
                  <a:lnTo>
                    <a:pt x="1435111" y="165308"/>
                  </a:lnTo>
                  <a:lnTo>
                    <a:pt x="1471465" y="192233"/>
                  </a:lnTo>
                  <a:lnTo>
                    <a:pt x="1506406" y="220887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2" y="316592"/>
                  </a:lnTo>
                  <a:lnTo>
                    <a:pt x="1630766" y="351532"/>
                  </a:lnTo>
                  <a:lnTo>
                    <a:pt x="1657691" y="387887"/>
                  </a:lnTo>
                  <a:lnTo>
                    <a:pt x="1682824" y="425592"/>
                  </a:lnTo>
                  <a:lnTo>
                    <a:pt x="1706102" y="464585"/>
                  </a:lnTo>
                  <a:lnTo>
                    <a:pt x="1727462" y="504803"/>
                  </a:lnTo>
                  <a:lnTo>
                    <a:pt x="1746841" y="546183"/>
                  </a:lnTo>
                  <a:lnTo>
                    <a:pt x="1764176" y="588662"/>
                  </a:lnTo>
                  <a:lnTo>
                    <a:pt x="1779404" y="632178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7" y="768310"/>
                  </a:lnTo>
                  <a:lnTo>
                    <a:pt x="1817987" y="815340"/>
                  </a:lnTo>
                  <a:lnTo>
                    <a:pt x="1821735" y="863090"/>
                  </a:lnTo>
                  <a:lnTo>
                    <a:pt x="1822999" y="911499"/>
                  </a:lnTo>
                  <a:lnTo>
                    <a:pt x="1821735" y="959908"/>
                  </a:lnTo>
                  <a:lnTo>
                    <a:pt x="1817987" y="1007658"/>
                  </a:lnTo>
                  <a:lnTo>
                    <a:pt x="1811817" y="1054688"/>
                  </a:lnTo>
                  <a:lnTo>
                    <a:pt x="1803287" y="1100934"/>
                  </a:lnTo>
                  <a:lnTo>
                    <a:pt x="1792462" y="1146332"/>
                  </a:lnTo>
                  <a:lnTo>
                    <a:pt x="1779404" y="1190820"/>
                  </a:lnTo>
                  <a:lnTo>
                    <a:pt x="1764176" y="1234336"/>
                  </a:lnTo>
                  <a:lnTo>
                    <a:pt x="1746841" y="1276815"/>
                  </a:lnTo>
                  <a:lnTo>
                    <a:pt x="1727462" y="1318195"/>
                  </a:lnTo>
                  <a:lnTo>
                    <a:pt x="1706102" y="1358413"/>
                  </a:lnTo>
                  <a:lnTo>
                    <a:pt x="1682824" y="1397406"/>
                  </a:lnTo>
                  <a:lnTo>
                    <a:pt x="1657691" y="1435111"/>
                  </a:lnTo>
                  <a:lnTo>
                    <a:pt x="1630766" y="1471466"/>
                  </a:lnTo>
                  <a:lnTo>
                    <a:pt x="1602112" y="1506406"/>
                  </a:lnTo>
                  <a:lnTo>
                    <a:pt x="1571792" y="1539869"/>
                  </a:lnTo>
                  <a:lnTo>
                    <a:pt x="1539869" y="1571791"/>
                  </a:lnTo>
                  <a:lnTo>
                    <a:pt x="1506406" y="1602111"/>
                  </a:lnTo>
                  <a:lnTo>
                    <a:pt x="1471465" y="1630765"/>
                  </a:lnTo>
                  <a:lnTo>
                    <a:pt x="1435111" y="1657690"/>
                  </a:lnTo>
                  <a:lnTo>
                    <a:pt x="1397406" y="1682823"/>
                  </a:lnTo>
                  <a:lnTo>
                    <a:pt x="1358413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6" y="1764176"/>
                  </a:lnTo>
                  <a:lnTo>
                    <a:pt x="1190820" y="1779404"/>
                  </a:lnTo>
                  <a:lnTo>
                    <a:pt x="1146332" y="1792462"/>
                  </a:lnTo>
                  <a:lnTo>
                    <a:pt x="1100933" y="1803287"/>
                  </a:lnTo>
                  <a:lnTo>
                    <a:pt x="1054688" y="1811816"/>
                  </a:lnTo>
                  <a:lnTo>
                    <a:pt x="1007658" y="1817987"/>
                  </a:lnTo>
                  <a:lnTo>
                    <a:pt x="959907" y="1821735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0238" y="2497967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4" y="682130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6" y="655327"/>
                  </a:lnTo>
                  <a:lnTo>
                    <a:pt x="168922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7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7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2" y="46565"/>
                  </a:lnTo>
                  <a:lnTo>
                    <a:pt x="208306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4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2" y="26802"/>
                  </a:lnTo>
                  <a:lnTo>
                    <a:pt x="513206" y="46565"/>
                  </a:lnTo>
                  <a:lnTo>
                    <a:pt x="549479" y="71065"/>
                  </a:lnTo>
                  <a:lnTo>
                    <a:pt x="582234" y="99895"/>
                  </a:lnTo>
                  <a:lnTo>
                    <a:pt x="611064" y="132650"/>
                  </a:lnTo>
                  <a:lnTo>
                    <a:pt x="635564" y="168922"/>
                  </a:lnTo>
                  <a:lnTo>
                    <a:pt x="655327" y="208307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7"/>
                  </a:lnTo>
                  <a:lnTo>
                    <a:pt x="611064" y="549479"/>
                  </a:lnTo>
                  <a:lnTo>
                    <a:pt x="582234" y="582234"/>
                  </a:lnTo>
                  <a:lnTo>
                    <a:pt x="549479" y="611064"/>
                  </a:lnTo>
                  <a:lnTo>
                    <a:pt x="513206" y="635564"/>
                  </a:lnTo>
                  <a:lnTo>
                    <a:pt x="473822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4" y="682130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997858" y="9070671"/>
            <a:ext cx="1160780" cy="1160780"/>
            <a:chOff x="16997858" y="9070671"/>
            <a:chExt cx="1160780" cy="1160780"/>
          </a:xfrm>
        </p:grpSpPr>
        <p:sp>
          <p:nvSpPr>
            <p:cNvPr id="12" name="object 12"/>
            <p:cNvSpPr/>
            <p:nvPr/>
          </p:nvSpPr>
          <p:spPr>
            <a:xfrm>
              <a:off x="16997858" y="9070671"/>
              <a:ext cx="1160780" cy="1160780"/>
            </a:xfrm>
            <a:custGeom>
              <a:avLst/>
              <a:gdLst/>
              <a:ahLst/>
              <a:cxnLst/>
              <a:rect l="l" t="t" r="r" b="b"/>
              <a:pathLst>
                <a:path w="1160780" h="1160779">
                  <a:moveTo>
                    <a:pt x="580281" y="1160561"/>
                  </a:moveTo>
                  <a:lnTo>
                    <a:pt x="532688" y="1158638"/>
                  </a:lnTo>
                  <a:lnTo>
                    <a:pt x="486155" y="1152966"/>
                  </a:lnTo>
                  <a:lnTo>
                    <a:pt x="440832" y="1143697"/>
                  </a:lnTo>
                  <a:lnTo>
                    <a:pt x="396866" y="1130978"/>
                  </a:lnTo>
                  <a:lnTo>
                    <a:pt x="354409" y="1114960"/>
                  </a:lnTo>
                  <a:lnTo>
                    <a:pt x="313608" y="1095791"/>
                  </a:lnTo>
                  <a:lnTo>
                    <a:pt x="274613" y="1073622"/>
                  </a:lnTo>
                  <a:lnTo>
                    <a:pt x="237574" y="1048601"/>
                  </a:lnTo>
                  <a:lnTo>
                    <a:pt x="202640" y="1020877"/>
                  </a:lnTo>
                  <a:lnTo>
                    <a:pt x="169960" y="990601"/>
                  </a:lnTo>
                  <a:lnTo>
                    <a:pt x="139683" y="957921"/>
                  </a:lnTo>
                  <a:lnTo>
                    <a:pt x="111960" y="922987"/>
                  </a:lnTo>
                  <a:lnTo>
                    <a:pt x="86939" y="885948"/>
                  </a:lnTo>
                  <a:lnTo>
                    <a:pt x="64769" y="846953"/>
                  </a:lnTo>
                  <a:lnTo>
                    <a:pt x="45601" y="806152"/>
                  </a:lnTo>
                  <a:lnTo>
                    <a:pt x="29583" y="763694"/>
                  </a:lnTo>
                  <a:lnTo>
                    <a:pt x="16864" y="719729"/>
                  </a:lnTo>
                  <a:lnTo>
                    <a:pt x="7594" y="674405"/>
                  </a:lnTo>
                  <a:lnTo>
                    <a:pt x="1923" y="627873"/>
                  </a:lnTo>
                  <a:lnTo>
                    <a:pt x="0" y="580280"/>
                  </a:lnTo>
                  <a:lnTo>
                    <a:pt x="1923" y="532688"/>
                  </a:lnTo>
                  <a:lnTo>
                    <a:pt x="7594" y="486155"/>
                  </a:lnTo>
                  <a:lnTo>
                    <a:pt x="16864" y="440832"/>
                  </a:lnTo>
                  <a:lnTo>
                    <a:pt x="29583" y="396866"/>
                  </a:lnTo>
                  <a:lnTo>
                    <a:pt x="45601" y="354409"/>
                  </a:lnTo>
                  <a:lnTo>
                    <a:pt x="64769" y="313608"/>
                  </a:lnTo>
                  <a:lnTo>
                    <a:pt x="86939" y="274613"/>
                  </a:lnTo>
                  <a:lnTo>
                    <a:pt x="111960" y="237574"/>
                  </a:lnTo>
                  <a:lnTo>
                    <a:pt x="139683" y="202640"/>
                  </a:lnTo>
                  <a:lnTo>
                    <a:pt x="169960" y="169960"/>
                  </a:lnTo>
                  <a:lnTo>
                    <a:pt x="202640" y="139683"/>
                  </a:lnTo>
                  <a:lnTo>
                    <a:pt x="237574" y="111960"/>
                  </a:lnTo>
                  <a:lnTo>
                    <a:pt x="274613" y="86939"/>
                  </a:lnTo>
                  <a:lnTo>
                    <a:pt x="313608" y="64769"/>
                  </a:lnTo>
                  <a:lnTo>
                    <a:pt x="354409" y="45601"/>
                  </a:lnTo>
                  <a:lnTo>
                    <a:pt x="396866" y="29583"/>
                  </a:lnTo>
                  <a:lnTo>
                    <a:pt x="440832" y="16864"/>
                  </a:lnTo>
                  <a:lnTo>
                    <a:pt x="486155" y="7594"/>
                  </a:lnTo>
                  <a:lnTo>
                    <a:pt x="532688" y="1923"/>
                  </a:lnTo>
                  <a:lnTo>
                    <a:pt x="580281" y="0"/>
                  </a:lnTo>
                  <a:lnTo>
                    <a:pt x="627873" y="1923"/>
                  </a:lnTo>
                  <a:lnTo>
                    <a:pt x="674405" y="7594"/>
                  </a:lnTo>
                  <a:lnTo>
                    <a:pt x="719729" y="16864"/>
                  </a:lnTo>
                  <a:lnTo>
                    <a:pt x="763694" y="29583"/>
                  </a:lnTo>
                  <a:lnTo>
                    <a:pt x="806152" y="45601"/>
                  </a:lnTo>
                  <a:lnTo>
                    <a:pt x="846953" y="64769"/>
                  </a:lnTo>
                  <a:lnTo>
                    <a:pt x="885948" y="86939"/>
                  </a:lnTo>
                  <a:lnTo>
                    <a:pt x="922987" y="111960"/>
                  </a:lnTo>
                  <a:lnTo>
                    <a:pt x="957921" y="139683"/>
                  </a:lnTo>
                  <a:lnTo>
                    <a:pt x="990601" y="169960"/>
                  </a:lnTo>
                  <a:lnTo>
                    <a:pt x="1020877" y="202640"/>
                  </a:lnTo>
                  <a:lnTo>
                    <a:pt x="1048601" y="237574"/>
                  </a:lnTo>
                  <a:lnTo>
                    <a:pt x="1073622" y="274613"/>
                  </a:lnTo>
                  <a:lnTo>
                    <a:pt x="1095791" y="313608"/>
                  </a:lnTo>
                  <a:lnTo>
                    <a:pt x="1114960" y="354409"/>
                  </a:lnTo>
                  <a:lnTo>
                    <a:pt x="1130978" y="396866"/>
                  </a:lnTo>
                  <a:lnTo>
                    <a:pt x="1143697" y="440832"/>
                  </a:lnTo>
                  <a:lnTo>
                    <a:pt x="1152966" y="486155"/>
                  </a:lnTo>
                  <a:lnTo>
                    <a:pt x="1158638" y="532688"/>
                  </a:lnTo>
                  <a:lnTo>
                    <a:pt x="1160561" y="580281"/>
                  </a:lnTo>
                  <a:lnTo>
                    <a:pt x="1158638" y="627873"/>
                  </a:lnTo>
                  <a:lnTo>
                    <a:pt x="1152966" y="674405"/>
                  </a:lnTo>
                  <a:lnTo>
                    <a:pt x="1143697" y="719729"/>
                  </a:lnTo>
                  <a:lnTo>
                    <a:pt x="1130978" y="763694"/>
                  </a:lnTo>
                  <a:lnTo>
                    <a:pt x="1114960" y="806152"/>
                  </a:lnTo>
                  <a:lnTo>
                    <a:pt x="1095791" y="846953"/>
                  </a:lnTo>
                  <a:lnTo>
                    <a:pt x="1073622" y="885948"/>
                  </a:lnTo>
                  <a:lnTo>
                    <a:pt x="1048601" y="922987"/>
                  </a:lnTo>
                  <a:lnTo>
                    <a:pt x="1020877" y="957921"/>
                  </a:lnTo>
                  <a:lnTo>
                    <a:pt x="990601" y="990601"/>
                  </a:lnTo>
                  <a:lnTo>
                    <a:pt x="957921" y="1020877"/>
                  </a:lnTo>
                  <a:lnTo>
                    <a:pt x="922987" y="1048601"/>
                  </a:lnTo>
                  <a:lnTo>
                    <a:pt x="885948" y="1073622"/>
                  </a:lnTo>
                  <a:lnTo>
                    <a:pt x="846953" y="1095791"/>
                  </a:lnTo>
                  <a:lnTo>
                    <a:pt x="806152" y="1114960"/>
                  </a:lnTo>
                  <a:lnTo>
                    <a:pt x="763694" y="1130978"/>
                  </a:lnTo>
                  <a:lnTo>
                    <a:pt x="719729" y="1143697"/>
                  </a:lnTo>
                  <a:lnTo>
                    <a:pt x="674405" y="1152966"/>
                  </a:lnTo>
                  <a:lnTo>
                    <a:pt x="627873" y="1158638"/>
                  </a:lnTo>
                  <a:lnTo>
                    <a:pt x="580281" y="116056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460049" y="9350849"/>
              <a:ext cx="332105" cy="600710"/>
            </a:xfrm>
            <a:custGeom>
              <a:avLst/>
              <a:gdLst/>
              <a:ahLst/>
              <a:cxnLst/>
              <a:rect l="l" t="t" r="r" b="b"/>
              <a:pathLst>
                <a:path w="332105" h="600709">
                  <a:moveTo>
                    <a:pt x="31754" y="600201"/>
                  </a:moveTo>
                  <a:lnTo>
                    <a:pt x="0" y="568446"/>
                  </a:lnTo>
                  <a:lnTo>
                    <a:pt x="268336" y="300103"/>
                  </a:lnTo>
                  <a:lnTo>
                    <a:pt x="0" y="31754"/>
                  </a:lnTo>
                  <a:lnTo>
                    <a:pt x="31754" y="0"/>
                  </a:lnTo>
                  <a:lnTo>
                    <a:pt x="331858" y="300103"/>
                  </a:lnTo>
                  <a:lnTo>
                    <a:pt x="31754" y="600201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40102" y="1862272"/>
            <a:ext cx="9314815" cy="5708015"/>
          </a:xfrm>
          <a:prstGeom prst="rect">
            <a:avLst/>
          </a:prstGeom>
        </p:spPr>
        <p:txBody>
          <a:bodyPr vert="horz" wrap="square" lIns="0" tIns="271780" rIns="0" bIns="0" rtlCol="0">
            <a:spAutoFit/>
          </a:bodyPr>
          <a:lstStyle/>
          <a:p>
            <a:pPr marL="497840" marR="2010410">
              <a:lnSpc>
                <a:spcPct val="74100"/>
              </a:lnSpc>
              <a:spcBef>
                <a:spcPts val="2140"/>
              </a:spcBef>
            </a:pPr>
            <a:r>
              <a:rPr sz="6600" b="1" dirty="0">
                <a:solidFill>
                  <a:srgbClr val="0F1B40"/>
                </a:solidFill>
                <a:latin typeface="Tahoma"/>
                <a:cs typeface="Tahoma"/>
              </a:rPr>
              <a:t>Data</a:t>
            </a:r>
            <a:r>
              <a:rPr sz="6600" b="1" spc="9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25" dirty="0">
                <a:solidFill>
                  <a:srgbClr val="0F1B40"/>
                </a:solidFill>
                <a:latin typeface="Tahoma"/>
                <a:cs typeface="Tahoma"/>
              </a:rPr>
              <a:t>Cleaning</a:t>
            </a:r>
            <a:r>
              <a:rPr sz="6600" b="1" spc="9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465" dirty="0">
                <a:solidFill>
                  <a:srgbClr val="0F1B40"/>
                </a:solidFill>
                <a:latin typeface="Tahoma"/>
                <a:cs typeface="Tahoma"/>
              </a:rPr>
              <a:t>&amp; </a:t>
            </a:r>
            <a:r>
              <a:rPr sz="6600" b="1" spc="-75" dirty="0">
                <a:solidFill>
                  <a:srgbClr val="0F1B40"/>
                </a:solidFill>
                <a:latin typeface="Tahoma"/>
                <a:cs typeface="Tahoma"/>
              </a:rPr>
              <a:t>Preprocessing</a:t>
            </a:r>
            <a:endParaRPr sz="6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2550" b="1" i="1" spc="-440" dirty="0">
                <a:solidFill>
                  <a:srgbClr val="8FA3C1"/>
                </a:solidFill>
                <a:latin typeface="Verdana"/>
                <a:cs typeface="Verdana"/>
              </a:rPr>
              <a:t>IN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15" dirty="0">
                <a:solidFill>
                  <a:srgbClr val="8FA3C1"/>
                </a:solidFill>
                <a:latin typeface="Verdana"/>
                <a:cs typeface="Verdana"/>
              </a:rPr>
              <a:t>PREPROCESSING,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125" dirty="0">
                <a:solidFill>
                  <a:srgbClr val="8FA3C1"/>
                </a:solidFill>
                <a:latin typeface="Verdana"/>
                <a:cs typeface="Verdana"/>
              </a:rPr>
              <a:t>WE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90" dirty="0">
                <a:solidFill>
                  <a:srgbClr val="8FA3C1"/>
                </a:solidFill>
                <a:latin typeface="Verdana"/>
                <a:cs typeface="Verdana"/>
              </a:rPr>
              <a:t>APPLIED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270" dirty="0">
                <a:solidFill>
                  <a:srgbClr val="8FA3C1"/>
                </a:solidFill>
                <a:latin typeface="Verdana"/>
                <a:cs typeface="Verdana"/>
              </a:rPr>
              <a:t>SEVERAL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0" dirty="0">
                <a:solidFill>
                  <a:srgbClr val="8FA3C1"/>
                </a:solidFill>
                <a:latin typeface="Verdana"/>
                <a:cs typeface="Verdana"/>
              </a:rPr>
              <a:t>ESSENTIAL</a:t>
            </a:r>
            <a:r>
              <a:rPr sz="2550" b="1" i="1" spc="-50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550" b="1" i="1" spc="-355" dirty="0">
                <a:solidFill>
                  <a:srgbClr val="8FA3C1"/>
                </a:solidFill>
                <a:latin typeface="Verdana"/>
                <a:cs typeface="Verdana"/>
              </a:rPr>
              <a:t>STEPS:</a:t>
            </a:r>
            <a:endParaRPr sz="2550">
              <a:latin typeface="Verdana"/>
              <a:cs typeface="Verdana"/>
            </a:endParaRPr>
          </a:p>
          <a:p>
            <a:pPr marR="61594" algn="ctr">
              <a:lnSpc>
                <a:spcPct val="100000"/>
              </a:lnSpc>
              <a:spcBef>
                <a:spcPts val="1910"/>
              </a:spcBef>
            </a:pPr>
            <a:r>
              <a:rPr sz="1950" b="1" spc="-75" dirty="0">
                <a:latin typeface="Tahoma"/>
                <a:cs typeface="Tahoma"/>
              </a:rPr>
              <a:t>7-</a:t>
            </a:r>
            <a:r>
              <a:rPr sz="1950" b="1" spc="-65" dirty="0">
                <a:latin typeface="Tahoma"/>
                <a:cs typeface="Tahoma"/>
              </a:rPr>
              <a:t> </a:t>
            </a:r>
            <a:r>
              <a:rPr sz="1950" b="1" spc="-10" dirty="0">
                <a:latin typeface="Tahoma"/>
                <a:cs typeface="Tahoma"/>
              </a:rPr>
              <a:t>NORMALIZATION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950">
              <a:latin typeface="Tahoma"/>
              <a:cs typeface="Tahoma"/>
            </a:endParaRPr>
          </a:p>
          <a:p>
            <a:pPr marR="61594" algn="ctr">
              <a:lnSpc>
                <a:spcPct val="100000"/>
              </a:lnSpc>
            </a:pPr>
            <a:r>
              <a:rPr sz="1950" spc="195" dirty="0">
                <a:latin typeface="Tahoma"/>
                <a:cs typeface="Tahoma"/>
              </a:rPr>
              <a:t>APPLIED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204" dirty="0">
                <a:latin typeface="Tahoma"/>
                <a:cs typeface="Tahoma"/>
              </a:rPr>
              <a:t>LOG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65" dirty="0">
                <a:latin typeface="Tahoma"/>
                <a:cs typeface="Tahoma"/>
              </a:rPr>
              <a:t>TRANSFORMATION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(NP.LOG)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05" dirty="0">
                <a:latin typeface="Tahoma"/>
                <a:cs typeface="Tahoma"/>
              </a:rPr>
              <a:t>TO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200" dirty="0">
                <a:latin typeface="Tahoma"/>
                <a:cs typeface="Tahoma"/>
              </a:rPr>
              <a:t>NUMERIC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20" dirty="0">
                <a:latin typeface="Tahoma"/>
                <a:cs typeface="Tahoma"/>
              </a:rPr>
              <a:t>FEATURES.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950">
              <a:latin typeface="Tahoma"/>
              <a:cs typeface="Tahoma"/>
            </a:endParaRPr>
          </a:p>
          <a:p>
            <a:pPr marR="61594" algn="ctr">
              <a:lnSpc>
                <a:spcPct val="100000"/>
              </a:lnSpc>
              <a:spcBef>
                <a:spcPts val="5"/>
              </a:spcBef>
            </a:pPr>
            <a:r>
              <a:rPr sz="1950" b="1" spc="-10" dirty="0">
                <a:latin typeface="Tahoma"/>
                <a:cs typeface="Tahoma"/>
              </a:rPr>
              <a:t>PURPOSE</a:t>
            </a:r>
            <a:r>
              <a:rPr sz="1950" spc="-10" dirty="0">
                <a:latin typeface="Tahoma"/>
                <a:cs typeface="Tahoma"/>
              </a:rPr>
              <a:t>: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950">
              <a:latin typeface="Tahoma"/>
              <a:cs typeface="Tahoma"/>
            </a:endParaRPr>
          </a:p>
          <a:p>
            <a:pPr marR="61594" algn="ctr">
              <a:lnSpc>
                <a:spcPct val="100000"/>
              </a:lnSpc>
            </a:pPr>
            <a:r>
              <a:rPr sz="1950" spc="229" dirty="0">
                <a:latin typeface="Tahoma"/>
                <a:cs typeface="Tahoma"/>
              </a:rPr>
              <a:t>REDUCE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200" dirty="0">
                <a:latin typeface="Tahoma"/>
                <a:cs typeface="Tahoma"/>
              </a:rPr>
              <a:t>SKEWNESS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70" dirty="0">
                <a:latin typeface="Tahoma"/>
                <a:cs typeface="Tahoma"/>
              </a:rPr>
              <a:t>IN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70" dirty="0">
                <a:latin typeface="Tahoma"/>
                <a:cs typeface="Tahoma"/>
              </a:rPr>
              <a:t>DATA.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950">
              <a:latin typeface="Tahoma"/>
              <a:cs typeface="Tahoma"/>
            </a:endParaRPr>
          </a:p>
          <a:p>
            <a:pPr marR="61594" algn="ctr">
              <a:lnSpc>
                <a:spcPct val="100000"/>
              </a:lnSpc>
            </a:pPr>
            <a:r>
              <a:rPr sz="1950" spc="180" dirty="0">
                <a:latin typeface="Tahoma"/>
                <a:cs typeface="Tahoma"/>
              </a:rPr>
              <a:t>SCALE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200" dirty="0">
                <a:latin typeface="Tahoma"/>
                <a:cs typeface="Tahoma"/>
              </a:rPr>
              <a:t>LARGE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80" dirty="0">
                <a:latin typeface="Tahoma"/>
                <a:cs typeface="Tahoma"/>
              </a:rPr>
              <a:t>VALUES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220" dirty="0">
                <a:latin typeface="Tahoma"/>
                <a:cs typeface="Tahoma"/>
              </a:rPr>
              <a:t>FOR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50" dirty="0">
                <a:latin typeface="Tahoma"/>
                <a:cs typeface="Tahoma"/>
              </a:rPr>
              <a:t>BETTER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254" dirty="0">
                <a:latin typeface="Tahoma"/>
                <a:cs typeface="Tahoma"/>
              </a:rPr>
              <a:t>MODEL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195" dirty="0">
                <a:latin typeface="Tahoma"/>
                <a:cs typeface="Tahoma"/>
              </a:rPr>
              <a:t>PERFORMANCE.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9177" y="9479426"/>
            <a:ext cx="127482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latin typeface="Tahoma"/>
                <a:cs typeface="Tahoma"/>
              </a:rPr>
              <a:t>“THESE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STEPS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65" dirty="0">
                <a:latin typeface="Tahoma"/>
                <a:cs typeface="Tahoma"/>
              </a:rPr>
              <a:t>ENSURED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55" dirty="0">
                <a:latin typeface="Tahoma"/>
                <a:cs typeface="Tahoma"/>
              </a:rPr>
              <a:t>THE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50" dirty="0">
                <a:latin typeface="Tahoma"/>
                <a:cs typeface="Tahoma"/>
              </a:rPr>
              <a:t>DATASET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105" dirty="0">
                <a:latin typeface="Tahoma"/>
                <a:cs typeface="Tahoma"/>
              </a:rPr>
              <a:t>WAS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CONSISTENT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110" dirty="0">
                <a:latin typeface="Tahoma"/>
                <a:cs typeface="Tahoma"/>
              </a:rPr>
              <a:t>AND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70" dirty="0">
                <a:latin typeface="Tahoma"/>
                <a:cs typeface="Tahoma"/>
              </a:rPr>
              <a:t>READY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75" dirty="0">
                <a:latin typeface="Tahoma"/>
                <a:cs typeface="Tahoma"/>
              </a:rPr>
              <a:t>FOR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ANALYSIS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110" dirty="0">
                <a:latin typeface="Tahoma"/>
                <a:cs typeface="Tahoma"/>
              </a:rPr>
              <a:t>AND</a:t>
            </a:r>
            <a:r>
              <a:rPr sz="1850" b="1" spc="20" dirty="0">
                <a:latin typeface="Tahoma"/>
                <a:cs typeface="Tahoma"/>
              </a:rPr>
              <a:t> </a:t>
            </a:r>
            <a:r>
              <a:rPr sz="1850" b="1" spc="-10" dirty="0">
                <a:latin typeface="Tahoma"/>
                <a:cs typeface="Tahoma"/>
              </a:rPr>
              <a:t>MODELING”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1539"/>
            <a:ext cx="18288000" cy="9828530"/>
            <a:chOff x="0" y="341539"/>
            <a:chExt cx="18288000" cy="9828530"/>
          </a:xfrm>
        </p:grpSpPr>
        <p:sp>
          <p:nvSpPr>
            <p:cNvPr id="3" name="object 3"/>
            <p:cNvSpPr/>
            <p:nvPr/>
          </p:nvSpPr>
          <p:spPr>
            <a:xfrm>
              <a:off x="350265" y="341539"/>
              <a:ext cx="17587595" cy="9604375"/>
            </a:xfrm>
            <a:custGeom>
              <a:avLst/>
              <a:gdLst/>
              <a:ahLst/>
              <a:cxnLst/>
              <a:rect l="l" t="t" r="r" b="b"/>
              <a:pathLst>
                <a:path w="17587595" h="9604375">
                  <a:moveTo>
                    <a:pt x="17101693" y="9603919"/>
                  </a:moveTo>
                  <a:lnTo>
                    <a:pt x="485774" y="9603919"/>
                  </a:lnTo>
                  <a:lnTo>
                    <a:pt x="437762" y="9601542"/>
                  </a:lnTo>
                  <a:lnTo>
                    <a:pt x="390562" y="9594499"/>
                  </a:lnTo>
                  <a:lnTo>
                    <a:pt x="344494" y="9582921"/>
                  </a:lnTo>
                  <a:lnTo>
                    <a:pt x="299876" y="9566942"/>
                  </a:lnTo>
                  <a:lnTo>
                    <a:pt x="257028" y="9546692"/>
                  </a:lnTo>
                  <a:lnTo>
                    <a:pt x="216266" y="9522303"/>
                  </a:lnTo>
                  <a:lnTo>
                    <a:pt x="177911" y="9493908"/>
                  </a:lnTo>
                  <a:lnTo>
                    <a:pt x="142280" y="9461639"/>
                  </a:lnTo>
                  <a:lnTo>
                    <a:pt x="110010" y="9426008"/>
                  </a:lnTo>
                  <a:lnTo>
                    <a:pt x="81615" y="9387652"/>
                  </a:lnTo>
                  <a:lnTo>
                    <a:pt x="57227" y="9346891"/>
                  </a:lnTo>
                  <a:lnTo>
                    <a:pt x="36977" y="9304042"/>
                  </a:lnTo>
                  <a:lnTo>
                    <a:pt x="20997" y="9259425"/>
                  </a:lnTo>
                  <a:lnTo>
                    <a:pt x="9420" y="9213357"/>
                  </a:lnTo>
                  <a:lnTo>
                    <a:pt x="2377" y="9166157"/>
                  </a:lnTo>
                  <a:lnTo>
                    <a:pt x="0" y="911814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7101693" y="0"/>
                  </a:lnTo>
                  <a:lnTo>
                    <a:pt x="17149706" y="2377"/>
                  </a:lnTo>
                  <a:lnTo>
                    <a:pt x="17196905" y="9420"/>
                  </a:lnTo>
                  <a:lnTo>
                    <a:pt x="17242973" y="20997"/>
                  </a:lnTo>
                  <a:lnTo>
                    <a:pt x="17287591" y="36977"/>
                  </a:lnTo>
                  <a:lnTo>
                    <a:pt x="17330440" y="57227"/>
                  </a:lnTo>
                  <a:lnTo>
                    <a:pt x="17371201" y="81615"/>
                  </a:lnTo>
                  <a:lnTo>
                    <a:pt x="17409557" y="110010"/>
                  </a:lnTo>
                  <a:lnTo>
                    <a:pt x="17445188" y="142280"/>
                  </a:lnTo>
                  <a:lnTo>
                    <a:pt x="17477457" y="177911"/>
                  </a:lnTo>
                  <a:lnTo>
                    <a:pt x="17505852" y="216266"/>
                  </a:lnTo>
                  <a:lnTo>
                    <a:pt x="17530240" y="257028"/>
                  </a:lnTo>
                  <a:lnTo>
                    <a:pt x="17550490" y="299876"/>
                  </a:lnTo>
                  <a:lnTo>
                    <a:pt x="17566470" y="344494"/>
                  </a:lnTo>
                  <a:lnTo>
                    <a:pt x="17578047" y="390562"/>
                  </a:lnTo>
                  <a:lnTo>
                    <a:pt x="17585091" y="437762"/>
                  </a:lnTo>
                  <a:lnTo>
                    <a:pt x="17587468" y="485774"/>
                  </a:lnTo>
                  <a:lnTo>
                    <a:pt x="17587468" y="9118144"/>
                  </a:lnTo>
                  <a:lnTo>
                    <a:pt x="17585091" y="9166157"/>
                  </a:lnTo>
                  <a:lnTo>
                    <a:pt x="17578047" y="9213357"/>
                  </a:lnTo>
                  <a:lnTo>
                    <a:pt x="17566470" y="9259425"/>
                  </a:lnTo>
                  <a:lnTo>
                    <a:pt x="17550490" y="9304042"/>
                  </a:lnTo>
                  <a:lnTo>
                    <a:pt x="17530240" y="9346891"/>
                  </a:lnTo>
                  <a:lnTo>
                    <a:pt x="17505852" y="9387652"/>
                  </a:lnTo>
                  <a:lnTo>
                    <a:pt x="17477457" y="9426008"/>
                  </a:lnTo>
                  <a:lnTo>
                    <a:pt x="17445188" y="9461639"/>
                  </a:lnTo>
                  <a:lnTo>
                    <a:pt x="17409557" y="9493908"/>
                  </a:lnTo>
                  <a:lnTo>
                    <a:pt x="17371201" y="9522303"/>
                  </a:lnTo>
                  <a:lnTo>
                    <a:pt x="17330440" y="9546692"/>
                  </a:lnTo>
                  <a:lnTo>
                    <a:pt x="17287591" y="9566942"/>
                  </a:lnTo>
                  <a:lnTo>
                    <a:pt x="17242973" y="9582921"/>
                  </a:lnTo>
                  <a:lnTo>
                    <a:pt x="17196905" y="9594499"/>
                  </a:lnTo>
                  <a:lnTo>
                    <a:pt x="17149706" y="9601542"/>
                  </a:lnTo>
                  <a:lnTo>
                    <a:pt x="17101693" y="960391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09374" y="762000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40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4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39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39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199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60776" y="874838"/>
              <a:ext cx="7799705" cy="589280"/>
            </a:xfrm>
            <a:custGeom>
              <a:avLst/>
              <a:gdLst/>
              <a:ahLst/>
              <a:cxnLst/>
              <a:rect l="l" t="t" r="r" b="b"/>
              <a:pathLst>
                <a:path w="7799705" h="589280">
                  <a:moveTo>
                    <a:pt x="1665579" y="291261"/>
                  </a:moveTo>
                  <a:lnTo>
                    <a:pt x="1661985" y="246697"/>
                  </a:lnTo>
                  <a:lnTo>
                    <a:pt x="1650822" y="201383"/>
                  </a:lnTo>
                  <a:lnTo>
                    <a:pt x="1632966" y="159143"/>
                  </a:lnTo>
                  <a:lnTo>
                    <a:pt x="1609013" y="120561"/>
                  </a:lnTo>
                  <a:lnTo>
                    <a:pt x="1579587" y="86245"/>
                  </a:lnTo>
                  <a:lnTo>
                    <a:pt x="1545272" y="56807"/>
                  </a:lnTo>
                  <a:lnTo>
                    <a:pt x="1506689" y="32867"/>
                  </a:lnTo>
                  <a:lnTo>
                    <a:pt x="1464437" y="15011"/>
                  </a:lnTo>
                  <a:lnTo>
                    <a:pt x="1419136" y="3848"/>
                  </a:lnTo>
                  <a:lnTo>
                    <a:pt x="1371371" y="0"/>
                  </a:lnTo>
                  <a:lnTo>
                    <a:pt x="294474" y="0"/>
                  </a:lnTo>
                  <a:lnTo>
                    <a:pt x="246710" y="3848"/>
                  </a:lnTo>
                  <a:lnTo>
                    <a:pt x="201396" y="15011"/>
                  </a:lnTo>
                  <a:lnTo>
                    <a:pt x="159143" y="32867"/>
                  </a:lnTo>
                  <a:lnTo>
                    <a:pt x="120561" y="56807"/>
                  </a:lnTo>
                  <a:lnTo>
                    <a:pt x="86245" y="86245"/>
                  </a:lnTo>
                  <a:lnTo>
                    <a:pt x="56819" y="120561"/>
                  </a:lnTo>
                  <a:lnTo>
                    <a:pt x="32867" y="159143"/>
                  </a:lnTo>
                  <a:lnTo>
                    <a:pt x="15011" y="201383"/>
                  </a:lnTo>
                  <a:lnTo>
                    <a:pt x="3860" y="246697"/>
                  </a:lnTo>
                  <a:lnTo>
                    <a:pt x="0" y="294462"/>
                  </a:lnTo>
                  <a:lnTo>
                    <a:pt x="3860" y="342226"/>
                  </a:lnTo>
                  <a:lnTo>
                    <a:pt x="15011" y="387540"/>
                  </a:lnTo>
                  <a:lnTo>
                    <a:pt x="32867" y="429793"/>
                  </a:lnTo>
                  <a:lnTo>
                    <a:pt x="56819" y="468376"/>
                  </a:lnTo>
                  <a:lnTo>
                    <a:pt x="86245" y="502678"/>
                  </a:lnTo>
                  <a:lnTo>
                    <a:pt x="120561" y="532117"/>
                  </a:lnTo>
                  <a:lnTo>
                    <a:pt x="159143" y="556056"/>
                  </a:lnTo>
                  <a:lnTo>
                    <a:pt x="201396" y="573913"/>
                  </a:lnTo>
                  <a:lnTo>
                    <a:pt x="246710" y="585076"/>
                  </a:lnTo>
                  <a:lnTo>
                    <a:pt x="294474" y="588924"/>
                  </a:lnTo>
                  <a:lnTo>
                    <a:pt x="1371371" y="588924"/>
                  </a:lnTo>
                  <a:lnTo>
                    <a:pt x="1419136" y="585076"/>
                  </a:lnTo>
                  <a:lnTo>
                    <a:pt x="1464437" y="573913"/>
                  </a:lnTo>
                  <a:lnTo>
                    <a:pt x="1506689" y="556056"/>
                  </a:lnTo>
                  <a:lnTo>
                    <a:pt x="1545272" y="532117"/>
                  </a:lnTo>
                  <a:lnTo>
                    <a:pt x="1579587" y="502678"/>
                  </a:lnTo>
                  <a:lnTo>
                    <a:pt x="1609013" y="468376"/>
                  </a:lnTo>
                  <a:lnTo>
                    <a:pt x="1632966" y="429793"/>
                  </a:lnTo>
                  <a:lnTo>
                    <a:pt x="1650822" y="387540"/>
                  </a:lnTo>
                  <a:lnTo>
                    <a:pt x="1661985" y="342226"/>
                  </a:lnTo>
                  <a:lnTo>
                    <a:pt x="1665579" y="297662"/>
                  </a:lnTo>
                  <a:lnTo>
                    <a:pt x="1665579" y="291261"/>
                  </a:lnTo>
                  <a:close/>
                </a:path>
                <a:path w="7799705" h="589280">
                  <a:moveTo>
                    <a:pt x="7799514" y="419176"/>
                  </a:moveTo>
                  <a:lnTo>
                    <a:pt x="7275639" y="419176"/>
                  </a:lnTo>
                  <a:lnTo>
                    <a:pt x="7275639" y="492810"/>
                  </a:lnTo>
                  <a:lnTo>
                    <a:pt x="7799514" y="492810"/>
                  </a:lnTo>
                  <a:lnTo>
                    <a:pt x="7799514" y="419176"/>
                  </a:lnTo>
                  <a:close/>
                </a:path>
                <a:path w="7799705" h="589280">
                  <a:moveTo>
                    <a:pt x="7799514" y="234315"/>
                  </a:moveTo>
                  <a:lnTo>
                    <a:pt x="7275639" y="234315"/>
                  </a:lnTo>
                  <a:lnTo>
                    <a:pt x="7275639" y="307949"/>
                  </a:lnTo>
                  <a:lnTo>
                    <a:pt x="7799514" y="307949"/>
                  </a:lnTo>
                  <a:lnTo>
                    <a:pt x="7799514" y="234315"/>
                  </a:lnTo>
                  <a:close/>
                </a:path>
                <a:path w="7799705" h="589280">
                  <a:moveTo>
                    <a:pt x="7799514" y="49453"/>
                  </a:moveTo>
                  <a:lnTo>
                    <a:pt x="7275639" y="49453"/>
                  </a:lnTo>
                  <a:lnTo>
                    <a:pt x="7275639" y="123088"/>
                  </a:lnTo>
                  <a:lnTo>
                    <a:pt x="7799514" y="123088"/>
                  </a:lnTo>
                  <a:lnTo>
                    <a:pt x="7799514" y="49453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64999" y="8346800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4">
                  <a:moveTo>
                    <a:pt x="911499" y="1822998"/>
                  </a:moveTo>
                  <a:lnTo>
                    <a:pt x="863090" y="1821734"/>
                  </a:lnTo>
                  <a:lnTo>
                    <a:pt x="815340" y="1817986"/>
                  </a:lnTo>
                  <a:lnTo>
                    <a:pt x="768310" y="1811816"/>
                  </a:lnTo>
                  <a:lnTo>
                    <a:pt x="722065" y="1803286"/>
                  </a:lnTo>
                  <a:lnTo>
                    <a:pt x="676666" y="1792461"/>
                  </a:lnTo>
                  <a:lnTo>
                    <a:pt x="632178" y="1779403"/>
                  </a:lnTo>
                  <a:lnTo>
                    <a:pt x="588662" y="1764175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5" y="1706101"/>
                  </a:lnTo>
                  <a:lnTo>
                    <a:pt x="425592" y="1682823"/>
                  </a:lnTo>
                  <a:lnTo>
                    <a:pt x="387887" y="1657690"/>
                  </a:lnTo>
                  <a:lnTo>
                    <a:pt x="351533" y="1630765"/>
                  </a:lnTo>
                  <a:lnTo>
                    <a:pt x="316593" y="1602111"/>
                  </a:lnTo>
                  <a:lnTo>
                    <a:pt x="283130" y="1571791"/>
                  </a:lnTo>
                  <a:lnTo>
                    <a:pt x="251207" y="1539868"/>
                  </a:lnTo>
                  <a:lnTo>
                    <a:pt x="220887" y="1506405"/>
                  </a:lnTo>
                  <a:lnTo>
                    <a:pt x="192233" y="1471465"/>
                  </a:lnTo>
                  <a:lnTo>
                    <a:pt x="165308" y="1435111"/>
                  </a:lnTo>
                  <a:lnTo>
                    <a:pt x="140175" y="1397406"/>
                  </a:lnTo>
                  <a:lnTo>
                    <a:pt x="116897" y="1358413"/>
                  </a:lnTo>
                  <a:lnTo>
                    <a:pt x="95537" y="1318195"/>
                  </a:lnTo>
                  <a:lnTo>
                    <a:pt x="76158" y="1276815"/>
                  </a:lnTo>
                  <a:lnTo>
                    <a:pt x="58822" y="1234335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3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7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39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7"/>
                  </a:lnTo>
                  <a:lnTo>
                    <a:pt x="58822" y="588662"/>
                  </a:lnTo>
                  <a:lnTo>
                    <a:pt x="76158" y="546183"/>
                  </a:lnTo>
                  <a:lnTo>
                    <a:pt x="95537" y="504803"/>
                  </a:lnTo>
                  <a:lnTo>
                    <a:pt x="116897" y="464584"/>
                  </a:lnTo>
                  <a:lnTo>
                    <a:pt x="140175" y="425591"/>
                  </a:lnTo>
                  <a:lnTo>
                    <a:pt x="165308" y="387886"/>
                  </a:lnTo>
                  <a:lnTo>
                    <a:pt x="192233" y="351532"/>
                  </a:lnTo>
                  <a:lnTo>
                    <a:pt x="220887" y="316592"/>
                  </a:lnTo>
                  <a:lnTo>
                    <a:pt x="251207" y="283129"/>
                  </a:lnTo>
                  <a:lnTo>
                    <a:pt x="283130" y="251206"/>
                  </a:lnTo>
                  <a:lnTo>
                    <a:pt x="316593" y="220886"/>
                  </a:lnTo>
                  <a:lnTo>
                    <a:pt x="351533" y="192232"/>
                  </a:lnTo>
                  <a:lnTo>
                    <a:pt x="387887" y="165307"/>
                  </a:lnTo>
                  <a:lnTo>
                    <a:pt x="425592" y="140174"/>
                  </a:lnTo>
                  <a:lnTo>
                    <a:pt x="464585" y="116896"/>
                  </a:lnTo>
                  <a:lnTo>
                    <a:pt x="504803" y="95536"/>
                  </a:lnTo>
                  <a:lnTo>
                    <a:pt x="546183" y="76157"/>
                  </a:lnTo>
                  <a:lnTo>
                    <a:pt x="588662" y="58822"/>
                  </a:lnTo>
                  <a:lnTo>
                    <a:pt x="632178" y="43594"/>
                  </a:lnTo>
                  <a:lnTo>
                    <a:pt x="676666" y="30536"/>
                  </a:lnTo>
                  <a:lnTo>
                    <a:pt x="722065" y="19711"/>
                  </a:lnTo>
                  <a:lnTo>
                    <a:pt x="768310" y="11182"/>
                  </a:lnTo>
                  <a:lnTo>
                    <a:pt x="815340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8" y="1263"/>
                  </a:lnTo>
                  <a:lnTo>
                    <a:pt x="1007658" y="5011"/>
                  </a:lnTo>
                  <a:lnTo>
                    <a:pt x="1054688" y="11182"/>
                  </a:lnTo>
                  <a:lnTo>
                    <a:pt x="1100933" y="19711"/>
                  </a:lnTo>
                  <a:lnTo>
                    <a:pt x="1146332" y="30536"/>
                  </a:lnTo>
                  <a:lnTo>
                    <a:pt x="1190820" y="43594"/>
                  </a:lnTo>
                  <a:lnTo>
                    <a:pt x="1234335" y="58822"/>
                  </a:lnTo>
                  <a:lnTo>
                    <a:pt x="1276815" y="76157"/>
                  </a:lnTo>
                  <a:lnTo>
                    <a:pt x="1318195" y="95536"/>
                  </a:lnTo>
                  <a:lnTo>
                    <a:pt x="1358413" y="116896"/>
                  </a:lnTo>
                  <a:lnTo>
                    <a:pt x="1397406" y="140174"/>
                  </a:lnTo>
                  <a:lnTo>
                    <a:pt x="1435111" y="165307"/>
                  </a:lnTo>
                  <a:lnTo>
                    <a:pt x="1471465" y="192232"/>
                  </a:lnTo>
                  <a:lnTo>
                    <a:pt x="1506405" y="220886"/>
                  </a:lnTo>
                  <a:lnTo>
                    <a:pt x="1539868" y="251206"/>
                  </a:lnTo>
                  <a:lnTo>
                    <a:pt x="1571791" y="283129"/>
                  </a:lnTo>
                  <a:lnTo>
                    <a:pt x="1602111" y="316592"/>
                  </a:lnTo>
                  <a:lnTo>
                    <a:pt x="1630765" y="351532"/>
                  </a:lnTo>
                  <a:lnTo>
                    <a:pt x="1657690" y="387886"/>
                  </a:lnTo>
                  <a:lnTo>
                    <a:pt x="1682823" y="425591"/>
                  </a:lnTo>
                  <a:lnTo>
                    <a:pt x="1706101" y="464584"/>
                  </a:lnTo>
                  <a:lnTo>
                    <a:pt x="1727461" y="504803"/>
                  </a:lnTo>
                  <a:lnTo>
                    <a:pt x="1746840" y="546183"/>
                  </a:lnTo>
                  <a:lnTo>
                    <a:pt x="1764175" y="588662"/>
                  </a:lnTo>
                  <a:lnTo>
                    <a:pt x="1779403" y="632177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6" y="768310"/>
                  </a:lnTo>
                  <a:lnTo>
                    <a:pt x="1817986" y="815339"/>
                  </a:lnTo>
                  <a:lnTo>
                    <a:pt x="1821735" y="863090"/>
                  </a:lnTo>
                  <a:lnTo>
                    <a:pt x="1822998" y="911499"/>
                  </a:lnTo>
                  <a:lnTo>
                    <a:pt x="1821735" y="959907"/>
                  </a:lnTo>
                  <a:lnTo>
                    <a:pt x="1817986" y="1007658"/>
                  </a:lnTo>
                  <a:lnTo>
                    <a:pt x="1811816" y="1054688"/>
                  </a:lnTo>
                  <a:lnTo>
                    <a:pt x="1803287" y="1100933"/>
                  </a:lnTo>
                  <a:lnTo>
                    <a:pt x="1792462" y="1146332"/>
                  </a:lnTo>
                  <a:lnTo>
                    <a:pt x="1779403" y="1190820"/>
                  </a:lnTo>
                  <a:lnTo>
                    <a:pt x="1764175" y="1234335"/>
                  </a:lnTo>
                  <a:lnTo>
                    <a:pt x="1746840" y="1276815"/>
                  </a:lnTo>
                  <a:lnTo>
                    <a:pt x="1727461" y="1318195"/>
                  </a:lnTo>
                  <a:lnTo>
                    <a:pt x="1706101" y="1358413"/>
                  </a:lnTo>
                  <a:lnTo>
                    <a:pt x="1682823" y="1397406"/>
                  </a:lnTo>
                  <a:lnTo>
                    <a:pt x="1657690" y="1435111"/>
                  </a:lnTo>
                  <a:lnTo>
                    <a:pt x="1630765" y="1471465"/>
                  </a:lnTo>
                  <a:lnTo>
                    <a:pt x="1602111" y="1506405"/>
                  </a:lnTo>
                  <a:lnTo>
                    <a:pt x="1571791" y="1539868"/>
                  </a:lnTo>
                  <a:lnTo>
                    <a:pt x="1539868" y="1571791"/>
                  </a:lnTo>
                  <a:lnTo>
                    <a:pt x="1506405" y="1602111"/>
                  </a:lnTo>
                  <a:lnTo>
                    <a:pt x="1471465" y="1630765"/>
                  </a:lnTo>
                  <a:lnTo>
                    <a:pt x="1435111" y="1657690"/>
                  </a:lnTo>
                  <a:lnTo>
                    <a:pt x="1397406" y="1682823"/>
                  </a:lnTo>
                  <a:lnTo>
                    <a:pt x="1358413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5" y="1764175"/>
                  </a:lnTo>
                  <a:lnTo>
                    <a:pt x="1190820" y="1779403"/>
                  </a:lnTo>
                  <a:lnTo>
                    <a:pt x="1146332" y="1792461"/>
                  </a:lnTo>
                  <a:lnTo>
                    <a:pt x="1100933" y="1803286"/>
                  </a:lnTo>
                  <a:lnTo>
                    <a:pt x="1054688" y="1811816"/>
                  </a:lnTo>
                  <a:lnTo>
                    <a:pt x="1007658" y="1817986"/>
                  </a:lnTo>
                  <a:lnTo>
                    <a:pt x="959908" y="1821734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35436" y="8917234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5" y="682129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7" y="655327"/>
                  </a:lnTo>
                  <a:lnTo>
                    <a:pt x="168923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6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6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3" y="46565"/>
                  </a:lnTo>
                  <a:lnTo>
                    <a:pt x="208307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5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2" y="26802"/>
                  </a:lnTo>
                  <a:lnTo>
                    <a:pt x="513206" y="46565"/>
                  </a:lnTo>
                  <a:lnTo>
                    <a:pt x="549479" y="71065"/>
                  </a:lnTo>
                  <a:lnTo>
                    <a:pt x="582234" y="99895"/>
                  </a:lnTo>
                  <a:lnTo>
                    <a:pt x="611064" y="132650"/>
                  </a:lnTo>
                  <a:lnTo>
                    <a:pt x="635564" y="168922"/>
                  </a:lnTo>
                  <a:lnTo>
                    <a:pt x="655327" y="208306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6"/>
                  </a:lnTo>
                  <a:lnTo>
                    <a:pt x="611064" y="549479"/>
                  </a:lnTo>
                  <a:lnTo>
                    <a:pt x="582234" y="582234"/>
                  </a:lnTo>
                  <a:lnTo>
                    <a:pt x="549479" y="611064"/>
                  </a:lnTo>
                  <a:lnTo>
                    <a:pt x="513206" y="635564"/>
                  </a:lnTo>
                  <a:lnTo>
                    <a:pt x="473822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5" y="682129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723491"/>
              <a:ext cx="1715135" cy="2387600"/>
            </a:xfrm>
            <a:custGeom>
              <a:avLst/>
              <a:gdLst/>
              <a:ahLst/>
              <a:cxnLst/>
              <a:rect l="l" t="t" r="r" b="b"/>
              <a:pathLst>
                <a:path w="1715135" h="2387600">
                  <a:moveTo>
                    <a:pt x="1714543" y="2387487"/>
                  </a:moveTo>
                  <a:lnTo>
                    <a:pt x="0" y="2387487"/>
                  </a:lnTo>
                  <a:lnTo>
                    <a:pt x="0" y="612964"/>
                  </a:lnTo>
                  <a:lnTo>
                    <a:pt x="350265" y="0"/>
                  </a:lnTo>
                  <a:lnTo>
                    <a:pt x="1714543" y="238748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046" y="2421605"/>
              <a:ext cx="5879177" cy="391215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74685" y="981208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37641" y="983422"/>
            <a:ext cx="588137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5215" algn="l"/>
                <a:tab pos="4870450" algn="l"/>
              </a:tabLst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r>
              <a:rPr sz="1850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r>
              <a:rPr sz="1850" b="1" dirty="0">
                <a:solidFill>
                  <a:srgbClr val="F4F4F4"/>
                </a:solidFill>
                <a:latin typeface="Tahoma"/>
                <a:cs typeface="Tahoma"/>
              </a:rPr>
              <a:t>	</a:t>
            </a: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74629" y="3716491"/>
            <a:ext cx="104139" cy="2847975"/>
            <a:chOff x="7574629" y="3716491"/>
            <a:chExt cx="104139" cy="28479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3716491"/>
              <a:ext cx="103764" cy="1037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4629" y="4108492"/>
              <a:ext cx="103764" cy="1037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4500492"/>
              <a:ext cx="103764" cy="1037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4892493"/>
              <a:ext cx="103764" cy="1037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5284493"/>
              <a:ext cx="103764" cy="1037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5676494"/>
              <a:ext cx="103764" cy="1037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6068494"/>
              <a:ext cx="103764" cy="1037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629" y="6460495"/>
              <a:ext cx="103764" cy="103764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224631" y="1838324"/>
            <a:ext cx="10482580" cy="1066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800" b="1" spc="-235" dirty="0">
                <a:latin typeface="Tahoma"/>
                <a:cs typeface="Tahoma"/>
              </a:rPr>
              <a:t>Exploratory</a:t>
            </a:r>
            <a:r>
              <a:rPr sz="6800" b="1" spc="-805" dirty="0">
                <a:latin typeface="Tahoma"/>
                <a:cs typeface="Tahoma"/>
              </a:rPr>
              <a:t> </a:t>
            </a:r>
            <a:r>
              <a:rPr sz="6800" b="1" spc="-95" dirty="0">
                <a:latin typeface="Tahoma"/>
                <a:cs typeface="Tahoma"/>
              </a:rPr>
              <a:t>Data</a:t>
            </a:r>
            <a:r>
              <a:rPr sz="6800" b="1" spc="-805" dirty="0">
                <a:latin typeface="Tahoma"/>
                <a:cs typeface="Tahoma"/>
              </a:rPr>
              <a:t> </a:t>
            </a:r>
            <a:r>
              <a:rPr sz="6800" b="1" spc="-130" dirty="0">
                <a:latin typeface="Tahoma"/>
                <a:cs typeface="Tahoma"/>
              </a:rPr>
              <a:t>Analysis</a:t>
            </a:r>
            <a:endParaRPr sz="6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33952" y="2894878"/>
            <a:ext cx="8302625" cy="3792854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850" b="1" spc="75" dirty="0">
                <a:solidFill>
                  <a:srgbClr val="0F1B40"/>
                </a:solidFill>
                <a:latin typeface="Tahoma"/>
                <a:cs typeface="Tahoma"/>
              </a:rPr>
              <a:t>FOR</a:t>
            </a:r>
            <a:r>
              <a:rPr sz="1850" b="1" spc="-2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1850" b="1" spc="80" dirty="0">
                <a:solidFill>
                  <a:srgbClr val="0F1B40"/>
                </a:solidFill>
                <a:latin typeface="Tahoma"/>
                <a:cs typeface="Tahoma"/>
              </a:rPr>
              <a:t>EDA,</a:t>
            </a:r>
            <a:r>
              <a:rPr sz="1850" b="1" spc="-2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1850" b="1" spc="160" dirty="0">
                <a:solidFill>
                  <a:srgbClr val="0F1B40"/>
                </a:solidFill>
                <a:latin typeface="Tahoma"/>
                <a:cs typeface="Tahoma"/>
              </a:rPr>
              <a:t>WE</a:t>
            </a:r>
            <a:r>
              <a:rPr sz="1850" b="1" spc="-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1850" b="1" spc="75" dirty="0">
                <a:solidFill>
                  <a:srgbClr val="0F1B40"/>
                </a:solidFill>
                <a:latin typeface="Tahoma"/>
                <a:cs typeface="Tahoma"/>
              </a:rPr>
              <a:t>EXPLORED</a:t>
            </a:r>
            <a:r>
              <a:rPr sz="1850" b="1" spc="-2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1850" b="1" spc="70" dirty="0">
                <a:solidFill>
                  <a:srgbClr val="0F1B40"/>
                </a:solidFill>
                <a:latin typeface="Tahoma"/>
                <a:cs typeface="Tahoma"/>
              </a:rPr>
              <a:t>SEVERAL</a:t>
            </a:r>
            <a:r>
              <a:rPr sz="1850" b="1" spc="-2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rgbClr val="0F1B40"/>
                </a:solidFill>
                <a:latin typeface="Tahoma"/>
                <a:cs typeface="Tahoma"/>
              </a:rPr>
              <a:t>BUSINESS-</a:t>
            </a:r>
            <a:r>
              <a:rPr sz="1850" b="1" spc="-10" dirty="0">
                <a:solidFill>
                  <a:srgbClr val="0F1B40"/>
                </a:solidFill>
                <a:latin typeface="Tahoma"/>
                <a:cs typeface="Tahoma"/>
              </a:rPr>
              <a:t>CRITICAL</a:t>
            </a:r>
            <a:r>
              <a:rPr sz="1850" b="1" spc="-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0F1B40"/>
                </a:solidFill>
                <a:latin typeface="Tahoma"/>
                <a:cs typeface="Tahoma"/>
              </a:rPr>
              <a:t>PATTERNS:</a:t>
            </a:r>
            <a:endParaRPr sz="1850">
              <a:latin typeface="Tahoma"/>
              <a:cs typeface="Tahoma"/>
            </a:endParaRPr>
          </a:p>
          <a:p>
            <a:pPr marL="76200" marR="3363595">
              <a:lnSpc>
                <a:spcPct val="100899"/>
              </a:lnSpc>
              <a:spcBef>
                <a:spcPts val="1575"/>
              </a:spcBef>
            </a:pPr>
            <a:r>
              <a:rPr sz="2550" spc="85" dirty="0">
                <a:latin typeface="Tahoma"/>
                <a:cs typeface="Tahoma"/>
              </a:rPr>
              <a:t>Customer</a:t>
            </a:r>
            <a:r>
              <a:rPr sz="2550" spc="-335" dirty="0">
                <a:latin typeface="Tahoma"/>
                <a:cs typeface="Tahoma"/>
              </a:rPr>
              <a:t> </a:t>
            </a:r>
            <a:r>
              <a:rPr sz="2550" spc="10" dirty="0">
                <a:latin typeface="Tahoma"/>
                <a:cs typeface="Tahoma"/>
              </a:rPr>
              <a:t>Distribution</a:t>
            </a:r>
            <a:r>
              <a:rPr sz="2550" spc="-335" dirty="0">
                <a:latin typeface="Tahoma"/>
                <a:cs typeface="Tahoma"/>
              </a:rPr>
              <a:t> </a:t>
            </a:r>
            <a:r>
              <a:rPr sz="2550" spc="120" dirty="0">
                <a:latin typeface="Tahoma"/>
                <a:cs typeface="Tahoma"/>
              </a:rPr>
              <a:t>by</a:t>
            </a:r>
            <a:r>
              <a:rPr sz="2550" spc="-330" dirty="0">
                <a:latin typeface="Tahoma"/>
                <a:cs typeface="Tahoma"/>
              </a:rPr>
              <a:t> </a:t>
            </a:r>
            <a:r>
              <a:rPr sz="2550" spc="50" dirty="0">
                <a:latin typeface="Tahoma"/>
                <a:cs typeface="Tahoma"/>
              </a:rPr>
              <a:t>Country </a:t>
            </a:r>
            <a:r>
              <a:rPr sz="2550" dirty="0">
                <a:latin typeface="Tahoma"/>
                <a:cs typeface="Tahoma"/>
              </a:rPr>
              <a:t>Time-</a:t>
            </a:r>
            <a:r>
              <a:rPr sz="2550" spc="-10" dirty="0">
                <a:latin typeface="Tahoma"/>
                <a:cs typeface="Tahoma"/>
              </a:rPr>
              <a:t>Series</a:t>
            </a:r>
            <a:r>
              <a:rPr sz="2550" spc="-400" dirty="0">
                <a:latin typeface="Tahoma"/>
                <a:cs typeface="Tahoma"/>
              </a:rPr>
              <a:t> </a:t>
            </a:r>
            <a:r>
              <a:rPr sz="2550" dirty="0">
                <a:latin typeface="Tahoma"/>
                <a:cs typeface="Tahoma"/>
              </a:rPr>
              <a:t>Analysis</a:t>
            </a:r>
            <a:r>
              <a:rPr sz="2550" spc="-400" dirty="0">
                <a:latin typeface="Tahoma"/>
                <a:cs typeface="Tahoma"/>
              </a:rPr>
              <a:t> </a:t>
            </a:r>
            <a:r>
              <a:rPr sz="2550" spc="-135" dirty="0">
                <a:latin typeface="Tahoma"/>
                <a:cs typeface="Tahoma"/>
              </a:rPr>
              <a:t>(2010–2011)</a:t>
            </a:r>
            <a:endParaRPr sz="2550">
              <a:latin typeface="Tahoma"/>
              <a:cs typeface="Tahoma"/>
            </a:endParaRPr>
          </a:p>
          <a:p>
            <a:pPr marL="76200" marR="283845">
              <a:lnSpc>
                <a:spcPct val="100899"/>
              </a:lnSpc>
            </a:pPr>
            <a:r>
              <a:rPr sz="2550" spc="85" dirty="0">
                <a:latin typeface="Tahoma"/>
                <a:cs typeface="Tahoma"/>
              </a:rPr>
              <a:t>Customer</a:t>
            </a:r>
            <a:r>
              <a:rPr sz="2550" spc="-440" dirty="0">
                <a:latin typeface="Tahoma"/>
                <a:cs typeface="Tahoma"/>
              </a:rPr>
              <a:t> </a:t>
            </a:r>
            <a:r>
              <a:rPr sz="2550" spc="50" dirty="0">
                <a:latin typeface="Tahoma"/>
                <a:cs typeface="Tahoma"/>
              </a:rPr>
              <a:t>Lifetime</a:t>
            </a:r>
            <a:r>
              <a:rPr sz="2550" spc="-434" dirty="0">
                <a:latin typeface="Tahoma"/>
                <a:cs typeface="Tahoma"/>
              </a:rPr>
              <a:t> </a:t>
            </a:r>
            <a:r>
              <a:rPr sz="2550" spc="60" dirty="0">
                <a:latin typeface="Tahoma"/>
                <a:cs typeface="Tahoma"/>
              </a:rPr>
              <a:t>Value</a:t>
            </a:r>
            <a:r>
              <a:rPr sz="2550" spc="-440" dirty="0">
                <a:latin typeface="Tahoma"/>
                <a:cs typeface="Tahoma"/>
              </a:rPr>
              <a:t> </a:t>
            </a:r>
            <a:r>
              <a:rPr sz="2550" spc="-50" dirty="0">
                <a:latin typeface="Tahoma"/>
                <a:cs typeface="Tahoma"/>
              </a:rPr>
              <a:t>(CLV)</a:t>
            </a:r>
            <a:r>
              <a:rPr sz="2550" spc="-434" dirty="0">
                <a:latin typeface="Tahoma"/>
                <a:cs typeface="Tahoma"/>
              </a:rPr>
              <a:t> </a:t>
            </a:r>
            <a:r>
              <a:rPr sz="2550" spc="-25" dirty="0">
                <a:latin typeface="Tahoma"/>
                <a:cs typeface="Tahoma"/>
              </a:rPr>
              <a:t>&amp;</a:t>
            </a:r>
            <a:r>
              <a:rPr sz="2550" spc="-434" dirty="0">
                <a:latin typeface="Tahoma"/>
                <a:cs typeface="Tahoma"/>
              </a:rPr>
              <a:t> </a:t>
            </a:r>
            <a:r>
              <a:rPr sz="2550" spc="65" dirty="0">
                <a:latin typeface="Tahoma"/>
                <a:cs typeface="Tahoma"/>
              </a:rPr>
              <a:t>Pareto</a:t>
            </a:r>
            <a:r>
              <a:rPr sz="2550" spc="-440" dirty="0">
                <a:latin typeface="Tahoma"/>
                <a:cs typeface="Tahoma"/>
              </a:rPr>
              <a:t> </a:t>
            </a:r>
            <a:r>
              <a:rPr sz="2550" spc="-85" dirty="0">
                <a:latin typeface="Tahoma"/>
                <a:cs typeface="Tahoma"/>
              </a:rPr>
              <a:t>(80/20)</a:t>
            </a:r>
            <a:r>
              <a:rPr sz="2550" spc="-434" dirty="0">
                <a:latin typeface="Tahoma"/>
                <a:cs typeface="Tahoma"/>
              </a:rPr>
              <a:t> </a:t>
            </a:r>
            <a:r>
              <a:rPr sz="2550" spc="-10" dirty="0">
                <a:latin typeface="Tahoma"/>
                <a:cs typeface="Tahoma"/>
              </a:rPr>
              <a:t>Analysis </a:t>
            </a:r>
            <a:r>
              <a:rPr sz="2550" spc="210" dirty="0">
                <a:latin typeface="Tahoma"/>
                <a:cs typeface="Tahoma"/>
              </a:rPr>
              <a:t>RFM</a:t>
            </a:r>
            <a:r>
              <a:rPr sz="2550" spc="-365" dirty="0">
                <a:latin typeface="Tahoma"/>
                <a:cs typeface="Tahoma"/>
              </a:rPr>
              <a:t> </a:t>
            </a:r>
            <a:r>
              <a:rPr sz="2550" dirty="0">
                <a:latin typeface="Tahoma"/>
                <a:cs typeface="Tahoma"/>
              </a:rPr>
              <a:t>Analysis</a:t>
            </a:r>
            <a:r>
              <a:rPr sz="2550" spc="-365" dirty="0">
                <a:latin typeface="Tahoma"/>
                <a:cs typeface="Tahoma"/>
              </a:rPr>
              <a:t> </a:t>
            </a:r>
            <a:r>
              <a:rPr sz="2550" spc="-30" dirty="0">
                <a:latin typeface="Tahoma"/>
                <a:cs typeface="Tahoma"/>
              </a:rPr>
              <a:t>(Recency,</a:t>
            </a:r>
            <a:r>
              <a:rPr sz="2550" spc="-360" dirty="0">
                <a:latin typeface="Tahoma"/>
                <a:cs typeface="Tahoma"/>
              </a:rPr>
              <a:t> </a:t>
            </a:r>
            <a:r>
              <a:rPr sz="2550" dirty="0">
                <a:latin typeface="Tahoma"/>
                <a:cs typeface="Tahoma"/>
              </a:rPr>
              <a:t>Frequency,</a:t>
            </a:r>
            <a:r>
              <a:rPr sz="2550" spc="-365" dirty="0">
                <a:latin typeface="Tahoma"/>
                <a:cs typeface="Tahoma"/>
              </a:rPr>
              <a:t> </a:t>
            </a:r>
            <a:r>
              <a:rPr sz="2550" spc="-10" dirty="0">
                <a:latin typeface="Tahoma"/>
                <a:cs typeface="Tahoma"/>
              </a:rPr>
              <a:t>Monetary)</a:t>
            </a:r>
            <a:endParaRPr sz="2550">
              <a:latin typeface="Tahoma"/>
              <a:cs typeface="Tahoma"/>
            </a:endParaRPr>
          </a:p>
          <a:p>
            <a:pPr marL="12700" marR="1789430">
              <a:lnSpc>
                <a:spcPct val="100899"/>
              </a:lnSpc>
            </a:pPr>
            <a:r>
              <a:rPr sz="2550" spc="105" dirty="0">
                <a:latin typeface="Tahoma"/>
                <a:cs typeface="Tahoma"/>
              </a:rPr>
              <a:t>Product</a:t>
            </a:r>
            <a:r>
              <a:rPr sz="2550" spc="-265" dirty="0">
                <a:latin typeface="Tahoma"/>
                <a:cs typeface="Tahoma"/>
              </a:rPr>
              <a:t> </a:t>
            </a:r>
            <a:r>
              <a:rPr sz="2550" dirty="0">
                <a:latin typeface="Tahoma"/>
                <a:cs typeface="Tahoma"/>
              </a:rPr>
              <a:t>Popularity</a:t>
            </a:r>
            <a:r>
              <a:rPr sz="2550" spc="-265" dirty="0">
                <a:latin typeface="Tahoma"/>
                <a:cs typeface="Tahoma"/>
              </a:rPr>
              <a:t> </a:t>
            </a:r>
            <a:r>
              <a:rPr sz="2550" dirty="0">
                <a:latin typeface="Tahoma"/>
                <a:cs typeface="Tahoma"/>
              </a:rPr>
              <a:t>(StockCode</a:t>
            </a:r>
            <a:r>
              <a:rPr sz="2550" spc="-265" dirty="0">
                <a:latin typeface="Tahoma"/>
                <a:cs typeface="Tahoma"/>
              </a:rPr>
              <a:t> </a:t>
            </a:r>
            <a:r>
              <a:rPr sz="2550" spc="-25" dirty="0">
                <a:latin typeface="Tahoma"/>
                <a:cs typeface="Tahoma"/>
              </a:rPr>
              <a:t>&amp;</a:t>
            </a:r>
            <a:r>
              <a:rPr sz="2550" spc="-265" dirty="0">
                <a:latin typeface="Tahoma"/>
                <a:cs typeface="Tahoma"/>
              </a:rPr>
              <a:t> </a:t>
            </a:r>
            <a:r>
              <a:rPr sz="2550" spc="-10" dirty="0">
                <a:latin typeface="Tahoma"/>
                <a:cs typeface="Tahoma"/>
              </a:rPr>
              <a:t>Description) </a:t>
            </a:r>
            <a:r>
              <a:rPr sz="2550" spc="65" dirty="0">
                <a:latin typeface="Tahoma"/>
                <a:cs typeface="Tahoma"/>
              </a:rPr>
              <a:t>Cohort</a:t>
            </a:r>
            <a:r>
              <a:rPr sz="2550" spc="-434" dirty="0">
                <a:latin typeface="Tahoma"/>
                <a:cs typeface="Tahoma"/>
              </a:rPr>
              <a:t> </a:t>
            </a:r>
            <a:r>
              <a:rPr sz="2550" dirty="0">
                <a:latin typeface="Tahoma"/>
                <a:cs typeface="Tahoma"/>
              </a:rPr>
              <a:t>Analysis</a:t>
            </a:r>
            <a:r>
              <a:rPr sz="2550" spc="-434" dirty="0">
                <a:latin typeface="Tahoma"/>
                <a:cs typeface="Tahoma"/>
              </a:rPr>
              <a:t> </a:t>
            </a:r>
            <a:r>
              <a:rPr sz="2550" spc="45" dirty="0">
                <a:latin typeface="Tahoma"/>
                <a:cs typeface="Tahoma"/>
              </a:rPr>
              <a:t>(Customer</a:t>
            </a:r>
            <a:r>
              <a:rPr sz="2550" spc="-430" dirty="0">
                <a:latin typeface="Tahoma"/>
                <a:cs typeface="Tahoma"/>
              </a:rPr>
              <a:t> </a:t>
            </a:r>
            <a:r>
              <a:rPr sz="2550" spc="-10" dirty="0">
                <a:latin typeface="Tahoma"/>
                <a:cs typeface="Tahoma"/>
              </a:rPr>
              <a:t>Retention) </a:t>
            </a:r>
            <a:r>
              <a:rPr sz="2550" dirty="0">
                <a:latin typeface="Tahoma"/>
                <a:cs typeface="Tahoma"/>
              </a:rPr>
              <a:t>Seasonality</a:t>
            </a:r>
            <a:r>
              <a:rPr sz="2550" spc="-445" dirty="0">
                <a:latin typeface="Tahoma"/>
                <a:cs typeface="Tahoma"/>
              </a:rPr>
              <a:t> </a:t>
            </a:r>
            <a:r>
              <a:rPr sz="2550" spc="-25" dirty="0">
                <a:latin typeface="Tahoma"/>
                <a:cs typeface="Tahoma"/>
              </a:rPr>
              <a:t>&amp;</a:t>
            </a:r>
            <a:r>
              <a:rPr sz="2550" spc="-440" dirty="0">
                <a:latin typeface="Tahoma"/>
                <a:cs typeface="Tahoma"/>
              </a:rPr>
              <a:t> </a:t>
            </a:r>
            <a:r>
              <a:rPr sz="2550" spc="125" dirty="0">
                <a:latin typeface="Tahoma"/>
                <a:cs typeface="Tahoma"/>
              </a:rPr>
              <a:t>Peak</a:t>
            </a:r>
            <a:r>
              <a:rPr sz="2550" spc="-445" dirty="0">
                <a:latin typeface="Tahoma"/>
                <a:cs typeface="Tahoma"/>
              </a:rPr>
              <a:t> </a:t>
            </a:r>
            <a:r>
              <a:rPr sz="2550" spc="80" dirty="0">
                <a:latin typeface="Tahoma"/>
                <a:cs typeface="Tahoma"/>
              </a:rPr>
              <a:t>Purchasing</a:t>
            </a:r>
            <a:r>
              <a:rPr sz="2550" spc="-440" dirty="0">
                <a:latin typeface="Tahoma"/>
                <a:cs typeface="Tahoma"/>
              </a:rPr>
              <a:t> </a:t>
            </a:r>
            <a:r>
              <a:rPr sz="2550" spc="45" dirty="0">
                <a:latin typeface="Tahoma"/>
                <a:cs typeface="Tahoma"/>
              </a:rPr>
              <a:t>Patterns </a:t>
            </a:r>
            <a:r>
              <a:rPr sz="2550" spc="65" dirty="0">
                <a:latin typeface="Tahoma"/>
                <a:cs typeface="Tahoma"/>
              </a:rPr>
              <a:t>Geographic</a:t>
            </a:r>
            <a:r>
              <a:rPr sz="2550" spc="-450" dirty="0">
                <a:latin typeface="Tahoma"/>
                <a:cs typeface="Tahoma"/>
              </a:rPr>
              <a:t> </a:t>
            </a:r>
            <a:r>
              <a:rPr sz="2550" spc="95" dirty="0">
                <a:latin typeface="Tahoma"/>
                <a:cs typeface="Tahoma"/>
              </a:rPr>
              <a:t>Spending</a:t>
            </a:r>
            <a:r>
              <a:rPr sz="2550" spc="-445" dirty="0">
                <a:latin typeface="Tahoma"/>
                <a:cs typeface="Tahoma"/>
              </a:rPr>
              <a:t> </a:t>
            </a:r>
            <a:r>
              <a:rPr sz="2550" spc="35" dirty="0">
                <a:latin typeface="Tahoma"/>
                <a:cs typeface="Tahoma"/>
              </a:rPr>
              <a:t>Behavior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9420" y="7692391"/>
            <a:ext cx="1615313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Tahoma"/>
                <a:cs typeface="Tahoma"/>
              </a:rPr>
              <a:t>“</a:t>
            </a:r>
            <a:r>
              <a:rPr sz="2050" b="1" spc="-50" dirty="0">
                <a:latin typeface="Tahoma"/>
                <a:cs typeface="Tahoma"/>
              </a:rPr>
              <a:t>THIS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dirty="0">
                <a:latin typeface="Tahoma"/>
                <a:cs typeface="Tahoma"/>
              </a:rPr>
              <a:t>ANALYSIS</a:t>
            </a:r>
            <a:r>
              <a:rPr sz="2050" b="1" spc="20" dirty="0">
                <a:latin typeface="Tahoma"/>
                <a:cs typeface="Tahoma"/>
              </a:rPr>
              <a:t> </a:t>
            </a:r>
            <a:r>
              <a:rPr sz="2050" b="1" spc="90" dirty="0">
                <a:latin typeface="Tahoma"/>
                <a:cs typeface="Tahoma"/>
              </a:rPr>
              <a:t>HELPED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dirty="0">
                <a:latin typeface="Tahoma"/>
                <a:cs typeface="Tahoma"/>
              </a:rPr>
              <a:t>US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spc="60" dirty="0">
                <a:latin typeface="Tahoma"/>
                <a:cs typeface="Tahoma"/>
              </a:rPr>
              <a:t>UNDERSTAND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spc="55" dirty="0">
                <a:latin typeface="Tahoma"/>
                <a:cs typeface="Tahoma"/>
              </a:rPr>
              <a:t>THE</a:t>
            </a:r>
            <a:r>
              <a:rPr sz="2050" b="1" spc="20" dirty="0">
                <a:latin typeface="Tahoma"/>
                <a:cs typeface="Tahoma"/>
              </a:rPr>
              <a:t> </a:t>
            </a:r>
            <a:r>
              <a:rPr sz="2050" b="1" dirty="0">
                <a:latin typeface="Tahoma"/>
                <a:cs typeface="Tahoma"/>
              </a:rPr>
              <a:t>STRUCTURE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spc="120" dirty="0">
                <a:latin typeface="Tahoma"/>
                <a:cs typeface="Tahoma"/>
              </a:rPr>
              <a:t>OF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spc="55" dirty="0">
                <a:latin typeface="Tahoma"/>
                <a:cs typeface="Tahoma"/>
              </a:rPr>
              <a:t>THE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dirty="0">
                <a:latin typeface="Tahoma"/>
                <a:cs typeface="Tahoma"/>
              </a:rPr>
              <a:t>BUSINESS</a:t>
            </a:r>
            <a:r>
              <a:rPr sz="2050" b="1" spc="25" dirty="0">
                <a:latin typeface="Tahoma"/>
                <a:cs typeface="Tahoma"/>
              </a:rPr>
              <a:t> </a:t>
            </a:r>
            <a:r>
              <a:rPr sz="2050" b="1" spc="110" dirty="0">
                <a:latin typeface="Tahoma"/>
                <a:cs typeface="Tahoma"/>
              </a:rPr>
              <a:t>AND</a:t>
            </a:r>
            <a:r>
              <a:rPr sz="2050" b="1" spc="20" dirty="0">
                <a:latin typeface="Tahoma"/>
                <a:cs typeface="Tahoma"/>
              </a:rPr>
              <a:t> </a:t>
            </a:r>
            <a:r>
              <a:rPr sz="2050" b="1" spc="-25" dirty="0">
                <a:latin typeface="Tahoma"/>
                <a:cs typeface="Tahoma"/>
              </a:rPr>
              <a:t>IDENTIFY</a:t>
            </a:r>
            <a:r>
              <a:rPr sz="2050" b="1" spc="30" dirty="0">
                <a:latin typeface="Tahoma"/>
                <a:cs typeface="Tahoma"/>
              </a:rPr>
              <a:t> </a:t>
            </a:r>
            <a:r>
              <a:rPr sz="2050" b="1" spc="-65" dirty="0">
                <a:latin typeface="Tahoma"/>
                <a:cs typeface="Tahoma"/>
              </a:rPr>
              <a:t>HIGH-</a:t>
            </a:r>
            <a:r>
              <a:rPr sz="2050" b="1" spc="85" dirty="0">
                <a:latin typeface="Tahoma"/>
                <a:cs typeface="Tahoma"/>
              </a:rPr>
              <a:t>VALUE</a:t>
            </a:r>
            <a:r>
              <a:rPr sz="2050" b="1" spc="20" dirty="0">
                <a:latin typeface="Tahoma"/>
                <a:cs typeface="Tahoma"/>
              </a:rPr>
              <a:t> </a:t>
            </a:r>
            <a:r>
              <a:rPr sz="2050" b="1" spc="-10" dirty="0">
                <a:latin typeface="Tahoma"/>
                <a:cs typeface="Tahoma"/>
              </a:rPr>
              <a:t>SEGMENTS</a:t>
            </a:r>
            <a:r>
              <a:rPr sz="2050" spc="-10" dirty="0">
                <a:latin typeface="Tahoma"/>
                <a:cs typeface="Tahoma"/>
              </a:rPr>
              <a:t>”</a:t>
            </a:r>
            <a:endParaRPr sz="20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872" y="578633"/>
            <a:ext cx="1602105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100"/>
              </a:spcBef>
            </a:pPr>
            <a:r>
              <a:rPr sz="2050" b="1" spc="40" dirty="0">
                <a:solidFill>
                  <a:srgbClr val="0F1B40"/>
                </a:solidFill>
                <a:latin typeface="Tahoma"/>
                <a:cs typeface="Tahoma"/>
              </a:rPr>
              <a:t>THYNK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ts val="2320"/>
              </a:lnSpc>
            </a:pPr>
            <a:r>
              <a:rPr sz="2050" spc="100" dirty="0">
                <a:solidFill>
                  <a:srgbClr val="0F1B40"/>
                </a:solidFill>
                <a:latin typeface="Tahoma"/>
                <a:cs typeface="Tahoma"/>
              </a:rPr>
              <a:t>UNLIMITED.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2337722"/>
            <a:ext cx="7099300" cy="7949565"/>
            <a:chOff x="0" y="2337722"/>
            <a:chExt cx="7099300" cy="7949565"/>
          </a:xfrm>
        </p:grpSpPr>
        <p:sp>
          <p:nvSpPr>
            <p:cNvPr id="12" name="object 12"/>
            <p:cNvSpPr/>
            <p:nvPr/>
          </p:nvSpPr>
          <p:spPr>
            <a:xfrm>
              <a:off x="0" y="2337722"/>
              <a:ext cx="6093460" cy="6254115"/>
            </a:xfrm>
            <a:custGeom>
              <a:avLst/>
              <a:gdLst/>
              <a:ahLst/>
              <a:cxnLst/>
              <a:rect l="l" t="t" r="r" b="b"/>
              <a:pathLst>
                <a:path w="6093460" h="6254115">
                  <a:moveTo>
                    <a:pt x="5618631" y="6254075"/>
                  </a:moveTo>
                  <a:lnTo>
                    <a:pt x="0" y="6254075"/>
                  </a:lnTo>
                  <a:lnTo>
                    <a:pt x="0" y="0"/>
                  </a:lnTo>
                  <a:lnTo>
                    <a:pt x="5618631" y="0"/>
                  </a:lnTo>
                  <a:lnTo>
                    <a:pt x="5666644" y="2377"/>
                  </a:lnTo>
                  <a:lnTo>
                    <a:pt x="5713844" y="9420"/>
                  </a:lnTo>
                  <a:lnTo>
                    <a:pt x="5759912" y="20997"/>
                  </a:lnTo>
                  <a:lnTo>
                    <a:pt x="5804529" y="36977"/>
                  </a:lnTo>
                  <a:lnTo>
                    <a:pt x="5847378" y="57227"/>
                  </a:lnTo>
                  <a:lnTo>
                    <a:pt x="5888140" y="81615"/>
                  </a:lnTo>
                  <a:lnTo>
                    <a:pt x="5926495" y="110010"/>
                  </a:lnTo>
                  <a:lnTo>
                    <a:pt x="5962126" y="142280"/>
                  </a:lnTo>
                  <a:lnTo>
                    <a:pt x="5994395" y="177911"/>
                  </a:lnTo>
                  <a:lnTo>
                    <a:pt x="6022790" y="216266"/>
                  </a:lnTo>
                  <a:lnTo>
                    <a:pt x="6047179" y="257028"/>
                  </a:lnTo>
                  <a:lnTo>
                    <a:pt x="6067429" y="299877"/>
                  </a:lnTo>
                  <a:lnTo>
                    <a:pt x="6083409" y="344494"/>
                  </a:lnTo>
                  <a:lnTo>
                    <a:pt x="6093084" y="382994"/>
                  </a:lnTo>
                  <a:lnTo>
                    <a:pt x="6093084" y="5871081"/>
                  </a:lnTo>
                  <a:lnTo>
                    <a:pt x="6083409" y="5909581"/>
                  </a:lnTo>
                  <a:lnTo>
                    <a:pt x="6067429" y="5954198"/>
                  </a:lnTo>
                  <a:lnTo>
                    <a:pt x="6047179" y="5997047"/>
                  </a:lnTo>
                  <a:lnTo>
                    <a:pt x="6022790" y="6037808"/>
                  </a:lnTo>
                  <a:lnTo>
                    <a:pt x="5994395" y="6076164"/>
                  </a:lnTo>
                  <a:lnTo>
                    <a:pt x="5962126" y="6111795"/>
                  </a:lnTo>
                  <a:lnTo>
                    <a:pt x="5926495" y="6144064"/>
                  </a:lnTo>
                  <a:lnTo>
                    <a:pt x="5888140" y="6172459"/>
                  </a:lnTo>
                  <a:lnTo>
                    <a:pt x="5847378" y="6196848"/>
                  </a:lnTo>
                  <a:lnTo>
                    <a:pt x="5804529" y="6217098"/>
                  </a:lnTo>
                  <a:lnTo>
                    <a:pt x="5759912" y="6233077"/>
                  </a:lnTo>
                  <a:lnTo>
                    <a:pt x="5713844" y="6244655"/>
                  </a:lnTo>
                  <a:lnTo>
                    <a:pt x="5666644" y="6251698"/>
                  </a:lnTo>
                  <a:lnTo>
                    <a:pt x="5618631" y="6254075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38362" y="4063181"/>
              <a:ext cx="2160905" cy="2160905"/>
            </a:xfrm>
            <a:custGeom>
              <a:avLst/>
              <a:gdLst/>
              <a:ahLst/>
              <a:cxnLst/>
              <a:rect l="l" t="t" r="r" b="b"/>
              <a:pathLst>
                <a:path w="2160904" h="2160904">
                  <a:moveTo>
                    <a:pt x="1080269" y="2160537"/>
                  </a:moveTo>
                  <a:lnTo>
                    <a:pt x="1032148" y="2159485"/>
                  </a:lnTo>
                  <a:lnTo>
                    <a:pt x="984568" y="2156356"/>
                  </a:lnTo>
                  <a:lnTo>
                    <a:pt x="937570" y="2151196"/>
                  </a:lnTo>
                  <a:lnTo>
                    <a:pt x="891200" y="2144048"/>
                  </a:lnTo>
                  <a:lnTo>
                    <a:pt x="845500" y="2134955"/>
                  </a:lnTo>
                  <a:lnTo>
                    <a:pt x="800514" y="2123963"/>
                  </a:lnTo>
                  <a:lnTo>
                    <a:pt x="756288" y="2111114"/>
                  </a:lnTo>
                  <a:lnTo>
                    <a:pt x="712863" y="2096453"/>
                  </a:lnTo>
                  <a:lnTo>
                    <a:pt x="670285" y="2080023"/>
                  </a:lnTo>
                  <a:lnTo>
                    <a:pt x="628598" y="2061869"/>
                  </a:lnTo>
                  <a:lnTo>
                    <a:pt x="587844" y="2042034"/>
                  </a:lnTo>
                  <a:lnTo>
                    <a:pt x="548069" y="2020562"/>
                  </a:lnTo>
                  <a:lnTo>
                    <a:pt x="509316" y="1997498"/>
                  </a:lnTo>
                  <a:lnTo>
                    <a:pt x="471628" y="1972885"/>
                  </a:lnTo>
                  <a:lnTo>
                    <a:pt x="435051" y="1946766"/>
                  </a:lnTo>
                  <a:lnTo>
                    <a:pt x="399627" y="1919187"/>
                  </a:lnTo>
                  <a:lnTo>
                    <a:pt x="365400" y="1890190"/>
                  </a:lnTo>
                  <a:lnTo>
                    <a:pt x="332416" y="1859820"/>
                  </a:lnTo>
                  <a:lnTo>
                    <a:pt x="300716" y="1828121"/>
                  </a:lnTo>
                  <a:lnTo>
                    <a:pt x="270347" y="1795136"/>
                  </a:lnTo>
                  <a:lnTo>
                    <a:pt x="241350" y="1760910"/>
                  </a:lnTo>
                  <a:lnTo>
                    <a:pt x="213770" y="1725486"/>
                  </a:lnTo>
                  <a:lnTo>
                    <a:pt x="187652" y="1688909"/>
                  </a:lnTo>
                  <a:lnTo>
                    <a:pt x="163039" y="1651221"/>
                  </a:lnTo>
                  <a:lnTo>
                    <a:pt x="139974" y="1612468"/>
                  </a:lnTo>
                  <a:lnTo>
                    <a:pt x="118503" y="1572692"/>
                  </a:lnTo>
                  <a:lnTo>
                    <a:pt x="98668" y="1531939"/>
                  </a:lnTo>
                  <a:lnTo>
                    <a:pt x="80514" y="1490251"/>
                  </a:lnTo>
                  <a:lnTo>
                    <a:pt x="64084" y="1447673"/>
                  </a:lnTo>
                  <a:lnTo>
                    <a:pt x="49423" y="1404249"/>
                  </a:lnTo>
                  <a:lnTo>
                    <a:pt x="36574" y="1360022"/>
                  </a:lnTo>
                  <a:lnTo>
                    <a:pt x="25581" y="1315037"/>
                  </a:lnTo>
                  <a:lnTo>
                    <a:pt x="16489" y="1269337"/>
                  </a:lnTo>
                  <a:lnTo>
                    <a:pt x="9341" y="1222967"/>
                  </a:lnTo>
                  <a:lnTo>
                    <a:pt x="4180" y="1175969"/>
                  </a:lnTo>
                  <a:lnTo>
                    <a:pt x="1052" y="1128389"/>
                  </a:lnTo>
                  <a:lnTo>
                    <a:pt x="0" y="1080267"/>
                  </a:lnTo>
                  <a:lnTo>
                    <a:pt x="1052" y="1032148"/>
                  </a:lnTo>
                  <a:lnTo>
                    <a:pt x="4180" y="984568"/>
                  </a:lnTo>
                  <a:lnTo>
                    <a:pt x="9341" y="937570"/>
                  </a:lnTo>
                  <a:lnTo>
                    <a:pt x="16489" y="891200"/>
                  </a:lnTo>
                  <a:lnTo>
                    <a:pt x="25581" y="845500"/>
                  </a:lnTo>
                  <a:lnTo>
                    <a:pt x="36574" y="800514"/>
                  </a:lnTo>
                  <a:lnTo>
                    <a:pt x="49423" y="756288"/>
                  </a:lnTo>
                  <a:lnTo>
                    <a:pt x="64084" y="712863"/>
                  </a:lnTo>
                  <a:lnTo>
                    <a:pt x="80514" y="670285"/>
                  </a:lnTo>
                  <a:lnTo>
                    <a:pt x="98668" y="628598"/>
                  </a:lnTo>
                  <a:lnTo>
                    <a:pt x="118503" y="587844"/>
                  </a:lnTo>
                  <a:lnTo>
                    <a:pt x="139974" y="548069"/>
                  </a:lnTo>
                  <a:lnTo>
                    <a:pt x="163039" y="509316"/>
                  </a:lnTo>
                  <a:lnTo>
                    <a:pt x="187652" y="471628"/>
                  </a:lnTo>
                  <a:lnTo>
                    <a:pt x="213770" y="435051"/>
                  </a:lnTo>
                  <a:lnTo>
                    <a:pt x="241350" y="399627"/>
                  </a:lnTo>
                  <a:lnTo>
                    <a:pt x="270347" y="365400"/>
                  </a:lnTo>
                  <a:lnTo>
                    <a:pt x="300716" y="332416"/>
                  </a:lnTo>
                  <a:lnTo>
                    <a:pt x="332416" y="300716"/>
                  </a:lnTo>
                  <a:lnTo>
                    <a:pt x="365400" y="270347"/>
                  </a:lnTo>
                  <a:lnTo>
                    <a:pt x="399627" y="241350"/>
                  </a:lnTo>
                  <a:lnTo>
                    <a:pt x="435051" y="213770"/>
                  </a:lnTo>
                  <a:lnTo>
                    <a:pt x="471628" y="187652"/>
                  </a:lnTo>
                  <a:lnTo>
                    <a:pt x="509316" y="163039"/>
                  </a:lnTo>
                  <a:lnTo>
                    <a:pt x="548069" y="139974"/>
                  </a:lnTo>
                  <a:lnTo>
                    <a:pt x="587844" y="118503"/>
                  </a:lnTo>
                  <a:lnTo>
                    <a:pt x="628598" y="98668"/>
                  </a:lnTo>
                  <a:lnTo>
                    <a:pt x="670285" y="80514"/>
                  </a:lnTo>
                  <a:lnTo>
                    <a:pt x="712863" y="64084"/>
                  </a:lnTo>
                  <a:lnTo>
                    <a:pt x="756288" y="49423"/>
                  </a:lnTo>
                  <a:lnTo>
                    <a:pt x="800514" y="36574"/>
                  </a:lnTo>
                  <a:lnTo>
                    <a:pt x="845500" y="25581"/>
                  </a:lnTo>
                  <a:lnTo>
                    <a:pt x="891200" y="16489"/>
                  </a:lnTo>
                  <a:lnTo>
                    <a:pt x="937570" y="9341"/>
                  </a:lnTo>
                  <a:lnTo>
                    <a:pt x="984568" y="4180"/>
                  </a:lnTo>
                  <a:lnTo>
                    <a:pt x="1032148" y="1052"/>
                  </a:lnTo>
                  <a:lnTo>
                    <a:pt x="1080269" y="0"/>
                  </a:lnTo>
                  <a:lnTo>
                    <a:pt x="1128389" y="1052"/>
                  </a:lnTo>
                  <a:lnTo>
                    <a:pt x="1175969" y="4180"/>
                  </a:lnTo>
                  <a:lnTo>
                    <a:pt x="1222967" y="9341"/>
                  </a:lnTo>
                  <a:lnTo>
                    <a:pt x="1269337" y="16489"/>
                  </a:lnTo>
                  <a:lnTo>
                    <a:pt x="1315037" y="25581"/>
                  </a:lnTo>
                  <a:lnTo>
                    <a:pt x="1360022" y="36574"/>
                  </a:lnTo>
                  <a:lnTo>
                    <a:pt x="1404249" y="49423"/>
                  </a:lnTo>
                  <a:lnTo>
                    <a:pt x="1447673" y="64084"/>
                  </a:lnTo>
                  <a:lnTo>
                    <a:pt x="1490251" y="80514"/>
                  </a:lnTo>
                  <a:lnTo>
                    <a:pt x="1531939" y="98668"/>
                  </a:lnTo>
                  <a:lnTo>
                    <a:pt x="1572692" y="118503"/>
                  </a:lnTo>
                  <a:lnTo>
                    <a:pt x="1612468" y="139974"/>
                  </a:lnTo>
                  <a:lnTo>
                    <a:pt x="1651221" y="163039"/>
                  </a:lnTo>
                  <a:lnTo>
                    <a:pt x="1688909" y="187652"/>
                  </a:lnTo>
                  <a:lnTo>
                    <a:pt x="1725486" y="213770"/>
                  </a:lnTo>
                  <a:lnTo>
                    <a:pt x="1760910" y="241350"/>
                  </a:lnTo>
                  <a:lnTo>
                    <a:pt x="1795136" y="270347"/>
                  </a:lnTo>
                  <a:lnTo>
                    <a:pt x="1828121" y="300716"/>
                  </a:lnTo>
                  <a:lnTo>
                    <a:pt x="1859820" y="332416"/>
                  </a:lnTo>
                  <a:lnTo>
                    <a:pt x="1890190" y="365400"/>
                  </a:lnTo>
                  <a:lnTo>
                    <a:pt x="1919187" y="399627"/>
                  </a:lnTo>
                  <a:lnTo>
                    <a:pt x="1946766" y="435051"/>
                  </a:lnTo>
                  <a:lnTo>
                    <a:pt x="1972885" y="471628"/>
                  </a:lnTo>
                  <a:lnTo>
                    <a:pt x="1997498" y="509316"/>
                  </a:lnTo>
                  <a:lnTo>
                    <a:pt x="2020562" y="548069"/>
                  </a:lnTo>
                  <a:lnTo>
                    <a:pt x="2042034" y="587844"/>
                  </a:lnTo>
                  <a:lnTo>
                    <a:pt x="2061869" y="628598"/>
                  </a:lnTo>
                  <a:lnTo>
                    <a:pt x="2080023" y="670285"/>
                  </a:lnTo>
                  <a:lnTo>
                    <a:pt x="2096453" y="712863"/>
                  </a:lnTo>
                  <a:lnTo>
                    <a:pt x="2111114" y="756288"/>
                  </a:lnTo>
                  <a:lnTo>
                    <a:pt x="2123963" y="800514"/>
                  </a:lnTo>
                  <a:lnTo>
                    <a:pt x="2134955" y="845500"/>
                  </a:lnTo>
                  <a:lnTo>
                    <a:pt x="2144048" y="891200"/>
                  </a:lnTo>
                  <a:lnTo>
                    <a:pt x="2151196" y="937570"/>
                  </a:lnTo>
                  <a:lnTo>
                    <a:pt x="2156356" y="984568"/>
                  </a:lnTo>
                  <a:lnTo>
                    <a:pt x="2159485" y="1032148"/>
                  </a:lnTo>
                  <a:lnTo>
                    <a:pt x="2160537" y="1080269"/>
                  </a:lnTo>
                  <a:lnTo>
                    <a:pt x="2159485" y="1128389"/>
                  </a:lnTo>
                  <a:lnTo>
                    <a:pt x="2156356" y="1175969"/>
                  </a:lnTo>
                  <a:lnTo>
                    <a:pt x="2151196" y="1222967"/>
                  </a:lnTo>
                  <a:lnTo>
                    <a:pt x="2144048" y="1269337"/>
                  </a:lnTo>
                  <a:lnTo>
                    <a:pt x="2134955" y="1315037"/>
                  </a:lnTo>
                  <a:lnTo>
                    <a:pt x="2123963" y="1360022"/>
                  </a:lnTo>
                  <a:lnTo>
                    <a:pt x="2111114" y="1404249"/>
                  </a:lnTo>
                  <a:lnTo>
                    <a:pt x="2096453" y="1447673"/>
                  </a:lnTo>
                  <a:lnTo>
                    <a:pt x="2080023" y="1490251"/>
                  </a:lnTo>
                  <a:lnTo>
                    <a:pt x="2061869" y="1531939"/>
                  </a:lnTo>
                  <a:lnTo>
                    <a:pt x="2042034" y="1572692"/>
                  </a:lnTo>
                  <a:lnTo>
                    <a:pt x="2020562" y="1612468"/>
                  </a:lnTo>
                  <a:lnTo>
                    <a:pt x="1997498" y="1651221"/>
                  </a:lnTo>
                  <a:lnTo>
                    <a:pt x="1972885" y="1688909"/>
                  </a:lnTo>
                  <a:lnTo>
                    <a:pt x="1946766" y="1725486"/>
                  </a:lnTo>
                  <a:lnTo>
                    <a:pt x="1919187" y="1760910"/>
                  </a:lnTo>
                  <a:lnTo>
                    <a:pt x="1890190" y="1795136"/>
                  </a:lnTo>
                  <a:lnTo>
                    <a:pt x="1859820" y="1828121"/>
                  </a:lnTo>
                  <a:lnTo>
                    <a:pt x="1828121" y="1859820"/>
                  </a:lnTo>
                  <a:lnTo>
                    <a:pt x="1795136" y="1890190"/>
                  </a:lnTo>
                  <a:lnTo>
                    <a:pt x="1760910" y="1919187"/>
                  </a:lnTo>
                  <a:lnTo>
                    <a:pt x="1725486" y="1946766"/>
                  </a:lnTo>
                  <a:lnTo>
                    <a:pt x="1688909" y="1972885"/>
                  </a:lnTo>
                  <a:lnTo>
                    <a:pt x="1651221" y="1997498"/>
                  </a:lnTo>
                  <a:lnTo>
                    <a:pt x="1612468" y="2020562"/>
                  </a:lnTo>
                  <a:lnTo>
                    <a:pt x="1572692" y="2042034"/>
                  </a:lnTo>
                  <a:lnTo>
                    <a:pt x="1531939" y="2061869"/>
                  </a:lnTo>
                  <a:lnTo>
                    <a:pt x="1490251" y="2080023"/>
                  </a:lnTo>
                  <a:lnTo>
                    <a:pt x="1447673" y="2096453"/>
                  </a:lnTo>
                  <a:lnTo>
                    <a:pt x="1404249" y="2111114"/>
                  </a:lnTo>
                  <a:lnTo>
                    <a:pt x="1360022" y="2123963"/>
                  </a:lnTo>
                  <a:lnTo>
                    <a:pt x="1315037" y="2134955"/>
                  </a:lnTo>
                  <a:lnTo>
                    <a:pt x="1269337" y="2144048"/>
                  </a:lnTo>
                  <a:lnTo>
                    <a:pt x="1222967" y="2151196"/>
                  </a:lnTo>
                  <a:lnTo>
                    <a:pt x="1175969" y="2156356"/>
                  </a:lnTo>
                  <a:lnTo>
                    <a:pt x="1128389" y="2159485"/>
                  </a:lnTo>
                  <a:lnTo>
                    <a:pt x="1080269" y="2160537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98790" y="4584770"/>
              <a:ext cx="617855" cy="1117600"/>
            </a:xfrm>
            <a:custGeom>
              <a:avLst/>
              <a:gdLst/>
              <a:ahLst/>
              <a:cxnLst/>
              <a:rect l="l" t="t" r="r" b="b"/>
              <a:pathLst>
                <a:path w="617854" h="1117600">
                  <a:moveTo>
                    <a:pt x="59115" y="1117353"/>
                  </a:moveTo>
                  <a:lnTo>
                    <a:pt x="0" y="1058237"/>
                  </a:lnTo>
                  <a:lnTo>
                    <a:pt x="499543" y="558682"/>
                  </a:lnTo>
                  <a:lnTo>
                    <a:pt x="0" y="59115"/>
                  </a:lnTo>
                  <a:lnTo>
                    <a:pt x="59115" y="0"/>
                  </a:lnTo>
                  <a:lnTo>
                    <a:pt x="617797" y="558682"/>
                  </a:lnTo>
                  <a:lnTo>
                    <a:pt x="59115" y="111735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01103"/>
              <a:ext cx="4785765" cy="7285896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15702658" y="7720699"/>
            <a:ext cx="1602740" cy="1602740"/>
          </a:xfrm>
          <a:custGeom>
            <a:avLst/>
            <a:gdLst/>
            <a:ahLst/>
            <a:cxnLst/>
            <a:rect l="l" t="t" r="r" b="b"/>
            <a:pathLst>
              <a:path w="1602740" h="1602740">
                <a:moveTo>
                  <a:pt x="922150" y="1602319"/>
                </a:moveTo>
                <a:lnTo>
                  <a:pt x="666079" y="1602319"/>
                </a:lnTo>
                <a:lnTo>
                  <a:pt x="662941" y="1600965"/>
                </a:lnTo>
                <a:lnTo>
                  <a:pt x="658265" y="1596289"/>
                </a:lnTo>
                <a:lnTo>
                  <a:pt x="656973" y="1593090"/>
                </a:lnTo>
                <a:lnTo>
                  <a:pt x="663433" y="1109988"/>
                </a:lnTo>
                <a:lnTo>
                  <a:pt x="342760" y="1456256"/>
                </a:lnTo>
                <a:lnTo>
                  <a:pt x="339069" y="1460132"/>
                </a:lnTo>
                <a:lnTo>
                  <a:pt x="335193" y="1461363"/>
                </a:lnTo>
                <a:lnTo>
                  <a:pt x="328609" y="1460379"/>
                </a:lnTo>
                <a:lnTo>
                  <a:pt x="326394" y="1459333"/>
                </a:lnTo>
                <a:lnTo>
                  <a:pt x="323626" y="1456687"/>
                </a:lnTo>
                <a:lnTo>
                  <a:pt x="322888" y="1455826"/>
                </a:lnTo>
                <a:lnTo>
                  <a:pt x="322334" y="1454964"/>
                </a:lnTo>
                <a:lnTo>
                  <a:pt x="312390" y="1445820"/>
                </a:lnTo>
                <a:lnTo>
                  <a:pt x="138494" y="1280046"/>
                </a:lnTo>
                <a:lnTo>
                  <a:pt x="137141" y="1276970"/>
                </a:lnTo>
                <a:lnTo>
                  <a:pt x="137018" y="1270387"/>
                </a:lnTo>
                <a:lnTo>
                  <a:pt x="138310" y="1267187"/>
                </a:lnTo>
                <a:lnTo>
                  <a:pt x="478487" y="920673"/>
                </a:lnTo>
                <a:lnTo>
                  <a:pt x="5475" y="919197"/>
                </a:lnTo>
                <a:lnTo>
                  <a:pt x="0" y="913659"/>
                </a:lnTo>
                <a:lnTo>
                  <a:pt x="0" y="702625"/>
                </a:lnTo>
                <a:lnTo>
                  <a:pt x="5475" y="697088"/>
                </a:lnTo>
                <a:lnTo>
                  <a:pt x="472949" y="695611"/>
                </a:lnTo>
                <a:lnTo>
                  <a:pt x="142986" y="346021"/>
                </a:lnTo>
                <a:lnTo>
                  <a:pt x="140709" y="343868"/>
                </a:lnTo>
                <a:lnTo>
                  <a:pt x="139294" y="340853"/>
                </a:lnTo>
                <a:lnTo>
                  <a:pt x="138987" y="333962"/>
                </a:lnTo>
                <a:lnTo>
                  <a:pt x="140463" y="330455"/>
                </a:lnTo>
                <a:lnTo>
                  <a:pt x="335623" y="151907"/>
                </a:lnTo>
                <a:lnTo>
                  <a:pt x="338884" y="150676"/>
                </a:lnTo>
                <a:lnTo>
                  <a:pt x="345406" y="151107"/>
                </a:lnTo>
                <a:lnTo>
                  <a:pt x="348482" y="152584"/>
                </a:lnTo>
                <a:lnTo>
                  <a:pt x="671370" y="517002"/>
                </a:lnTo>
                <a:lnTo>
                  <a:pt x="678138" y="5414"/>
                </a:lnTo>
                <a:lnTo>
                  <a:pt x="683675" y="0"/>
                </a:lnTo>
                <a:lnTo>
                  <a:pt x="904615" y="0"/>
                </a:lnTo>
                <a:lnTo>
                  <a:pt x="910152" y="5414"/>
                </a:lnTo>
                <a:lnTo>
                  <a:pt x="916366" y="474733"/>
                </a:lnTo>
                <a:lnTo>
                  <a:pt x="959496" y="430742"/>
                </a:lnTo>
                <a:lnTo>
                  <a:pt x="1285768" y="153507"/>
                </a:lnTo>
                <a:lnTo>
                  <a:pt x="1293459" y="154122"/>
                </a:lnTo>
                <a:lnTo>
                  <a:pt x="1438968" y="320426"/>
                </a:lnTo>
                <a:lnTo>
                  <a:pt x="1438475" y="328117"/>
                </a:lnTo>
                <a:lnTo>
                  <a:pt x="1125985" y="609721"/>
                </a:lnTo>
                <a:lnTo>
                  <a:pt x="1109535" y="627894"/>
                </a:lnTo>
                <a:lnTo>
                  <a:pt x="1048832" y="693827"/>
                </a:lnTo>
                <a:lnTo>
                  <a:pt x="1593275" y="692104"/>
                </a:lnTo>
                <a:lnTo>
                  <a:pt x="1596351" y="693396"/>
                </a:lnTo>
                <a:lnTo>
                  <a:pt x="1601027" y="698011"/>
                </a:lnTo>
                <a:lnTo>
                  <a:pt x="1602319" y="701149"/>
                </a:lnTo>
                <a:lnTo>
                  <a:pt x="1602319" y="915197"/>
                </a:lnTo>
                <a:lnTo>
                  <a:pt x="1601027" y="918335"/>
                </a:lnTo>
                <a:lnTo>
                  <a:pt x="1598689" y="920673"/>
                </a:lnTo>
                <a:lnTo>
                  <a:pt x="1596412" y="922950"/>
                </a:lnTo>
                <a:lnTo>
                  <a:pt x="1593459" y="924180"/>
                </a:lnTo>
                <a:lnTo>
                  <a:pt x="1590075" y="924241"/>
                </a:lnTo>
                <a:lnTo>
                  <a:pt x="1030620" y="922457"/>
                </a:lnTo>
                <a:lnTo>
                  <a:pt x="1037388" y="930148"/>
                </a:lnTo>
                <a:lnTo>
                  <a:pt x="1433861" y="1294135"/>
                </a:lnTo>
                <a:lnTo>
                  <a:pt x="1434292" y="1301765"/>
                </a:lnTo>
                <a:lnTo>
                  <a:pt x="1287368" y="1466962"/>
                </a:lnTo>
                <a:lnTo>
                  <a:pt x="1279738" y="1467454"/>
                </a:lnTo>
                <a:lnTo>
                  <a:pt x="925472" y="1162347"/>
                </a:lnTo>
                <a:lnTo>
                  <a:pt x="931133" y="1593090"/>
                </a:lnTo>
                <a:lnTo>
                  <a:pt x="929902" y="1596289"/>
                </a:lnTo>
                <a:lnTo>
                  <a:pt x="925288" y="1601027"/>
                </a:lnTo>
                <a:lnTo>
                  <a:pt x="922150" y="1602319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21724" y="1570892"/>
            <a:ext cx="11778615" cy="459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600" dirty="0">
                <a:solidFill>
                  <a:srgbClr val="0F1B40"/>
                </a:solidFill>
                <a:latin typeface="Tahoma"/>
                <a:cs typeface="Tahoma"/>
              </a:rPr>
              <a:t>ML</a:t>
            </a:r>
            <a:r>
              <a:rPr sz="5600" spc="-93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5600" spc="254" dirty="0">
                <a:solidFill>
                  <a:srgbClr val="0F1B40"/>
                </a:solidFill>
                <a:latin typeface="Tahoma"/>
                <a:cs typeface="Tahoma"/>
              </a:rPr>
              <a:t>models</a:t>
            </a:r>
            <a:endParaRPr sz="5600">
              <a:latin typeface="Tahoma"/>
              <a:cs typeface="Tahoma"/>
            </a:endParaRPr>
          </a:p>
          <a:p>
            <a:pPr marL="260985">
              <a:lnSpc>
                <a:spcPct val="100000"/>
              </a:lnSpc>
              <a:spcBef>
                <a:spcPts val="2430"/>
              </a:spcBef>
            </a:pPr>
            <a:r>
              <a:rPr sz="2950" b="1" i="1" spc="-415" dirty="0">
                <a:solidFill>
                  <a:srgbClr val="8FA3C1"/>
                </a:solidFill>
                <a:latin typeface="Verdana"/>
                <a:cs typeface="Verdana"/>
              </a:rPr>
              <a:t>(OPTIONAL</a:t>
            </a:r>
            <a:r>
              <a:rPr sz="2950" b="1" i="1" spc="-59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950" b="1" i="1" spc="-290" dirty="0">
                <a:solidFill>
                  <a:srgbClr val="8FA3C1"/>
                </a:solidFill>
                <a:latin typeface="Verdana"/>
                <a:cs typeface="Verdana"/>
              </a:rPr>
              <a:t>SMALL</a:t>
            </a:r>
            <a:r>
              <a:rPr sz="2950" b="1" i="1" spc="-59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950" b="1" i="1" spc="-415" dirty="0">
                <a:solidFill>
                  <a:srgbClr val="8FA3C1"/>
                </a:solidFill>
                <a:latin typeface="Verdana"/>
                <a:cs typeface="Verdana"/>
              </a:rPr>
              <a:t>MENTION)</a:t>
            </a:r>
            <a:r>
              <a:rPr sz="2950" b="1" i="1" spc="-590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950" b="1" i="1" spc="-370" dirty="0">
                <a:solidFill>
                  <a:srgbClr val="8FA3C1"/>
                </a:solidFill>
                <a:latin typeface="Verdana"/>
                <a:cs typeface="Verdana"/>
              </a:rPr>
              <a:t>SUPERVISED</a:t>
            </a:r>
            <a:r>
              <a:rPr sz="2950" b="1" i="1" spc="-585" dirty="0">
                <a:solidFill>
                  <a:srgbClr val="8FA3C1"/>
                </a:solidFill>
                <a:latin typeface="Verdana"/>
                <a:cs typeface="Verdana"/>
              </a:rPr>
              <a:t> </a:t>
            </a:r>
            <a:r>
              <a:rPr sz="2950" b="1" i="1" spc="-380" dirty="0">
                <a:solidFill>
                  <a:srgbClr val="8FA3C1"/>
                </a:solidFill>
                <a:latin typeface="Verdana"/>
                <a:cs typeface="Verdana"/>
              </a:rPr>
              <a:t>LEARNING</a:t>
            </a:r>
            <a:endParaRPr sz="2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950">
              <a:latin typeface="Verdana"/>
              <a:cs typeface="Verdana"/>
            </a:endParaRPr>
          </a:p>
          <a:p>
            <a:pPr marL="607695">
              <a:lnSpc>
                <a:spcPct val="100000"/>
              </a:lnSpc>
            </a:pPr>
            <a:r>
              <a:rPr sz="2300" spc="185" dirty="0">
                <a:latin typeface="Tahoma"/>
                <a:cs typeface="Tahoma"/>
              </a:rPr>
              <a:t>We</a:t>
            </a:r>
            <a:r>
              <a:rPr sz="2300" spc="-3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trained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130" dirty="0">
                <a:latin typeface="Tahoma"/>
                <a:cs typeface="Tahoma"/>
              </a:rPr>
              <a:t>a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few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regression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models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mainly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to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complete</a:t>
            </a:r>
            <a:r>
              <a:rPr sz="2300" spc="-36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the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project</a:t>
            </a:r>
            <a:r>
              <a:rPr sz="2300" spc="-3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structure</a:t>
            </a:r>
            <a:endParaRPr sz="2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2300">
              <a:latin typeface="Tahoma"/>
              <a:cs typeface="Tahoma"/>
            </a:endParaRPr>
          </a:p>
          <a:p>
            <a:pPr marL="1562735">
              <a:lnSpc>
                <a:spcPct val="100000"/>
              </a:lnSpc>
            </a:pPr>
            <a:r>
              <a:rPr sz="2200" b="1" spc="55" dirty="0">
                <a:solidFill>
                  <a:srgbClr val="8FA3C1"/>
                </a:solidFill>
                <a:latin typeface="Tahoma"/>
                <a:cs typeface="Tahoma"/>
              </a:rPr>
              <a:t>UNSUPERVISED</a:t>
            </a:r>
            <a:r>
              <a:rPr sz="2200" b="1" spc="1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8FA3C1"/>
                </a:solidFill>
                <a:latin typeface="Tahoma"/>
                <a:cs typeface="Tahoma"/>
              </a:rPr>
              <a:t>LEARNING:</a:t>
            </a:r>
            <a:r>
              <a:rPr sz="2200" b="1" spc="1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8FA3C1"/>
                </a:solidFill>
                <a:latin typeface="Tahoma"/>
                <a:cs typeface="Tahoma"/>
              </a:rPr>
              <a:t>K-</a:t>
            </a:r>
            <a:r>
              <a:rPr sz="2200" b="1" spc="105" dirty="0">
                <a:solidFill>
                  <a:srgbClr val="8FA3C1"/>
                </a:solidFill>
                <a:latin typeface="Tahoma"/>
                <a:cs typeface="Tahoma"/>
              </a:rPr>
              <a:t>MEANS</a:t>
            </a:r>
            <a:r>
              <a:rPr sz="2200" b="1" spc="1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8FA3C1"/>
                </a:solidFill>
                <a:latin typeface="Tahoma"/>
                <a:cs typeface="Tahoma"/>
              </a:rPr>
              <a:t>CLUSTERING</a:t>
            </a:r>
            <a:endParaRPr sz="2200">
              <a:latin typeface="Tahoma"/>
              <a:cs typeface="Tahoma"/>
            </a:endParaRPr>
          </a:p>
          <a:p>
            <a:pPr marL="908050" marR="5080" algn="ctr">
              <a:lnSpc>
                <a:spcPct val="114900"/>
              </a:lnSpc>
              <a:spcBef>
                <a:spcPts val="1739"/>
              </a:spcBef>
            </a:pPr>
            <a:r>
              <a:rPr sz="1850" spc="200" dirty="0">
                <a:latin typeface="Tahoma"/>
                <a:cs typeface="Tahoma"/>
              </a:rPr>
              <a:t>FOR</a:t>
            </a:r>
            <a:r>
              <a:rPr sz="1850" spc="-85" dirty="0">
                <a:latin typeface="Tahoma"/>
                <a:cs typeface="Tahoma"/>
              </a:rPr>
              <a:t> </a:t>
            </a:r>
            <a:r>
              <a:rPr sz="1850" spc="180" dirty="0">
                <a:latin typeface="Tahoma"/>
                <a:cs typeface="Tahoma"/>
              </a:rPr>
              <a:t>CUSTOMER</a:t>
            </a:r>
            <a:r>
              <a:rPr sz="1850" spc="-85" dirty="0">
                <a:latin typeface="Tahoma"/>
                <a:cs typeface="Tahoma"/>
              </a:rPr>
              <a:t> </a:t>
            </a:r>
            <a:r>
              <a:rPr sz="1850" spc="114" dirty="0">
                <a:latin typeface="Tahoma"/>
                <a:cs typeface="Tahoma"/>
              </a:rPr>
              <a:t>SEGMENTATION,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275" dirty="0">
                <a:latin typeface="Tahoma"/>
                <a:cs typeface="Tahoma"/>
              </a:rPr>
              <a:t>WE</a:t>
            </a:r>
            <a:r>
              <a:rPr sz="1850" spc="-85" dirty="0">
                <a:latin typeface="Tahoma"/>
                <a:cs typeface="Tahoma"/>
              </a:rPr>
              <a:t> </a:t>
            </a:r>
            <a:r>
              <a:rPr sz="1850" spc="180" dirty="0">
                <a:latin typeface="Tahoma"/>
                <a:cs typeface="Tahoma"/>
              </a:rPr>
              <a:t>APPLIED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90" dirty="0">
                <a:latin typeface="Tahoma"/>
                <a:cs typeface="Tahoma"/>
              </a:rPr>
              <a:t>K-</a:t>
            </a:r>
            <a:r>
              <a:rPr sz="1850" spc="220" dirty="0">
                <a:latin typeface="Tahoma"/>
                <a:cs typeface="Tahoma"/>
              </a:rPr>
              <a:t>MEANS</a:t>
            </a:r>
            <a:r>
              <a:rPr sz="1850" spc="-85" dirty="0">
                <a:latin typeface="Tahoma"/>
                <a:cs typeface="Tahoma"/>
              </a:rPr>
              <a:t> </a:t>
            </a:r>
            <a:r>
              <a:rPr sz="1850" spc="135" dirty="0">
                <a:latin typeface="Tahoma"/>
                <a:cs typeface="Tahoma"/>
              </a:rPr>
              <a:t>CLUSTERING</a:t>
            </a:r>
            <a:r>
              <a:rPr sz="1850" spc="-85" dirty="0">
                <a:latin typeface="Tahoma"/>
                <a:cs typeface="Tahoma"/>
              </a:rPr>
              <a:t> </a:t>
            </a:r>
            <a:r>
              <a:rPr sz="1850" spc="245" dirty="0">
                <a:latin typeface="Tahoma"/>
                <a:cs typeface="Tahoma"/>
              </a:rPr>
              <a:t>ON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235" dirty="0">
                <a:latin typeface="Tahoma"/>
                <a:cs typeface="Tahoma"/>
              </a:rPr>
              <a:t>RFM</a:t>
            </a:r>
            <a:r>
              <a:rPr sz="1850" spc="-85" dirty="0">
                <a:latin typeface="Tahoma"/>
                <a:cs typeface="Tahoma"/>
              </a:rPr>
              <a:t> </a:t>
            </a:r>
            <a:r>
              <a:rPr sz="1850" spc="110" dirty="0">
                <a:latin typeface="Tahoma"/>
                <a:cs typeface="Tahoma"/>
              </a:rPr>
              <a:t>FEATURES. </a:t>
            </a:r>
            <a:r>
              <a:rPr sz="1850" spc="155" dirty="0">
                <a:latin typeface="Tahoma"/>
                <a:cs typeface="Tahoma"/>
              </a:rPr>
              <a:t>AFTER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80" dirty="0">
                <a:latin typeface="Tahoma"/>
                <a:cs typeface="Tahoma"/>
              </a:rPr>
              <a:t>TESTING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50" dirty="0">
                <a:latin typeface="Tahoma"/>
                <a:cs typeface="Tahoma"/>
              </a:rPr>
              <a:t>DIFFERENT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65" dirty="0">
                <a:latin typeface="Tahoma"/>
                <a:cs typeface="Tahoma"/>
              </a:rPr>
              <a:t>VALUES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215" dirty="0">
                <a:latin typeface="Tahoma"/>
                <a:cs typeface="Tahoma"/>
              </a:rPr>
              <a:t>OF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dirty="0">
                <a:latin typeface="Tahoma"/>
                <a:cs typeface="Tahoma"/>
              </a:rPr>
              <a:t>K,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275" dirty="0">
                <a:latin typeface="Tahoma"/>
                <a:cs typeface="Tahoma"/>
              </a:rPr>
              <a:t>WE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60" dirty="0">
                <a:latin typeface="Tahoma"/>
                <a:cs typeface="Tahoma"/>
              </a:rPr>
              <a:t>SELECTED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215" dirty="0">
                <a:latin typeface="Tahoma"/>
                <a:cs typeface="Tahoma"/>
              </a:rPr>
              <a:t>K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-300" dirty="0">
                <a:latin typeface="Tahoma"/>
                <a:cs typeface="Tahoma"/>
              </a:rPr>
              <a:t>=</a:t>
            </a:r>
            <a:r>
              <a:rPr sz="1850" spc="-75" dirty="0">
                <a:latin typeface="Tahoma"/>
                <a:cs typeface="Tahoma"/>
              </a:rPr>
              <a:t> 5,</a:t>
            </a:r>
            <a:r>
              <a:rPr sz="1850" spc="-80" dirty="0">
                <a:latin typeface="Tahoma"/>
                <a:cs typeface="Tahoma"/>
              </a:rPr>
              <a:t> </a:t>
            </a:r>
            <a:r>
              <a:rPr sz="1850" spc="185" dirty="0">
                <a:latin typeface="Tahoma"/>
                <a:cs typeface="Tahoma"/>
              </a:rPr>
              <a:t>WHICH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70" dirty="0">
                <a:latin typeface="Tahoma"/>
                <a:cs typeface="Tahoma"/>
              </a:rPr>
              <a:t>GAVE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60" dirty="0">
                <a:latin typeface="Tahoma"/>
                <a:cs typeface="Tahoma"/>
              </a:rPr>
              <a:t>WELL- </a:t>
            </a:r>
            <a:r>
              <a:rPr sz="1850" spc="165" dirty="0">
                <a:latin typeface="Tahoma"/>
                <a:cs typeface="Tahoma"/>
              </a:rPr>
              <a:t>SEPARATED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245" dirty="0">
                <a:latin typeface="Tahoma"/>
                <a:cs typeface="Tahoma"/>
              </a:rPr>
              <a:t>AND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90" dirty="0">
                <a:latin typeface="Tahoma"/>
                <a:cs typeface="Tahoma"/>
              </a:rPr>
              <a:t>MEANINGFUL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80" dirty="0">
                <a:latin typeface="Tahoma"/>
                <a:cs typeface="Tahoma"/>
              </a:rPr>
              <a:t>CUSTOMER</a:t>
            </a:r>
            <a:r>
              <a:rPr sz="1850" spc="-75" dirty="0">
                <a:latin typeface="Tahoma"/>
                <a:cs typeface="Tahoma"/>
              </a:rPr>
              <a:t> </a:t>
            </a:r>
            <a:r>
              <a:rPr sz="1850" spc="195" dirty="0">
                <a:latin typeface="Tahoma"/>
                <a:cs typeface="Tahoma"/>
              </a:rPr>
              <a:t>GROUPS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23889" y="6964689"/>
            <a:ext cx="11909425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110" dirty="0">
                <a:latin typeface="Tahoma"/>
                <a:cs typeface="Tahoma"/>
              </a:rPr>
              <a:t>“WE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75" dirty="0">
                <a:latin typeface="Tahoma"/>
                <a:cs typeface="Tahoma"/>
              </a:rPr>
              <a:t>ANALYZED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110" dirty="0">
                <a:latin typeface="Tahoma"/>
                <a:cs typeface="Tahoma"/>
              </a:rPr>
              <a:t>EACH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55" dirty="0">
                <a:latin typeface="Tahoma"/>
                <a:cs typeface="Tahoma"/>
              </a:rPr>
              <a:t>CLUSTER</a:t>
            </a:r>
            <a:r>
              <a:rPr sz="1600" b="1" spc="70" dirty="0">
                <a:latin typeface="Tahoma"/>
                <a:cs typeface="Tahoma"/>
              </a:rPr>
              <a:t> </a:t>
            </a:r>
            <a:r>
              <a:rPr sz="1600" b="1" spc="100" dirty="0">
                <a:latin typeface="Tahoma"/>
                <a:cs typeface="Tahoma"/>
              </a:rPr>
              <a:t>BASED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95" dirty="0">
                <a:latin typeface="Tahoma"/>
                <a:cs typeface="Tahoma"/>
              </a:rPr>
              <a:t>ON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SPENDING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BEHAVIOR,</a:t>
            </a:r>
            <a:r>
              <a:rPr sz="1600" b="1" spc="70" dirty="0">
                <a:latin typeface="Tahoma"/>
                <a:cs typeface="Tahoma"/>
              </a:rPr>
              <a:t> </a:t>
            </a:r>
            <a:r>
              <a:rPr sz="1600" b="1" spc="45" dirty="0">
                <a:latin typeface="Tahoma"/>
                <a:cs typeface="Tahoma"/>
              </a:rPr>
              <a:t>PURCHASING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60" dirty="0">
                <a:latin typeface="Tahoma"/>
                <a:cs typeface="Tahoma"/>
              </a:rPr>
              <a:t>FREQUENCY,</a:t>
            </a:r>
            <a:r>
              <a:rPr sz="1600" b="1" spc="65" dirty="0">
                <a:latin typeface="Tahoma"/>
                <a:cs typeface="Tahoma"/>
              </a:rPr>
              <a:t> </a:t>
            </a:r>
            <a:r>
              <a:rPr sz="1600" b="1" spc="110" dirty="0">
                <a:latin typeface="Tahoma"/>
                <a:cs typeface="Tahoma"/>
              </a:rPr>
              <a:t>AND</a:t>
            </a:r>
            <a:r>
              <a:rPr sz="1600" b="1" spc="70" dirty="0">
                <a:latin typeface="Tahoma"/>
                <a:cs typeface="Tahoma"/>
              </a:rPr>
              <a:t> </a:t>
            </a:r>
            <a:r>
              <a:rPr sz="1600" b="1" spc="65" dirty="0">
                <a:latin typeface="Tahoma"/>
                <a:cs typeface="Tahoma"/>
              </a:rPr>
              <a:t>RECENCY”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50265" y="1047486"/>
            <a:ext cx="17585055" cy="9239885"/>
            <a:chOff x="350265" y="1047486"/>
            <a:chExt cx="17585055" cy="9239885"/>
          </a:xfrm>
        </p:grpSpPr>
        <p:sp>
          <p:nvSpPr>
            <p:cNvPr id="6" name="object 6"/>
            <p:cNvSpPr/>
            <p:nvPr/>
          </p:nvSpPr>
          <p:spPr>
            <a:xfrm>
              <a:off x="16736420" y="1047486"/>
              <a:ext cx="523875" cy="73660"/>
            </a:xfrm>
            <a:custGeom>
              <a:avLst/>
              <a:gdLst/>
              <a:ahLst/>
              <a:cxnLst/>
              <a:rect l="l" t="t" r="r" b="b"/>
              <a:pathLst>
                <a:path w="523875" h="73659">
                  <a:moveTo>
                    <a:pt x="0" y="73632"/>
                  </a:moveTo>
                  <a:lnTo>
                    <a:pt x="0" y="0"/>
                  </a:lnTo>
                  <a:lnTo>
                    <a:pt x="523874" y="0"/>
                  </a:lnTo>
                  <a:lnTo>
                    <a:pt x="523874" y="73632"/>
                  </a:lnTo>
                  <a:lnTo>
                    <a:pt x="0" y="73632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265" y="1980845"/>
              <a:ext cx="17585055" cy="4107815"/>
            </a:xfrm>
            <a:custGeom>
              <a:avLst/>
              <a:gdLst/>
              <a:ahLst/>
              <a:cxnLst/>
              <a:rect l="l" t="t" r="r" b="b"/>
              <a:pathLst>
                <a:path w="17585055" h="4107815">
                  <a:moveTo>
                    <a:pt x="17101694" y="4107424"/>
                  </a:moveTo>
                  <a:lnTo>
                    <a:pt x="485775" y="4107424"/>
                  </a:lnTo>
                  <a:lnTo>
                    <a:pt x="437762" y="4105047"/>
                  </a:lnTo>
                  <a:lnTo>
                    <a:pt x="390562" y="4098004"/>
                  </a:lnTo>
                  <a:lnTo>
                    <a:pt x="344494" y="4086426"/>
                  </a:lnTo>
                  <a:lnTo>
                    <a:pt x="299876" y="4070446"/>
                  </a:lnTo>
                  <a:lnTo>
                    <a:pt x="257028" y="4050196"/>
                  </a:lnTo>
                  <a:lnTo>
                    <a:pt x="216266" y="4025808"/>
                  </a:lnTo>
                  <a:lnTo>
                    <a:pt x="177911" y="3997413"/>
                  </a:lnTo>
                  <a:lnTo>
                    <a:pt x="142280" y="3965143"/>
                  </a:lnTo>
                  <a:lnTo>
                    <a:pt x="110010" y="3929512"/>
                  </a:lnTo>
                  <a:lnTo>
                    <a:pt x="81615" y="3891157"/>
                  </a:lnTo>
                  <a:lnTo>
                    <a:pt x="57227" y="3850396"/>
                  </a:lnTo>
                  <a:lnTo>
                    <a:pt x="36977" y="3807547"/>
                  </a:lnTo>
                  <a:lnTo>
                    <a:pt x="20997" y="3762930"/>
                  </a:lnTo>
                  <a:lnTo>
                    <a:pt x="9420" y="3716862"/>
                  </a:lnTo>
                  <a:lnTo>
                    <a:pt x="2377" y="3669662"/>
                  </a:lnTo>
                  <a:lnTo>
                    <a:pt x="0" y="3621649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7101694" y="0"/>
                  </a:lnTo>
                  <a:lnTo>
                    <a:pt x="17149706" y="2377"/>
                  </a:lnTo>
                  <a:lnTo>
                    <a:pt x="17196906" y="9420"/>
                  </a:lnTo>
                  <a:lnTo>
                    <a:pt x="17242973" y="20997"/>
                  </a:lnTo>
                  <a:lnTo>
                    <a:pt x="17287591" y="36977"/>
                  </a:lnTo>
                  <a:lnTo>
                    <a:pt x="17330440" y="57227"/>
                  </a:lnTo>
                  <a:lnTo>
                    <a:pt x="17371201" y="81615"/>
                  </a:lnTo>
                  <a:lnTo>
                    <a:pt x="17409556" y="110010"/>
                  </a:lnTo>
                  <a:lnTo>
                    <a:pt x="17445188" y="142280"/>
                  </a:lnTo>
                  <a:lnTo>
                    <a:pt x="17477458" y="177911"/>
                  </a:lnTo>
                  <a:lnTo>
                    <a:pt x="17505853" y="216266"/>
                  </a:lnTo>
                  <a:lnTo>
                    <a:pt x="17530241" y="257028"/>
                  </a:lnTo>
                  <a:lnTo>
                    <a:pt x="17550492" y="299877"/>
                  </a:lnTo>
                  <a:lnTo>
                    <a:pt x="17566471" y="344494"/>
                  </a:lnTo>
                  <a:lnTo>
                    <a:pt x="17578049" y="390562"/>
                  </a:lnTo>
                  <a:lnTo>
                    <a:pt x="17584911" y="436552"/>
                  </a:lnTo>
                  <a:lnTo>
                    <a:pt x="17584911" y="3670872"/>
                  </a:lnTo>
                  <a:lnTo>
                    <a:pt x="17578049" y="3716862"/>
                  </a:lnTo>
                  <a:lnTo>
                    <a:pt x="17566471" y="3762930"/>
                  </a:lnTo>
                  <a:lnTo>
                    <a:pt x="17550492" y="3807547"/>
                  </a:lnTo>
                  <a:lnTo>
                    <a:pt x="17530241" y="3850396"/>
                  </a:lnTo>
                  <a:lnTo>
                    <a:pt x="17505853" y="3891157"/>
                  </a:lnTo>
                  <a:lnTo>
                    <a:pt x="17477458" y="3929512"/>
                  </a:lnTo>
                  <a:lnTo>
                    <a:pt x="17445188" y="3965143"/>
                  </a:lnTo>
                  <a:lnTo>
                    <a:pt x="17409556" y="3997413"/>
                  </a:lnTo>
                  <a:lnTo>
                    <a:pt x="17371201" y="4025808"/>
                  </a:lnTo>
                  <a:lnTo>
                    <a:pt x="17330440" y="4050196"/>
                  </a:lnTo>
                  <a:lnTo>
                    <a:pt x="17287591" y="4070446"/>
                  </a:lnTo>
                  <a:lnTo>
                    <a:pt x="17242973" y="4086426"/>
                  </a:lnTo>
                  <a:lnTo>
                    <a:pt x="17196906" y="4098004"/>
                  </a:lnTo>
                  <a:lnTo>
                    <a:pt x="17149706" y="4105047"/>
                  </a:lnTo>
                  <a:lnTo>
                    <a:pt x="17101694" y="4107424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64386" y="1121175"/>
              <a:ext cx="4569916" cy="9165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1872" y="578633"/>
            <a:ext cx="1602105" cy="61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100"/>
              </a:spcBef>
            </a:pPr>
            <a:r>
              <a:rPr sz="2050" b="1" spc="40" dirty="0">
                <a:solidFill>
                  <a:srgbClr val="0F1B40"/>
                </a:solidFill>
                <a:latin typeface="Tahoma"/>
                <a:cs typeface="Tahoma"/>
              </a:rPr>
              <a:t>THYNK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ts val="2320"/>
              </a:lnSpc>
            </a:pPr>
            <a:r>
              <a:rPr sz="2050" spc="100" dirty="0">
                <a:solidFill>
                  <a:srgbClr val="0F1B40"/>
                </a:solidFill>
                <a:latin typeface="Tahoma"/>
                <a:cs typeface="Tahoma"/>
              </a:rPr>
              <a:t>UNLIMITED.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2372" y="2708553"/>
            <a:ext cx="8578850" cy="233045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455"/>
              </a:spcBef>
            </a:pPr>
            <a:r>
              <a:rPr sz="5800" spc="165" dirty="0">
                <a:solidFill>
                  <a:srgbClr val="0F1B40"/>
                </a:solidFill>
                <a:latin typeface="Tahoma"/>
                <a:cs typeface="Tahoma"/>
              </a:rPr>
              <a:t>Unsupervised</a:t>
            </a:r>
            <a:r>
              <a:rPr sz="5800" spc="-91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5800" spc="600" dirty="0">
                <a:solidFill>
                  <a:srgbClr val="0F1B40"/>
                </a:solidFill>
                <a:latin typeface="Tahoma"/>
                <a:cs typeface="Tahoma"/>
              </a:rPr>
              <a:t>ML</a:t>
            </a:r>
            <a:endParaRPr sz="5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6850" b="1" spc="204" dirty="0">
                <a:solidFill>
                  <a:srgbClr val="0F1B40"/>
                </a:solidFill>
                <a:latin typeface="Tahoma"/>
                <a:cs typeface="Tahoma"/>
              </a:rPr>
              <a:t>PCA</a:t>
            </a:r>
            <a:r>
              <a:rPr sz="6850" b="1" spc="-86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850" b="1" spc="-200" dirty="0">
                <a:solidFill>
                  <a:srgbClr val="0F1B40"/>
                </a:solidFill>
                <a:latin typeface="Tahoma"/>
                <a:cs typeface="Tahoma"/>
              </a:rPr>
              <a:t>for</a:t>
            </a:r>
            <a:r>
              <a:rPr sz="6850" b="1" spc="-86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850" b="1" spc="-204" dirty="0">
                <a:solidFill>
                  <a:srgbClr val="0F1B40"/>
                </a:solidFill>
                <a:latin typeface="Tahoma"/>
                <a:cs typeface="Tahoma"/>
              </a:rPr>
              <a:t>Visualization</a:t>
            </a:r>
            <a:endParaRPr sz="68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61475" y="2428472"/>
            <a:ext cx="16198215" cy="6830059"/>
            <a:chOff x="1061475" y="2428472"/>
            <a:chExt cx="16198215" cy="6830059"/>
          </a:xfrm>
        </p:grpSpPr>
        <p:sp>
          <p:nvSpPr>
            <p:cNvPr id="16" name="object 16"/>
            <p:cNvSpPr/>
            <p:nvPr/>
          </p:nvSpPr>
          <p:spPr>
            <a:xfrm>
              <a:off x="15887643" y="7886643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433878" y="8217769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30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91879" y="2428472"/>
              <a:ext cx="2771140" cy="2771140"/>
            </a:xfrm>
            <a:custGeom>
              <a:avLst/>
              <a:gdLst/>
              <a:ahLst/>
              <a:cxnLst/>
              <a:rect l="l" t="t" r="r" b="b"/>
              <a:pathLst>
                <a:path w="2771140" h="2771140">
                  <a:moveTo>
                    <a:pt x="1594596" y="2770754"/>
                  </a:moveTo>
                  <a:lnTo>
                    <a:pt x="1151794" y="2770754"/>
                  </a:lnTo>
                  <a:lnTo>
                    <a:pt x="1146368" y="2768413"/>
                  </a:lnTo>
                  <a:lnTo>
                    <a:pt x="1138282" y="2760327"/>
                  </a:lnTo>
                  <a:lnTo>
                    <a:pt x="1136048" y="2754795"/>
                  </a:lnTo>
                  <a:lnTo>
                    <a:pt x="1147219" y="1919409"/>
                  </a:lnTo>
                  <a:lnTo>
                    <a:pt x="586323" y="2524883"/>
                  </a:lnTo>
                  <a:lnTo>
                    <a:pt x="579621" y="2527011"/>
                  </a:lnTo>
                  <a:lnTo>
                    <a:pt x="568237" y="2525309"/>
                  </a:lnTo>
                  <a:lnTo>
                    <a:pt x="564407" y="2523500"/>
                  </a:lnTo>
                  <a:lnTo>
                    <a:pt x="559619" y="2518925"/>
                  </a:lnTo>
                  <a:lnTo>
                    <a:pt x="558342" y="2517436"/>
                  </a:lnTo>
                  <a:lnTo>
                    <a:pt x="557385" y="2515947"/>
                  </a:lnTo>
                  <a:lnTo>
                    <a:pt x="540189" y="2500134"/>
                  </a:lnTo>
                  <a:lnTo>
                    <a:pt x="239487" y="2213475"/>
                  </a:lnTo>
                  <a:lnTo>
                    <a:pt x="237146" y="2208156"/>
                  </a:lnTo>
                  <a:lnTo>
                    <a:pt x="236933" y="2196772"/>
                  </a:lnTo>
                  <a:lnTo>
                    <a:pt x="239168" y="2191240"/>
                  </a:lnTo>
                  <a:lnTo>
                    <a:pt x="827406" y="1592042"/>
                  </a:lnTo>
                  <a:lnTo>
                    <a:pt x="21171" y="1589489"/>
                  </a:lnTo>
                  <a:lnTo>
                    <a:pt x="12926" y="1587810"/>
                  </a:lnTo>
                  <a:lnTo>
                    <a:pt x="6197" y="1583238"/>
                  </a:lnTo>
                  <a:lnTo>
                    <a:pt x="1662" y="1576473"/>
                  </a:lnTo>
                  <a:lnTo>
                    <a:pt x="0" y="1568211"/>
                  </a:lnTo>
                  <a:lnTo>
                    <a:pt x="0" y="1226694"/>
                  </a:lnTo>
                  <a:lnTo>
                    <a:pt x="817831" y="1202862"/>
                  </a:lnTo>
                  <a:lnTo>
                    <a:pt x="247253" y="598345"/>
                  </a:lnTo>
                  <a:lnTo>
                    <a:pt x="243317" y="594622"/>
                  </a:lnTo>
                  <a:lnTo>
                    <a:pt x="240870" y="589408"/>
                  </a:lnTo>
                  <a:lnTo>
                    <a:pt x="240338" y="577493"/>
                  </a:lnTo>
                  <a:lnTo>
                    <a:pt x="242891" y="571428"/>
                  </a:lnTo>
                  <a:lnTo>
                    <a:pt x="580365" y="262680"/>
                  </a:lnTo>
                  <a:lnTo>
                    <a:pt x="586004" y="260552"/>
                  </a:lnTo>
                  <a:lnTo>
                    <a:pt x="597282" y="261297"/>
                  </a:lnTo>
                  <a:lnTo>
                    <a:pt x="602601" y="263850"/>
                  </a:lnTo>
                  <a:lnTo>
                    <a:pt x="1160944" y="894008"/>
                  </a:lnTo>
                  <a:lnTo>
                    <a:pt x="1172540" y="20959"/>
                  </a:lnTo>
                  <a:lnTo>
                    <a:pt x="1174279" y="12791"/>
                  </a:lnTo>
                  <a:lnTo>
                    <a:pt x="1178871" y="6130"/>
                  </a:lnTo>
                  <a:lnTo>
                    <a:pt x="1185617" y="1644"/>
                  </a:lnTo>
                  <a:lnTo>
                    <a:pt x="1193819" y="0"/>
                  </a:lnTo>
                  <a:lnTo>
                    <a:pt x="1552677" y="0"/>
                  </a:lnTo>
                  <a:lnTo>
                    <a:pt x="1584595" y="820917"/>
                  </a:lnTo>
                  <a:lnTo>
                    <a:pt x="1659175" y="744847"/>
                  </a:lnTo>
                  <a:lnTo>
                    <a:pt x="2214539" y="273000"/>
                  </a:lnTo>
                  <a:lnTo>
                    <a:pt x="2221842" y="268936"/>
                  </a:lnTo>
                  <a:lnTo>
                    <a:pt x="2229873" y="268013"/>
                  </a:lnTo>
                  <a:lnTo>
                    <a:pt x="2237684" y="270142"/>
                  </a:lnTo>
                  <a:lnTo>
                    <a:pt x="2244329" y="275234"/>
                  </a:lnTo>
                  <a:lnTo>
                    <a:pt x="2480625" y="545362"/>
                  </a:lnTo>
                  <a:lnTo>
                    <a:pt x="2484785" y="552605"/>
                  </a:lnTo>
                  <a:lnTo>
                    <a:pt x="2485824" y="560616"/>
                  </a:lnTo>
                  <a:lnTo>
                    <a:pt x="2483811" y="568448"/>
                  </a:lnTo>
                  <a:lnTo>
                    <a:pt x="2478816" y="575152"/>
                  </a:lnTo>
                  <a:lnTo>
                    <a:pt x="1947071" y="1054340"/>
                  </a:lnTo>
                  <a:lnTo>
                    <a:pt x="1918625" y="1085765"/>
                  </a:lnTo>
                  <a:lnTo>
                    <a:pt x="1813656" y="1199777"/>
                  </a:lnTo>
                  <a:lnTo>
                    <a:pt x="2755115" y="1196798"/>
                  </a:lnTo>
                  <a:lnTo>
                    <a:pt x="2760434" y="1199032"/>
                  </a:lnTo>
                  <a:lnTo>
                    <a:pt x="2768520" y="1207011"/>
                  </a:lnTo>
                  <a:lnTo>
                    <a:pt x="2770754" y="1212437"/>
                  </a:lnTo>
                  <a:lnTo>
                    <a:pt x="2770754" y="1582573"/>
                  </a:lnTo>
                  <a:lnTo>
                    <a:pt x="2768520" y="1587999"/>
                  </a:lnTo>
                  <a:lnTo>
                    <a:pt x="2764477" y="1592042"/>
                  </a:lnTo>
                  <a:lnTo>
                    <a:pt x="2760541" y="1595979"/>
                  </a:lnTo>
                  <a:lnTo>
                    <a:pt x="2755434" y="1598107"/>
                  </a:lnTo>
                  <a:lnTo>
                    <a:pt x="2749582" y="1598213"/>
                  </a:lnTo>
                  <a:lnTo>
                    <a:pt x="1782164" y="1595127"/>
                  </a:lnTo>
                  <a:lnTo>
                    <a:pt x="1793867" y="1608426"/>
                  </a:lnTo>
                  <a:lnTo>
                    <a:pt x="2470943" y="2229966"/>
                  </a:lnTo>
                  <a:lnTo>
                    <a:pt x="2475858" y="2236715"/>
                  </a:lnTo>
                  <a:lnTo>
                    <a:pt x="2477792" y="2244541"/>
                  </a:lnTo>
                  <a:lnTo>
                    <a:pt x="2476673" y="2252527"/>
                  </a:lnTo>
                  <a:lnTo>
                    <a:pt x="2472432" y="2259755"/>
                  </a:lnTo>
                  <a:lnTo>
                    <a:pt x="2233903" y="2527968"/>
                  </a:lnTo>
                  <a:lnTo>
                    <a:pt x="2227213" y="2533027"/>
                  </a:lnTo>
                  <a:lnTo>
                    <a:pt x="2219407" y="2535083"/>
                  </a:lnTo>
                  <a:lnTo>
                    <a:pt x="2211401" y="2534087"/>
                  </a:lnTo>
                  <a:lnTo>
                    <a:pt x="2204113" y="2529990"/>
                  </a:lnTo>
                  <a:lnTo>
                    <a:pt x="1600341" y="2009948"/>
                  </a:lnTo>
                  <a:lnTo>
                    <a:pt x="1610129" y="2754795"/>
                  </a:lnTo>
                  <a:lnTo>
                    <a:pt x="1608001" y="2760327"/>
                  </a:lnTo>
                  <a:lnTo>
                    <a:pt x="1600022" y="2768520"/>
                  </a:lnTo>
                  <a:lnTo>
                    <a:pt x="1594596" y="2770754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61475" y="6878845"/>
              <a:ext cx="4211955" cy="2257425"/>
            </a:xfrm>
            <a:custGeom>
              <a:avLst/>
              <a:gdLst/>
              <a:ahLst/>
              <a:cxnLst/>
              <a:rect l="l" t="t" r="r" b="b"/>
              <a:pathLst>
                <a:path w="4211955" h="2257425">
                  <a:moveTo>
                    <a:pt x="3725880" y="2257222"/>
                  </a:moveTo>
                  <a:lnTo>
                    <a:pt x="485774" y="2257222"/>
                  </a:lnTo>
                  <a:lnTo>
                    <a:pt x="437762" y="2254845"/>
                  </a:lnTo>
                  <a:lnTo>
                    <a:pt x="390562" y="2247802"/>
                  </a:lnTo>
                  <a:lnTo>
                    <a:pt x="344494" y="2236224"/>
                  </a:lnTo>
                  <a:lnTo>
                    <a:pt x="299876" y="2220245"/>
                  </a:lnTo>
                  <a:lnTo>
                    <a:pt x="257028" y="2199995"/>
                  </a:lnTo>
                  <a:lnTo>
                    <a:pt x="216266" y="2175606"/>
                  </a:lnTo>
                  <a:lnTo>
                    <a:pt x="177911" y="2147212"/>
                  </a:lnTo>
                  <a:lnTo>
                    <a:pt x="142280" y="2114942"/>
                  </a:lnTo>
                  <a:lnTo>
                    <a:pt x="110010" y="2079311"/>
                  </a:lnTo>
                  <a:lnTo>
                    <a:pt x="81615" y="2040956"/>
                  </a:lnTo>
                  <a:lnTo>
                    <a:pt x="57227" y="2000194"/>
                  </a:lnTo>
                  <a:lnTo>
                    <a:pt x="36977" y="1957345"/>
                  </a:lnTo>
                  <a:lnTo>
                    <a:pt x="20997" y="1912727"/>
                  </a:lnTo>
                  <a:lnTo>
                    <a:pt x="9420" y="1866660"/>
                  </a:lnTo>
                  <a:lnTo>
                    <a:pt x="2377" y="1819460"/>
                  </a:lnTo>
                  <a:lnTo>
                    <a:pt x="0" y="1771447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3725880" y="0"/>
                  </a:lnTo>
                  <a:lnTo>
                    <a:pt x="3773893" y="2377"/>
                  </a:lnTo>
                  <a:lnTo>
                    <a:pt x="3821092" y="9420"/>
                  </a:lnTo>
                  <a:lnTo>
                    <a:pt x="3867160" y="20997"/>
                  </a:lnTo>
                  <a:lnTo>
                    <a:pt x="3911778" y="36977"/>
                  </a:lnTo>
                  <a:lnTo>
                    <a:pt x="3954626" y="57227"/>
                  </a:lnTo>
                  <a:lnTo>
                    <a:pt x="3995388" y="81615"/>
                  </a:lnTo>
                  <a:lnTo>
                    <a:pt x="4033743" y="110010"/>
                  </a:lnTo>
                  <a:lnTo>
                    <a:pt x="4069374" y="142280"/>
                  </a:lnTo>
                  <a:lnTo>
                    <a:pt x="4101644" y="177911"/>
                  </a:lnTo>
                  <a:lnTo>
                    <a:pt x="4130039" y="216266"/>
                  </a:lnTo>
                  <a:lnTo>
                    <a:pt x="4154427" y="257028"/>
                  </a:lnTo>
                  <a:lnTo>
                    <a:pt x="4174677" y="299876"/>
                  </a:lnTo>
                  <a:lnTo>
                    <a:pt x="4190657" y="344494"/>
                  </a:lnTo>
                  <a:lnTo>
                    <a:pt x="4202234" y="390562"/>
                  </a:lnTo>
                  <a:lnTo>
                    <a:pt x="4209278" y="437762"/>
                  </a:lnTo>
                  <a:lnTo>
                    <a:pt x="4211655" y="485774"/>
                  </a:lnTo>
                  <a:lnTo>
                    <a:pt x="4211655" y="1771447"/>
                  </a:lnTo>
                  <a:lnTo>
                    <a:pt x="4209278" y="1819460"/>
                  </a:lnTo>
                  <a:lnTo>
                    <a:pt x="4202234" y="1866660"/>
                  </a:lnTo>
                  <a:lnTo>
                    <a:pt x="4190657" y="1912727"/>
                  </a:lnTo>
                  <a:lnTo>
                    <a:pt x="4174677" y="1957345"/>
                  </a:lnTo>
                  <a:lnTo>
                    <a:pt x="4154427" y="2000194"/>
                  </a:lnTo>
                  <a:lnTo>
                    <a:pt x="4130039" y="2040956"/>
                  </a:lnTo>
                  <a:lnTo>
                    <a:pt x="4101644" y="2079311"/>
                  </a:lnTo>
                  <a:lnTo>
                    <a:pt x="4069374" y="2114942"/>
                  </a:lnTo>
                  <a:lnTo>
                    <a:pt x="4033743" y="2147212"/>
                  </a:lnTo>
                  <a:lnTo>
                    <a:pt x="3995388" y="2175606"/>
                  </a:lnTo>
                  <a:lnTo>
                    <a:pt x="3954626" y="2199995"/>
                  </a:lnTo>
                  <a:lnTo>
                    <a:pt x="3911778" y="2220245"/>
                  </a:lnTo>
                  <a:lnTo>
                    <a:pt x="3867160" y="2236224"/>
                  </a:lnTo>
                  <a:lnTo>
                    <a:pt x="3821092" y="2247802"/>
                  </a:lnTo>
                  <a:lnTo>
                    <a:pt x="3773893" y="2254845"/>
                  </a:lnTo>
                  <a:lnTo>
                    <a:pt x="3725880" y="2257222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13875" y="7031245"/>
              <a:ext cx="3895090" cy="776605"/>
            </a:xfrm>
            <a:custGeom>
              <a:avLst/>
              <a:gdLst/>
              <a:ahLst/>
              <a:cxnLst/>
              <a:rect l="l" t="t" r="r" b="b"/>
              <a:pathLst>
                <a:path w="3895090" h="776604">
                  <a:moveTo>
                    <a:pt x="3506714" y="776477"/>
                  </a:moveTo>
                  <a:lnTo>
                    <a:pt x="388238" y="776477"/>
                  </a:lnTo>
                  <a:lnTo>
                    <a:pt x="337207" y="773110"/>
                  </a:lnTo>
                  <a:lnTo>
                    <a:pt x="287481" y="763176"/>
                  </a:lnTo>
                  <a:lnTo>
                    <a:pt x="239666" y="746924"/>
                  </a:lnTo>
                  <a:lnTo>
                    <a:pt x="194363" y="724605"/>
                  </a:lnTo>
                  <a:lnTo>
                    <a:pt x="152178" y="696469"/>
                  </a:lnTo>
                  <a:lnTo>
                    <a:pt x="113712" y="662765"/>
                  </a:lnTo>
                  <a:lnTo>
                    <a:pt x="80008" y="624299"/>
                  </a:lnTo>
                  <a:lnTo>
                    <a:pt x="51872" y="582113"/>
                  </a:lnTo>
                  <a:lnTo>
                    <a:pt x="29552" y="536811"/>
                  </a:lnTo>
                  <a:lnTo>
                    <a:pt x="13301" y="488995"/>
                  </a:lnTo>
                  <a:lnTo>
                    <a:pt x="3366" y="439270"/>
                  </a:lnTo>
                  <a:lnTo>
                    <a:pt x="0" y="388239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7"/>
                  </a:lnTo>
                  <a:lnTo>
                    <a:pt x="113712" y="113712"/>
                  </a:lnTo>
                  <a:lnTo>
                    <a:pt x="152178" y="80008"/>
                  </a:lnTo>
                  <a:lnTo>
                    <a:pt x="194363" y="51872"/>
                  </a:lnTo>
                  <a:lnTo>
                    <a:pt x="239666" y="29553"/>
                  </a:lnTo>
                  <a:lnTo>
                    <a:pt x="287481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3506714" y="0"/>
                  </a:lnTo>
                  <a:lnTo>
                    <a:pt x="3557746" y="3367"/>
                  </a:lnTo>
                  <a:lnTo>
                    <a:pt x="3607471" y="13301"/>
                  </a:lnTo>
                  <a:lnTo>
                    <a:pt x="3655286" y="29553"/>
                  </a:lnTo>
                  <a:lnTo>
                    <a:pt x="3700589" y="51872"/>
                  </a:lnTo>
                  <a:lnTo>
                    <a:pt x="3742774" y="80008"/>
                  </a:lnTo>
                  <a:lnTo>
                    <a:pt x="3781240" y="113712"/>
                  </a:lnTo>
                  <a:lnTo>
                    <a:pt x="3814944" y="152177"/>
                  </a:lnTo>
                  <a:lnTo>
                    <a:pt x="3843081" y="194363"/>
                  </a:lnTo>
                  <a:lnTo>
                    <a:pt x="3865400" y="239666"/>
                  </a:lnTo>
                  <a:lnTo>
                    <a:pt x="3881651" y="287481"/>
                  </a:lnTo>
                  <a:lnTo>
                    <a:pt x="3891586" y="337207"/>
                  </a:lnTo>
                  <a:lnTo>
                    <a:pt x="3894519" y="381662"/>
                  </a:lnTo>
                  <a:lnTo>
                    <a:pt x="3894519" y="394815"/>
                  </a:lnTo>
                  <a:lnTo>
                    <a:pt x="3891586" y="439270"/>
                  </a:lnTo>
                  <a:lnTo>
                    <a:pt x="3881651" y="488995"/>
                  </a:lnTo>
                  <a:lnTo>
                    <a:pt x="3865400" y="536811"/>
                  </a:lnTo>
                  <a:lnTo>
                    <a:pt x="3843081" y="582113"/>
                  </a:lnTo>
                  <a:lnTo>
                    <a:pt x="3814944" y="624299"/>
                  </a:lnTo>
                  <a:lnTo>
                    <a:pt x="3781240" y="662765"/>
                  </a:lnTo>
                  <a:lnTo>
                    <a:pt x="3742774" y="696469"/>
                  </a:lnTo>
                  <a:lnTo>
                    <a:pt x="3700589" y="724605"/>
                  </a:lnTo>
                  <a:lnTo>
                    <a:pt x="3655286" y="746924"/>
                  </a:lnTo>
                  <a:lnTo>
                    <a:pt x="3607471" y="763176"/>
                  </a:lnTo>
                  <a:lnTo>
                    <a:pt x="3557746" y="773110"/>
                  </a:lnTo>
                  <a:lnTo>
                    <a:pt x="3506714" y="776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09080" y="7128887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290597" y="581194"/>
                  </a:moveTo>
                  <a:lnTo>
                    <a:pt x="243460" y="577391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30153" y="6647486"/>
            <a:ext cx="7943215" cy="775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sz="2400" spc="204" dirty="0">
                <a:latin typeface="Tahoma"/>
                <a:cs typeface="Tahoma"/>
              </a:rPr>
              <a:t>We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used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Principal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130" dirty="0">
                <a:latin typeface="Tahoma"/>
                <a:cs typeface="Tahoma"/>
              </a:rPr>
              <a:t>Component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Analysis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(PCA)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to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reduce </a:t>
            </a:r>
            <a:r>
              <a:rPr sz="2400" spc="110" dirty="0">
                <a:latin typeface="Tahoma"/>
                <a:cs typeface="Tahoma"/>
              </a:rPr>
              <a:t>the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220" dirty="0">
                <a:latin typeface="Tahoma"/>
                <a:cs typeface="Tahoma"/>
              </a:rPr>
              <a:t>RFM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features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145" dirty="0">
                <a:latin typeface="Tahoma"/>
                <a:cs typeface="Tahoma"/>
              </a:rPr>
              <a:t>from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3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dimensions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to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2</a:t>
            </a:r>
            <a:r>
              <a:rPr sz="2400" spc="-415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components.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0730" y="7173325"/>
            <a:ext cx="1712595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-120" dirty="0">
                <a:solidFill>
                  <a:srgbClr val="8FA3C1"/>
                </a:solidFill>
                <a:latin typeface="Tahoma"/>
                <a:cs typeface="Tahoma"/>
              </a:rPr>
              <a:t>Next</a:t>
            </a:r>
            <a:r>
              <a:rPr sz="2850" b="1" spc="-41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850" b="1" spc="-90" dirty="0">
                <a:solidFill>
                  <a:srgbClr val="8FA3C1"/>
                </a:solidFill>
                <a:latin typeface="Tahoma"/>
                <a:cs typeface="Tahoma"/>
              </a:rPr>
              <a:t>Slide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60291" y="7790485"/>
            <a:ext cx="11812905" cy="1918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94335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ahoma"/>
                <a:cs typeface="Tahoma"/>
              </a:rPr>
              <a:t>This</a:t>
            </a:r>
            <a:r>
              <a:rPr sz="2400" spc="-40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allowed</a:t>
            </a:r>
            <a:r>
              <a:rPr sz="2400" spc="-400" dirty="0">
                <a:latin typeface="Tahoma"/>
                <a:cs typeface="Tahoma"/>
              </a:rPr>
              <a:t> </a:t>
            </a:r>
            <a:r>
              <a:rPr sz="2400" spc="110" dirty="0">
                <a:latin typeface="Tahoma"/>
                <a:cs typeface="Tahoma"/>
              </a:rPr>
              <a:t>us</a:t>
            </a:r>
            <a:r>
              <a:rPr sz="2400" spc="-40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to</a:t>
            </a:r>
            <a:r>
              <a:rPr sz="2400" spc="-4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visualize</a:t>
            </a:r>
            <a:r>
              <a:rPr sz="2400" spc="-405" dirty="0">
                <a:latin typeface="Tahoma"/>
                <a:cs typeface="Tahoma"/>
              </a:rPr>
              <a:t> </a:t>
            </a:r>
            <a:r>
              <a:rPr sz="2400" spc="110" dirty="0">
                <a:latin typeface="Tahoma"/>
                <a:cs typeface="Tahoma"/>
              </a:rPr>
              <a:t>the</a:t>
            </a:r>
            <a:r>
              <a:rPr sz="2400" spc="-4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clusters</a:t>
            </a:r>
            <a:r>
              <a:rPr sz="2400" spc="-40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clearly.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20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23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200" dirty="0">
                <a:solidFill>
                  <a:srgbClr val="FFFFFF"/>
                </a:solidFill>
                <a:latin typeface="Tahoma"/>
                <a:cs typeface="Tahoma"/>
              </a:rPr>
              <a:t>PROFILES</a:t>
            </a:r>
            <a:endParaRPr sz="2300">
              <a:latin typeface="Tahoma"/>
              <a:cs typeface="Tahoma"/>
            </a:endParaRPr>
          </a:p>
          <a:p>
            <a:pPr marL="3882390" marR="5080" indent="194310" algn="just">
              <a:lnSpc>
                <a:spcPct val="104200"/>
              </a:lnSpc>
              <a:spcBef>
                <a:spcPts val="145"/>
              </a:spcBef>
            </a:pP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“The</a:t>
            </a:r>
            <a:r>
              <a:rPr sz="2400" b="1" spc="4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spc="75" dirty="0">
                <a:solidFill>
                  <a:srgbClr val="0F1B40"/>
                </a:solidFill>
                <a:latin typeface="Tahoma"/>
                <a:cs typeface="Tahoma"/>
              </a:rPr>
              <a:t>PCA</a:t>
            </a:r>
            <a:r>
              <a:rPr sz="2400" b="1" spc="47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plot</a:t>
            </a:r>
            <a:r>
              <a:rPr sz="2400" b="1" spc="4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showed</a:t>
            </a:r>
            <a:r>
              <a:rPr sz="2400" b="1" spc="47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distinct</a:t>
            </a:r>
            <a:r>
              <a:rPr sz="2400" b="1" spc="47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group</a:t>
            </a:r>
            <a:r>
              <a:rPr sz="2400" b="1" spc="4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0F1B40"/>
                </a:solidFill>
                <a:latin typeface="Tahoma"/>
                <a:cs typeface="Tahoma"/>
              </a:rPr>
              <a:t>separation,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confirming</a:t>
            </a:r>
            <a:r>
              <a:rPr sz="2400" b="1" spc="150" dirty="0">
                <a:solidFill>
                  <a:srgbClr val="0F1B40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that</a:t>
            </a:r>
            <a:r>
              <a:rPr sz="2400" b="1" spc="150" dirty="0">
                <a:solidFill>
                  <a:srgbClr val="0F1B40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our</a:t>
            </a:r>
            <a:r>
              <a:rPr sz="2400" b="1" spc="155" dirty="0">
                <a:solidFill>
                  <a:srgbClr val="0F1B40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segmentation</a:t>
            </a:r>
            <a:r>
              <a:rPr sz="2400" b="1" spc="150" dirty="0">
                <a:solidFill>
                  <a:srgbClr val="0F1B40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0F1B40"/>
                </a:solidFill>
                <a:latin typeface="Tahoma"/>
                <a:cs typeface="Tahoma"/>
              </a:rPr>
              <a:t>captures</a:t>
            </a:r>
            <a:r>
              <a:rPr sz="2400" b="1" spc="155" dirty="0">
                <a:solidFill>
                  <a:srgbClr val="0F1B40"/>
                </a:solidFill>
                <a:latin typeface="Tahoma"/>
                <a:cs typeface="Tahoma"/>
              </a:rPr>
              <a:t>  </a:t>
            </a:r>
            <a:r>
              <a:rPr sz="2400" b="1" spc="-20" dirty="0">
                <a:solidFill>
                  <a:srgbClr val="0F1B40"/>
                </a:solidFill>
                <a:latin typeface="Tahoma"/>
                <a:cs typeface="Tahoma"/>
              </a:rPr>
              <a:t>real </a:t>
            </a:r>
            <a:r>
              <a:rPr sz="2400" b="1" spc="-90" dirty="0">
                <a:solidFill>
                  <a:srgbClr val="0F1B40"/>
                </a:solidFill>
                <a:latin typeface="Tahoma"/>
                <a:cs typeface="Tahoma"/>
              </a:rPr>
              <a:t>behavioral</a:t>
            </a:r>
            <a:r>
              <a:rPr sz="2400" b="1" spc="-27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0F1B40"/>
                </a:solidFill>
                <a:latin typeface="Tahoma"/>
                <a:cs typeface="Tahoma"/>
              </a:rPr>
              <a:t>patterns.”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60785" y="628302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8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8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45" dirty="0">
                <a:solidFill>
                  <a:srgbClr val="0F1B40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05339" y="2198003"/>
            <a:ext cx="2374265" cy="2374265"/>
          </a:xfrm>
          <a:custGeom>
            <a:avLst/>
            <a:gdLst/>
            <a:ahLst/>
            <a:cxnLst/>
            <a:rect l="l" t="t" r="r" b="b"/>
            <a:pathLst>
              <a:path w="2374265" h="2374265">
                <a:moveTo>
                  <a:pt x="1366221" y="2373932"/>
                </a:moveTo>
                <a:lnTo>
                  <a:pt x="986837" y="2373932"/>
                </a:lnTo>
                <a:lnTo>
                  <a:pt x="982188" y="2371927"/>
                </a:lnTo>
                <a:lnTo>
                  <a:pt x="975260" y="2364999"/>
                </a:lnTo>
                <a:lnTo>
                  <a:pt x="973346" y="2360259"/>
                </a:lnTo>
                <a:lnTo>
                  <a:pt x="982917" y="1644515"/>
                </a:lnTo>
                <a:lnTo>
                  <a:pt x="502351" y="2163275"/>
                </a:lnTo>
                <a:lnTo>
                  <a:pt x="496608" y="2165098"/>
                </a:lnTo>
                <a:lnTo>
                  <a:pt x="486855" y="2163640"/>
                </a:lnTo>
                <a:lnTo>
                  <a:pt x="483573" y="2162090"/>
                </a:lnTo>
                <a:lnTo>
                  <a:pt x="479471" y="2158170"/>
                </a:lnTo>
                <a:lnTo>
                  <a:pt x="478378" y="2156894"/>
                </a:lnTo>
                <a:lnTo>
                  <a:pt x="477557" y="2155618"/>
                </a:lnTo>
                <a:lnTo>
                  <a:pt x="462824" y="2142070"/>
                </a:lnTo>
                <a:lnTo>
                  <a:pt x="205188" y="1896466"/>
                </a:lnTo>
                <a:lnTo>
                  <a:pt x="203183" y="1891908"/>
                </a:lnTo>
                <a:lnTo>
                  <a:pt x="203000" y="1882155"/>
                </a:lnTo>
                <a:lnTo>
                  <a:pt x="204915" y="1877415"/>
                </a:lnTo>
                <a:lnTo>
                  <a:pt x="708907" y="1364033"/>
                </a:lnTo>
                <a:lnTo>
                  <a:pt x="18139" y="1361846"/>
                </a:lnTo>
                <a:lnTo>
                  <a:pt x="11075" y="1360407"/>
                </a:lnTo>
                <a:lnTo>
                  <a:pt x="5309" y="1356490"/>
                </a:lnTo>
                <a:lnTo>
                  <a:pt x="1424" y="1350694"/>
                </a:lnTo>
                <a:lnTo>
                  <a:pt x="0" y="1343615"/>
                </a:lnTo>
                <a:lnTo>
                  <a:pt x="0" y="1051009"/>
                </a:lnTo>
                <a:lnTo>
                  <a:pt x="700703" y="1030591"/>
                </a:lnTo>
                <a:lnTo>
                  <a:pt x="211842" y="512652"/>
                </a:lnTo>
                <a:lnTo>
                  <a:pt x="208470" y="509461"/>
                </a:lnTo>
                <a:lnTo>
                  <a:pt x="206373" y="504995"/>
                </a:lnTo>
                <a:lnTo>
                  <a:pt x="205917" y="494785"/>
                </a:lnTo>
                <a:lnTo>
                  <a:pt x="208105" y="489590"/>
                </a:lnTo>
                <a:lnTo>
                  <a:pt x="497247" y="225060"/>
                </a:lnTo>
                <a:lnTo>
                  <a:pt x="502078" y="223236"/>
                </a:lnTo>
                <a:lnTo>
                  <a:pt x="511740" y="223875"/>
                </a:lnTo>
                <a:lnTo>
                  <a:pt x="516298" y="226062"/>
                </a:lnTo>
                <a:lnTo>
                  <a:pt x="994676" y="765970"/>
                </a:lnTo>
                <a:lnTo>
                  <a:pt x="1004612" y="17957"/>
                </a:lnTo>
                <a:lnTo>
                  <a:pt x="1006101" y="10959"/>
                </a:lnTo>
                <a:lnTo>
                  <a:pt x="1010035" y="5252"/>
                </a:lnTo>
                <a:lnTo>
                  <a:pt x="1015815" y="1408"/>
                </a:lnTo>
                <a:lnTo>
                  <a:pt x="1022843" y="0"/>
                </a:lnTo>
                <a:lnTo>
                  <a:pt x="1330306" y="0"/>
                </a:lnTo>
                <a:lnTo>
                  <a:pt x="1357652" y="703347"/>
                </a:lnTo>
                <a:lnTo>
                  <a:pt x="1421552" y="638171"/>
                </a:lnTo>
                <a:lnTo>
                  <a:pt x="1897378" y="233902"/>
                </a:lnTo>
                <a:lnTo>
                  <a:pt x="1903634" y="230419"/>
                </a:lnTo>
                <a:lnTo>
                  <a:pt x="1910515" y="229629"/>
                </a:lnTo>
                <a:lnTo>
                  <a:pt x="1917208" y="231453"/>
                </a:lnTo>
                <a:lnTo>
                  <a:pt x="1922901" y="235816"/>
                </a:lnTo>
                <a:lnTo>
                  <a:pt x="2125355" y="467257"/>
                </a:lnTo>
                <a:lnTo>
                  <a:pt x="2128920" y="473462"/>
                </a:lnTo>
                <a:lnTo>
                  <a:pt x="2129810" y="480326"/>
                </a:lnTo>
                <a:lnTo>
                  <a:pt x="2128085" y="487036"/>
                </a:lnTo>
                <a:lnTo>
                  <a:pt x="2123805" y="492780"/>
                </a:lnTo>
                <a:lnTo>
                  <a:pt x="1668216" y="903339"/>
                </a:lnTo>
                <a:lnTo>
                  <a:pt x="1643843" y="930264"/>
                </a:lnTo>
                <a:lnTo>
                  <a:pt x="1553908" y="1027947"/>
                </a:lnTo>
                <a:lnTo>
                  <a:pt x="2360533" y="1025395"/>
                </a:lnTo>
                <a:lnTo>
                  <a:pt x="2365091" y="1027309"/>
                </a:lnTo>
                <a:lnTo>
                  <a:pt x="2372018" y="1034146"/>
                </a:lnTo>
                <a:lnTo>
                  <a:pt x="2373933" y="1038795"/>
                </a:lnTo>
                <a:lnTo>
                  <a:pt x="2373933" y="1355921"/>
                </a:lnTo>
                <a:lnTo>
                  <a:pt x="2372018" y="1360569"/>
                </a:lnTo>
                <a:lnTo>
                  <a:pt x="2368555" y="1364033"/>
                </a:lnTo>
                <a:lnTo>
                  <a:pt x="2365182" y="1367406"/>
                </a:lnTo>
                <a:lnTo>
                  <a:pt x="2360806" y="1369229"/>
                </a:lnTo>
                <a:lnTo>
                  <a:pt x="2355793" y="1369320"/>
                </a:lnTo>
                <a:lnTo>
                  <a:pt x="1526926" y="1366677"/>
                </a:lnTo>
                <a:lnTo>
                  <a:pt x="1536953" y="1378071"/>
                </a:lnTo>
                <a:lnTo>
                  <a:pt x="2117060" y="1910595"/>
                </a:lnTo>
                <a:lnTo>
                  <a:pt x="2121271" y="1916377"/>
                </a:lnTo>
                <a:lnTo>
                  <a:pt x="2122928" y="1923083"/>
                </a:lnTo>
                <a:lnTo>
                  <a:pt x="2121969" y="1929925"/>
                </a:lnTo>
                <a:lnTo>
                  <a:pt x="2118336" y="1936118"/>
                </a:lnTo>
                <a:lnTo>
                  <a:pt x="1913968" y="2165918"/>
                </a:lnTo>
                <a:lnTo>
                  <a:pt x="1908236" y="2170252"/>
                </a:lnTo>
                <a:lnTo>
                  <a:pt x="1901548" y="2172014"/>
                </a:lnTo>
                <a:lnTo>
                  <a:pt x="1894688" y="2171161"/>
                </a:lnTo>
                <a:lnTo>
                  <a:pt x="1888444" y="2167650"/>
                </a:lnTo>
                <a:lnTo>
                  <a:pt x="1371143" y="1722087"/>
                </a:lnTo>
                <a:lnTo>
                  <a:pt x="1379530" y="2360259"/>
                </a:lnTo>
                <a:lnTo>
                  <a:pt x="1377707" y="2364999"/>
                </a:lnTo>
                <a:lnTo>
                  <a:pt x="1370870" y="2372018"/>
                </a:lnTo>
                <a:lnTo>
                  <a:pt x="1366221" y="2373932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60398" y="4435706"/>
            <a:ext cx="776605" cy="3075940"/>
            <a:chOff x="1360398" y="4435706"/>
            <a:chExt cx="776605" cy="3075940"/>
          </a:xfrm>
        </p:grpSpPr>
        <p:sp>
          <p:nvSpPr>
            <p:cNvPr id="12" name="object 12"/>
            <p:cNvSpPr/>
            <p:nvPr/>
          </p:nvSpPr>
          <p:spPr>
            <a:xfrm>
              <a:off x="1360398" y="4435706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776477" y="388109"/>
                  </a:moveTo>
                  <a:lnTo>
                    <a:pt x="776477" y="2687339"/>
                  </a:lnTo>
                  <a:lnTo>
                    <a:pt x="773110" y="2738371"/>
                  </a:lnTo>
                  <a:lnTo>
                    <a:pt x="763176" y="2788096"/>
                  </a:lnTo>
                  <a:lnTo>
                    <a:pt x="746924" y="2835912"/>
                  </a:lnTo>
                  <a:lnTo>
                    <a:pt x="724605" y="2881214"/>
                  </a:lnTo>
                  <a:lnTo>
                    <a:pt x="696468" y="2923400"/>
                  </a:lnTo>
                  <a:lnTo>
                    <a:pt x="662764" y="2961866"/>
                  </a:lnTo>
                  <a:lnTo>
                    <a:pt x="624299" y="2995569"/>
                  </a:lnTo>
                  <a:lnTo>
                    <a:pt x="582113" y="3023706"/>
                  </a:lnTo>
                  <a:lnTo>
                    <a:pt x="536811" y="3046025"/>
                  </a:lnTo>
                  <a:lnTo>
                    <a:pt x="488995" y="3062277"/>
                  </a:lnTo>
                  <a:lnTo>
                    <a:pt x="439270" y="3072211"/>
                  </a:lnTo>
                  <a:lnTo>
                    <a:pt x="388238" y="3075578"/>
                  </a:lnTo>
                  <a:lnTo>
                    <a:pt x="337207" y="3072211"/>
                  </a:lnTo>
                  <a:lnTo>
                    <a:pt x="287481" y="3062277"/>
                  </a:lnTo>
                  <a:lnTo>
                    <a:pt x="239666" y="3046025"/>
                  </a:lnTo>
                  <a:lnTo>
                    <a:pt x="194363" y="3023706"/>
                  </a:lnTo>
                  <a:lnTo>
                    <a:pt x="152178" y="2995569"/>
                  </a:lnTo>
                  <a:lnTo>
                    <a:pt x="113712" y="2961866"/>
                  </a:lnTo>
                  <a:lnTo>
                    <a:pt x="80008" y="2923400"/>
                  </a:lnTo>
                  <a:lnTo>
                    <a:pt x="51872" y="2881214"/>
                  </a:lnTo>
                  <a:lnTo>
                    <a:pt x="29552" y="2835912"/>
                  </a:lnTo>
                  <a:lnTo>
                    <a:pt x="13301" y="2788096"/>
                  </a:lnTo>
                  <a:lnTo>
                    <a:pt x="3366" y="2738371"/>
                  </a:lnTo>
                  <a:lnTo>
                    <a:pt x="0" y="2687339"/>
                  </a:lnTo>
                  <a:lnTo>
                    <a:pt x="0" y="388109"/>
                  </a:lnTo>
                  <a:lnTo>
                    <a:pt x="3366" y="337077"/>
                  </a:lnTo>
                  <a:lnTo>
                    <a:pt x="13301" y="287352"/>
                  </a:lnTo>
                  <a:lnTo>
                    <a:pt x="29552" y="239536"/>
                  </a:lnTo>
                  <a:lnTo>
                    <a:pt x="51872" y="194234"/>
                  </a:lnTo>
                  <a:lnTo>
                    <a:pt x="80008" y="152048"/>
                  </a:lnTo>
                  <a:lnTo>
                    <a:pt x="113712" y="113583"/>
                  </a:lnTo>
                  <a:lnTo>
                    <a:pt x="152178" y="79879"/>
                  </a:lnTo>
                  <a:lnTo>
                    <a:pt x="194363" y="51742"/>
                  </a:lnTo>
                  <a:lnTo>
                    <a:pt x="239666" y="29423"/>
                  </a:lnTo>
                  <a:lnTo>
                    <a:pt x="287481" y="13171"/>
                  </a:lnTo>
                  <a:lnTo>
                    <a:pt x="337207" y="3237"/>
                  </a:lnTo>
                  <a:lnTo>
                    <a:pt x="386274" y="0"/>
                  </a:lnTo>
                  <a:lnTo>
                    <a:pt x="390202" y="0"/>
                  </a:lnTo>
                  <a:lnTo>
                    <a:pt x="439270" y="3237"/>
                  </a:lnTo>
                  <a:lnTo>
                    <a:pt x="488995" y="13171"/>
                  </a:lnTo>
                  <a:lnTo>
                    <a:pt x="536811" y="29423"/>
                  </a:lnTo>
                  <a:lnTo>
                    <a:pt x="582113" y="51742"/>
                  </a:lnTo>
                  <a:lnTo>
                    <a:pt x="624299" y="79879"/>
                  </a:lnTo>
                  <a:lnTo>
                    <a:pt x="662764" y="113583"/>
                  </a:lnTo>
                  <a:lnTo>
                    <a:pt x="696468" y="152048"/>
                  </a:lnTo>
                  <a:lnTo>
                    <a:pt x="724605" y="194234"/>
                  </a:lnTo>
                  <a:lnTo>
                    <a:pt x="746924" y="239536"/>
                  </a:lnTo>
                  <a:lnTo>
                    <a:pt x="763176" y="287352"/>
                  </a:lnTo>
                  <a:lnTo>
                    <a:pt x="773110" y="337077"/>
                  </a:lnTo>
                  <a:lnTo>
                    <a:pt x="776477" y="3881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58032" y="4571560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60">
                  <a:moveTo>
                    <a:pt x="581194" y="290596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19"/>
                  </a:lnTo>
                  <a:lnTo>
                    <a:pt x="496080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0" y="577390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3" y="496080"/>
                  </a:lnTo>
                  <a:lnTo>
                    <a:pt x="56068" y="462219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6"/>
                  </a:lnTo>
                  <a:lnTo>
                    <a:pt x="3803" y="243460"/>
                  </a:lnTo>
                  <a:lnTo>
                    <a:pt x="14814" y="198745"/>
                  </a:lnTo>
                  <a:lnTo>
                    <a:pt x="32435" y="157050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0"/>
                  </a:lnTo>
                  <a:lnTo>
                    <a:pt x="566379" y="198745"/>
                  </a:lnTo>
                  <a:lnTo>
                    <a:pt x="577390" y="243460"/>
                  </a:lnTo>
                  <a:lnTo>
                    <a:pt x="581194" y="290596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249685" y="2039209"/>
            <a:ext cx="776605" cy="3075940"/>
            <a:chOff x="16249685" y="2039209"/>
            <a:chExt cx="776605" cy="3075940"/>
          </a:xfrm>
        </p:grpSpPr>
        <p:sp>
          <p:nvSpPr>
            <p:cNvPr id="15" name="object 15"/>
            <p:cNvSpPr/>
            <p:nvPr/>
          </p:nvSpPr>
          <p:spPr>
            <a:xfrm>
              <a:off x="16249685" y="2039209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1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439270" y="3367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1"/>
                  </a:lnTo>
                  <a:lnTo>
                    <a:pt x="390207" y="3075578"/>
                  </a:lnTo>
                  <a:lnTo>
                    <a:pt x="386270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47339" y="43977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0" y="290597"/>
                  </a:moveTo>
                  <a:lnTo>
                    <a:pt x="3803" y="243460"/>
                  </a:lnTo>
                  <a:lnTo>
                    <a:pt x="14814" y="198746"/>
                  </a:lnTo>
                  <a:lnTo>
                    <a:pt x="32436" y="157051"/>
                  </a:lnTo>
                  <a:lnTo>
                    <a:pt x="56068" y="118974"/>
                  </a:lnTo>
                  <a:lnTo>
                    <a:pt x="85114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1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1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4" y="496080"/>
                  </a:lnTo>
                  <a:lnTo>
                    <a:pt x="56068" y="462220"/>
                  </a:lnTo>
                  <a:lnTo>
                    <a:pt x="32436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84023" y="1704294"/>
            <a:ext cx="8171180" cy="2722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7160">
              <a:lnSpc>
                <a:spcPts val="6520"/>
              </a:lnSpc>
              <a:spcBef>
                <a:spcPts val="110"/>
              </a:spcBef>
            </a:pPr>
            <a:r>
              <a:rPr sz="5800" spc="165" dirty="0">
                <a:solidFill>
                  <a:srgbClr val="0F1B40"/>
                </a:solidFill>
                <a:latin typeface="Tahoma"/>
                <a:cs typeface="Tahoma"/>
              </a:rPr>
              <a:t>Unsupervised</a:t>
            </a:r>
            <a:r>
              <a:rPr sz="5800" spc="-91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5800" spc="600" dirty="0">
                <a:solidFill>
                  <a:srgbClr val="0F1B40"/>
                </a:solidFill>
                <a:latin typeface="Tahoma"/>
                <a:cs typeface="Tahoma"/>
              </a:rPr>
              <a:t>ML</a:t>
            </a:r>
            <a:endParaRPr sz="5800">
              <a:latin typeface="Tahoma"/>
              <a:cs typeface="Tahoma"/>
            </a:endParaRPr>
          </a:p>
          <a:p>
            <a:pPr marL="12700">
              <a:lnSpc>
                <a:spcPts val="9760"/>
              </a:lnSpc>
            </a:pPr>
            <a:r>
              <a:rPr sz="8500" b="1" spc="-270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8500" b="1" spc="-310" dirty="0">
                <a:solidFill>
                  <a:srgbClr val="0F1B40"/>
                </a:solidFill>
                <a:latin typeface="Tahoma"/>
                <a:cs typeface="Tahoma"/>
              </a:rPr>
              <a:t>l</a:t>
            </a:r>
            <a:r>
              <a:rPr sz="8500" b="1" spc="-285" dirty="0">
                <a:solidFill>
                  <a:srgbClr val="0F1B40"/>
                </a:solidFill>
                <a:latin typeface="Tahoma"/>
                <a:cs typeface="Tahoma"/>
              </a:rPr>
              <a:t>u</a:t>
            </a:r>
            <a:r>
              <a:rPr sz="8500" b="1" spc="-305" dirty="0">
                <a:solidFill>
                  <a:srgbClr val="0F1B40"/>
                </a:solidFill>
                <a:latin typeface="Tahoma"/>
                <a:cs typeface="Tahoma"/>
              </a:rPr>
              <a:t>s</a:t>
            </a:r>
            <a:r>
              <a:rPr sz="8500" b="1" spc="-440" dirty="0">
                <a:solidFill>
                  <a:srgbClr val="0F1B40"/>
                </a:solidFill>
                <a:latin typeface="Tahoma"/>
                <a:cs typeface="Tahoma"/>
              </a:rPr>
              <a:t>t</a:t>
            </a:r>
            <a:r>
              <a:rPr sz="8500" b="1" spc="-290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8500" b="1" spc="185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8500" b="1" spc="-101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8500" b="1" spc="-215" dirty="0">
                <a:solidFill>
                  <a:srgbClr val="0F1B40"/>
                </a:solidFill>
                <a:latin typeface="Tahoma"/>
                <a:cs typeface="Tahoma"/>
              </a:rPr>
              <a:t>P</a:t>
            </a:r>
            <a:r>
              <a:rPr sz="8500" b="1" spc="-270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8500" b="1" spc="-160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8500" b="1" spc="500" dirty="0">
                <a:solidFill>
                  <a:srgbClr val="0F1B40"/>
                </a:solidFill>
                <a:latin typeface="Tahoma"/>
                <a:cs typeface="Tahoma"/>
              </a:rPr>
              <a:t>f</a:t>
            </a:r>
            <a:r>
              <a:rPr sz="8500" b="1" spc="-180" dirty="0">
                <a:solidFill>
                  <a:srgbClr val="0F1B40"/>
                </a:solidFill>
                <a:latin typeface="Tahoma"/>
                <a:cs typeface="Tahoma"/>
              </a:rPr>
              <a:t>il</a:t>
            </a:r>
            <a:r>
              <a:rPr sz="8500" b="1" spc="-160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8500" b="1" spc="315" dirty="0">
                <a:solidFill>
                  <a:srgbClr val="0F1B40"/>
                </a:solidFill>
                <a:latin typeface="Tahoma"/>
                <a:cs typeface="Tahoma"/>
              </a:rPr>
              <a:t>s</a:t>
            </a:r>
            <a:endParaRPr sz="8500">
              <a:latin typeface="Tahoma"/>
              <a:cs typeface="Tahoma"/>
            </a:endParaRPr>
          </a:p>
          <a:p>
            <a:pPr marL="1591310">
              <a:lnSpc>
                <a:spcPct val="100000"/>
              </a:lnSpc>
              <a:spcBef>
                <a:spcPts val="1820"/>
              </a:spcBef>
            </a:pPr>
            <a:r>
              <a:rPr sz="2600" spc="320" dirty="0">
                <a:latin typeface="Tahoma"/>
                <a:cs typeface="Tahoma"/>
              </a:rPr>
              <a:t>BASED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spc="380" dirty="0">
                <a:latin typeface="Tahoma"/>
                <a:cs typeface="Tahoma"/>
              </a:rPr>
              <a:t>ON</a:t>
            </a:r>
            <a:r>
              <a:rPr sz="2600" spc="-95" dirty="0">
                <a:latin typeface="Tahoma"/>
                <a:cs typeface="Tahoma"/>
              </a:rPr>
              <a:t> </a:t>
            </a:r>
            <a:r>
              <a:rPr sz="2600" spc="220" dirty="0">
                <a:latin typeface="Tahoma"/>
                <a:cs typeface="Tahoma"/>
              </a:rPr>
              <a:t>THE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spc="210" dirty="0">
                <a:latin typeface="Tahoma"/>
                <a:cs typeface="Tahoma"/>
              </a:rPr>
              <a:t>CLUSTERING</a:t>
            </a:r>
            <a:r>
              <a:rPr sz="2600" spc="-95" dirty="0">
                <a:latin typeface="Tahoma"/>
                <a:cs typeface="Tahoma"/>
              </a:rPr>
              <a:t> </a:t>
            </a:r>
            <a:r>
              <a:rPr sz="2600" spc="105" dirty="0">
                <a:latin typeface="Tahoma"/>
                <a:cs typeface="Tahoma"/>
              </a:rPr>
              <a:t>RESULTS: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8624" y="4822205"/>
            <a:ext cx="14344650" cy="4899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07160" indent="-315595" algn="ctr">
              <a:lnSpc>
                <a:spcPct val="100000"/>
              </a:lnSpc>
              <a:spcBef>
                <a:spcPts val="114"/>
              </a:spcBef>
              <a:buAutoNum type="arabicPlain"/>
              <a:tabLst>
                <a:tab pos="1407160" algn="l"/>
              </a:tabLst>
            </a:pPr>
            <a:r>
              <a:rPr sz="2450" spc="204" dirty="0">
                <a:latin typeface="Tahoma"/>
                <a:cs typeface="Tahoma"/>
              </a:rPr>
              <a:t>CLUSTER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90" dirty="0">
                <a:latin typeface="Tahoma"/>
                <a:cs typeface="Tahoma"/>
              </a:rPr>
              <a:t>0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-980" dirty="0">
                <a:latin typeface="Tahoma"/>
                <a:cs typeface="Tahoma"/>
              </a:rPr>
              <a:t>→</a:t>
            </a:r>
            <a:r>
              <a:rPr sz="2450" spc="-100" dirty="0">
                <a:latin typeface="Tahoma"/>
                <a:cs typeface="Tahoma"/>
              </a:rPr>
              <a:t> </a:t>
            </a:r>
            <a:r>
              <a:rPr sz="2450" spc="229" dirty="0">
                <a:latin typeface="Tahoma"/>
                <a:cs typeface="Tahoma"/>
              </a:rPr>
              <a:t>LOW-</a:t>
            </a:r>
            <a:r>
              <a:rPr sz="2450" spc="245" dirty="0">
                <a:latin typeface="Tahoma"/>
                <a:cs typeface="Tahoma"/>
              </a:rPr>
              <a:t>VALUE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29" dirty="0">
                <a:latin typeface="Tahoma"/>
                <a:cs typeface="Tahoma"/>
              </a:rPr>
              <a:t>CUSTOMERS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Tahoma"/>
              <a:buAutoNum type="arabicPlain"/>
            </a:pPr>
            <a:endParaRPr sz="2450">
              <a:latin typeface="Tahoma"/>
              <a:cs typeface="Tahoma"/>
            </a:endParaRPr>
          </a:p>
          <a:p>
            <a:pPr marL="1469390" indent="-377825" algn="ctr">
              <a:lnSpc>
                <a:spcPct val="100000"/>
              </a:lnSpc>
              <a:buAutoNum type="arabicPlain"/>
              <a:tabLst>
                <a:tab pos="1469390" algn="l"/>
              </a:tabLst>
            </a:pPr>
            <a:r>
              <a:rPr sz="2450" spc="204" dirty="0">
                <a:latin typeface="Tahoma"/>
                <a:cs typeface="Tahoma"/>
              </a:rPr>
              <a:t>CLUSTER</a:t>
            </a:r>
            <a:r>
              <a:rPr sz="2450" spc="-100" dirty="0">
                <a:latin typeface="Tahoma"/>
                <a:cs typeface="Tahoma"/>
              </a:rPr>
              <a:t> </a:t>
            </a:r>
            <a:r>
              <a:rPr sz="2450" spc="-455" dirty="0">
                <a:latin typeface="Tahoma"/>
                <a:cs typeface="Tahoma"/>
              </a:rPr>
              <a:t>1</a:t>
            </a:r>
            <a:r>
              <a:rPr sz="2450" spc="-90" dirty="0">
                <a:latin typeface="Tahoma"/>
                <a:cs typeface="Tahoma"/>
              </a:rPr>
              <a:t> </a:t>
            </a:r>
            <a:r>
              <a:rPr sz="2450" spc="-980" dirty="0">
                <a:latin typeface="Tahoma"/>
                <a:cs typeface="Tahoma"/>
              </a:rPr>
              <a:t>→</a:t>
            </a:r>
            <a:r>
              <a:rPr sz="2450" spc="-100" dirty="0">
                <a:latin typeface="Tahoma"/>
                <a:cs typeface="Tahoma"/>
              </a:rPr>
              <a:t> </a:t>
            </a:r>
            <a:r>
              <a:rPr sz="2450" spc="165" dirty="0">
                <a:latin typeface="Tahoma"/>
                <a:cs typeface="Tahoma"/>
              </a:rPr>
              <a:t>HIGH-</a:t>
            </a:r>
            <a:r>
              <a:rPr sz="2450" spc="215" dirty="0">
                <a:latin typeface="Tahoma"/>
                <a:cs typeface="Tahoma"/>
              </a:rPr>
              <a:t>FREQUENCY,</a:t>
            </a:r>
            <a:r>
              <a:rPr sz="2450" spc="-90" dirty="0">
                <a:latin typeface="Tahoma"/>
                <a:cs typeface="Tahoma"/>
              </a:rPr>
              <a:t> </a:t>
            </a:r>
            <a:r>
              <a:rPr sz="2450" spc="155" dirty="0">
                <a:latin typeface="Tahoma"/>
                <a:cs typeface="Tahoma"/>
              </a:rPr>
              <a:t>HIGH-</a:t>
            </a:r>
            <a:r>
              <a:rPr sz="2450" spc="245" dirty="0">
                <a:latin typeface="Tahoma"/>
                <a:cs typeface="Tahoma"/>
              </a:rPr>
              <a:t>VALUE</a:t>
            </a:r>
            <a:r>
              <a:rPr sz="2450" spc="-100" dirty="0">
                <a:latin typeface="Tahoma"/>
                <a:cs typeface="Tahoma"/>
              </a:rPr>
              <a:t> </a:t>
            </a:r>
            <a:r>
              <a:rPr sz="2450" spc="240" dirty="0">
                <a:latin typeface="Tahoma"/>
                <a:cs typeface="Tahoma"/>
              </a:rPr>
              <a:t>CUSTOMERS</a:t>
            </a:r>
            <a:r>
              <a:rPr sz="2450" spc="-95" dirty="0">
                <a:latin typeface="Tahoma"/>
                <a:cs typeface="Tahoma"/>
              </a:rPr>
              <a:t> </a:t>
            </a:r>
            <a:r>
              <a:rPr sz="2450" spc="45" dirty="0">
                <a:latin typeface="Tahoma"/>
                <a:cs typeface="Tahoma"/>
              </a:rPr>
              <a:t>(VIPS)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Tahoma"/>
              <a:buAutoNum type="arabicPlain"/>
            </a:pPr>
            <a:endParaRPr sz="2450">
              <a:latin typeface="Tahoma"/>
              <a:cs typeface="Tahoma"/>
            </a:endParaRPr>
          </a:p>
          <a:p>
            <a:pPr marL="1470660" indent="-379095" algn="ctr">
              <a:lnSpc>
                <a:spcPct val="100000"/>
              </a:lnSpc>
              <a:buAutoNum type="arabicPlain"/>
              <a:tabLst>
                <a:tab pos="1470660" algn="l"/>
              </a:tabLst>
            </a:pPr>
            <a:r>
              <a:rPr sz="2450" spc="204" dirty="0">
                <a:latin typeface="Tahoma"/>
                <a:cs typeface="Tahoma"/>
              </a:rPr>
              <a:t>CLUSTER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50" dirty="0">
                <a:latin typeface="Tahoma"/>
                <a:cs typeface="Tahoma"/>
              </a:rPr>
              <a:t>2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-980" dirty="0">
                <a:latin typeface="Tahoma"/>
                <a:cs typeface="Tahoma"/>
              </a:rPr>
              <a:t>→</a:t>
            </a:r>
            <a:r>
              <a:rPr sz="2450" spc="-100" dirty="0">
                <a:latin typeface="Tahoma"/>
                <a:cs typeface="Tahoma"/>
              </a:rPr>
              <a:t> </a:t>
            </a:r>
            <a:r>
              <a:rPr sz="2450" spc="370" dirty="0">
                <a:latin typeface="Tahoma"/>
                <a:cs typeface="Tahoma"/>
              </a:rPr>
              <a:t>NEW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85" dirty="0">
                <a:latin typeface="Tahoma"/>
                <a:cs typeface="Tahoma"/>
              </a:rPr>
              <a:t>OR</a:t>
            </a:r>
            <a:r>
              <a:rPr sz="2450" spc="-100" dirty="0">
                <a:latin typeface="Tahoma"/>
                <a:cs typeface="Tahoma"/>
              </a:rPr>
              <a:t> </a:t>
            </a:r>
            <a:r>
              <a:rPr sz="2450" spc="225" dirty="0">
                <a:latin typeface="Tahoma"/>
                <a:cs typeface="Tahoma"/>
              </a:rPr>
              <a:t>OCCASIONAL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35" dirty="0">
                <a:latin typeface="Tahoma"/>
                <a:cs typeface="Tahoma"/>
              </a:rPr>
              <a:t>BUYERS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Tahoma"/>
              <a:buAutoNum type="arabicPlain"/>
            </a:pPr>
            <a:endParaRPr sz="2450">
              <a:latin typeface="Tahoma"/>
              <a:cs typeface="Tahoma"/>
            </a:endParaRPr>
          </a:p>
          <a:p>
            <a:pPr marL="1504315" indent="-412750" algn="ctr">
              <a:lnSpc>
                <a:spcPct val="100000"/>
              </a:lnSpc>
              <a:buAutoNum type="arabicPlain"/>
              <a:tabLst>
                <a:tab pos="1504315" algn="l"/>
              </a:tabLst>
            </a:pPr>
            <a:r>
              <a:rPr sz="2450" spc="204" dirty="0">
                <a:latin typeface="Tahoma"/>
                <a:cs typeface="Tahoma"/>
              </a:rPr>
              <a:t>CLUSTER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50" dirty="0">
                <a:latin typeface="Tahoma"/>
                <a:cs typeface="Tahoma"/>
              </a:rPr>
              <a:t>3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-980" dirty="0">
                <a:latin typeface="Tahoma"/>
                <a:cs typeface="Tahoma"/>
              </a:rPr>
              <a:t>→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40" dirty="0">
                <a:latin typeface="Tahoma"/>
                <a:cs typeface="Tahoma"/>
              </a:rPr>
              <a:t>CUSTOMERS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155" dirty="0">
                <a:latin typeface="Tahoma"/>
                <a:cs typeface="Tahoma"/>
              </a:rPr>
              <a:t>WITH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195" dirty="0">
                <a:latin typeface="Tahoma"/>
                <a:cs typeface="Tahoma"/>
              </a:rPr>
              <a:t>HIGH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45" dirty="0">
                <a:latin typeface="Tahoma"/>
                <a:cs typeface="Tahoma"/>
              </a:rPr>
              <a:t>MONETARY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245" dirty="0">
                <a:latin typeface="Tahoma"/>
                <a:cs typeface="Tahoma"/>
              </a:rPr>
              <a:t>VALUE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29" dirty="0">
                <a:latin typeface="Tahoma"/>
                <a:cs typeface="Tahoma"/>
              </a:rPr>
              <a:t>BUT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320" dirty="0">
                <a:latin typeface="Tahoma"/>
                <a:cs typeface="Tahoma"/>
              </a:rPr>
              <a:t>LOW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65" dirty="0">
                <a:latin typeface="Tahoma"/>
                <a:cs typeface="Tahoma"/>
              </a:rPr>
              <a:t>FREQUENCY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Tahoma"/>
              <a:buAutoNum type="arabicPlain"/>
            </a:pPr>
            <a:endParaRPr sz="2450">
              <a:latin typeface="Tahoma"/>
              <a:cs typeface="Tahoma"/>
            </a:endParaRPr>
          </a:p>
          <a:p>
            <a:pPr marL="1471295" indent="-379730" algn="ctr">
              <a:lnSpc>
                <a:spcPts val="2570"/>
              </a:lnSpc>
              <a:buAutoNum type="arabicPlain"/>
              <a:tabLst>
                <a:tab pos="1471295" algn="l"/>
              </a:tabLst>
            </a:pPr>
            <a:r>
              <a:rPr sz="2450" spc="204" dirty="0">
                <a:latin typeface="Tahoma"/>
                <a:cs typeface="Tahoma"/>
              </a:rPr>
              <a:t>CLUSTER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280" dirty="0">
                <a:latin typeface="Tahoma"/>
                <a:cs typeface="Tahoma"/>
              </a:rPr>
              <a:t>4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-980" dirty="0">
                <a:latin typeface="Tahoma"/>
                <a:cs typeface="Tahoma"/>
              </a:rPr>
              <a:t>→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00" dirty="0">
                <a:latin typeface="Tahoma"/>
                <a:cs typeface="Tahoma"/>
              </a:rPr>
              <a:t>RECENTLY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135" dirty="0">
                <a:latin typeface="Tahoma"/>
                <a:cs typeface="Tahoma"/>
              </a:rPr>
              <a:t>ACTIVE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240" dirty="0">
                <a:latin typeface="Tahoma"/>
                <a:cs typeface="Tahoma"/>
              </a:rPr>
              <a:t>CUSTOMERS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155" dirty="0">
                <a:latin typeface="Tahoma"/>
                <a:cs typeface="Tahoma"/>
              </a:rPr>
              <a:t>WITH</a:t>
            </a:r>
            <a:r>
              <a:rPr sz="2450" spc="-110" dirty="0">
                <a:latin typeface="Tahoma"/>
                <a:cs typeface="Tahoma"/>
              </a:rPr>
              <a:t> </a:t>
            </a:r>
            <a:r>
              <a:rPr sz="2450" spc="265" dirty="0">
                <a:latin typeface="Tahoma"/>
                <a:cs typeface="Tahoma"/>
              </a:rPr>
              <a:t>MODERATE</a:t>
            </a:r>
            <a:r>
              <a:rPr sz="2450" spc="-105" dirty="0">
                <a:latin typeface="Tahoma"/>
                <a:cs typeface="Tahoma"/>
              </a:rPr>
              <a:t> </a:t>
            </a:r>
            <a:r>
              <a:rPr sz="2450" spc="235" dirty="0">
                <a:latin typeface="Tahoma"/>
                <a:cs typeface="Tahoma"/>
              </a:rPr>
              <a:t>SPENDING</a:t>
            </a:r>
            <a:endParaRPr sz="2450">
              <a:latin typeface="Tahoma"/>
              <a:cs typeface="Tahoma"/>
            </a:endParaRPr>
          </a:p>
          <a:p>
            <a:pPr marL="1884680" algn="ctr">
              <a:lnSpc>
                <a:spcPts val="2570"/>
              </a:lnSpc>
            </a:pPr>
            <a:r>
              <a:rPr sz="2450" dirty="0">
                <a:latin typeface="Tahoma"/>
                <a:cs typeface="Tahoma"/>
              </a:rPr>
              <a:t>-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200" b="1" spc="90" dirty="0">
                <a:solidFill>
                  <a:srgbClr val="0F1B40"/>
                </a:solidFill>
                <a:latin typeface="Tahoma"/>
                <a:cs typeface="Tahoma"/>
              </a:rPr>
              <a:t>“THESE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80" dirty="0">
                <a:solidFill>
                  <a:srgbClr val="0F1B40"/>
                </a:solidFill>
                <a:latin typeface="Tahoma"/>
                <a:cs typeface="Tahoma"/>
              </a:rPr>
              <a:t>CLUSTER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10" dirty="0">
                <a:solidFill>
                  <a:srgbClr val="0F1B40"/>
                </a:solidFill>
                <a:latin typeface="Tahoma"/>
                <a:cs typeface="Tahoma"/>
              </a:rPr>
              <a:t>PERSONAS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35" dirty="0">
                <a:solidFill>
                  <a:srgbClr val="0F1B40"/>
                </a:solidFill>
                <a:latin typeface="Tahoma"/>
                <a:cs typeface="Tahoma"/>
              </a:rPr>
              <a:t>HELP</a:t>
            </a:r>
            <a:r>
              <a:rPr sz="2200" b="1" spc="7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95" dirty="0">
                <a:solidFill>
                  <a:srgbClr val="0F1B40"/>
                </a:solidFill>
                <a:latin typeface="Tahoma"/>
                <a:cs typeface="Tahoma"/>
              </a:rPr>
              <a:t>THE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BUSINESS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DESIGN</a:t>
            </a:r>
            <a:r>
              <a:rPr sz="2200" b="1" spc="7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95" dirty="0">
                <a:solidFill>
                  <a:srgbClr val="0F1B40"/>
                </a:solidFill>
                <a:latin typeface="Tahoma"/>
                <a:cs typeface="Tahoma"/>
              </a:rPr>
              <a:t>TARGETED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55" dirty="0">
                <a:solidFill>
                  <a:srgbClr val="0F1B40"/>
                </a:solidFill>
                <a:latin typeface="Tahoma"/>
                <a:cs typeface="Tahoma"/>
              </a:rPr>
              <a:t>MARKETING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0F1B40"/>
                </a:solidFill>
                <a:latin typeface="Tahoma"/>
                <a:cs typeface="Tahoma"/>
              </a:rPr>
              <a:t>STRATEGIES”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0295" y="628302"/>
            <a:ext cx="1708785" cy="589280"/>
          </a:xfrm>
          <a:custGeom>
            <a:avLst/>
            <a:gdLst/>
            <a:ahLst/>
            <a:cxnLst/>
            <a:rect l="l" t="t" r="r" b="b"/>
            <a:pathLst>
              <a:path w="1708784" h="589280">
                <a:moveTo>
                  <a:pt x="141391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1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4" y="468373"/>
                </a:lnTo>
                <a:lnTo>
                  <a:pt x="32867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7" y="159141"/>
                </a:lnTo>
                <a:lnTo>
                  <a:pt x="56814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1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413914" y="0"/>
                </a:lnTo>
                <a:lnTo>
                  <a:pt x="1461678" y="3854"/>
                </a:lnTo>
                <a:lnTo>
                  <a:pt x="1506988" y="15012"/>
                </a:lnTo>
                <a:lnTo>
                  <a:pt x="1549238" y="32867"/>
                </a:lnTo>
                <a:lnTo>
                  <a:pt x="1587822" y="56814"/>
                </a:lnTo>
                <a:lnTo>
                  <a:pt x="1622133" y="86247"/>
                </a:lnTo>
                <a:lnTo>
                  <a:pt x="1651565" y="120558"/>
                </a:lnTo>
                <a:lnTo>
                  <a:pt x="1675512" y="159141"/>
                </a:lnTo>
                <a:lnTo>
                  <a:pt x="1693368" y="201391"/>
                </a:lnTo>
                <a:lnTo>
                  <a:pt x="1704526" y="246701"/>
                </a:lnTo>
                <a:lnTo>
                  <a:pt x="1708380" y="294465"/>
                </a:lnTo>
                <a:lnTo>
                  <a:pt x="1704526" y="342229"/>
                </a:lnTo>
                <a:lnTo>
                  <a:pt x="1693368" y="387539"/>
                </a:lnTo>
                <a:lnTo>
                  <a:pt x="1675512" y="429789"/>
                </a:lnTo>
                <a:lnTo>
                  <a:pt x="1651565" y="468373"/>
                </a:lnTo>
                <a:lnTo>
                  <a:pt x="1622133" y="502684"/>
                </a:lnTo>
                <a:lnTo>
                  <a:pt x="1587822" y="532116"/>
                </a:lnTo>
                <a:lnTo>
                  <a:pt x="1549238" y="556063"/>
                </a:lnTo>
                <a:lnTo>
                  <a:pt x="1506988" y="573919"/>
                </a:lnTo>
                <a:lnTo>
                  <a:pt x="1461678" y="585077"/>
                </a:lnTo>
                <a:lnTo>
                  <a:pt x="141391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91875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6463" y="734680"/>
            <a:ext cx="104203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40" dirty="0">
                <a:solidFill>
                  <a:srgbClr val="F4F4F4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07413" y="1330154"/>
            <a:ext cx="2374265" cy="2374265"/>
          </a:xfrm>
          <a:custGeom>
            <a:avLst/>
            <a:gdLst/>
            <a:ahLst/>
            <a:cxnLst/>
            <a:rect l="l" t="t" r="r" b="b"/>
            <a:pathLst>
              <a:path w="2374265" h="2374265">
                <a:moveTo>
                  <a:pt x="1366221" y="2373932"/>
                </a:moveTo>
                <a:lnTo>
                  <a:pt x="986837" y="2373932"/>
                </a:lnTo>
                <a:lnTo>
                  <a:pt x="982188" y="2371927"/>
                </a:lnTo>
                <a:lnTo>
                  <a:pt x="975260" y="2364999"/>
                </a:lnTo>
                <a:lnTo>
                  <a:pt x="973346" y="2360259"/>
                </a:lnTo>
                <a:lnTo>
                  <a:pt x="982917" y="1644515"/>
                </a:lnTo>
                <a:lnTo>
                  <a:pt x="502351" y="2163275"/>
                </a:lnTo>
                <a:lnTo>
                  <a:pt x="496608" y="2165098"/>
                </a:lnTo>
                <a:lnTo>
                  <a:pt x="486855" y="2163640"/>
                </a:lnTo>
                <a:lnTo>
                  <a:pt x="483573" y="2162090"/>
                </a:lnTo>
                <a:lnTo>
                  <a:pt x="479471" y="2158170"/>
                </a:lnTo>
                <a:lnTo>
                  <a:pt x="478378" y="2156894"/>
                </a:lnTo>
                <a:lnTo>
                  <a:pt x="477557" y="2155618"/>
                </a:lnTo>
                <a:lnTo>
                  <a:pt x="462824" y="2142070"/>
                </a:lnTo>
                <a:lnTo>
                  <a:pt x="205188" y="1896466"/>
                </a:lnTo>
                <a:lnTo>
                  <a:pt x="203183" y="1891908"/>
                </a:lnTo>
                <a:lnTo>
                  <a:pt x="203000" y="1882155"/>
                </a:lnTo>
                <a:lnTo>
                  <a:pt x="204915" y="1877415"/>
                </a:lnTo>
                <a:lnTo>
                  <a:pt x="708907" y="1364033"/>
                </a:lnTo>
                <a:lnTo>
                  <a:pt x="18139" y="1361846"/>
                </a:lnTo>
                <a:lnTo>
                  <a:pt x="11075" y="1360407"/>
                </a:lnTo>
                <a:lnTo>
                  <a:pt x="5309" y="1356490"/>
                </a:lnTo>
                <a:lnTo>
                  <a:pt x="1424" y="1350694"/>
                </a:lnTo>
                <a:lnTo>
                  <a:pt x="0" y="1343615"/>
                </a:lnTo>
                <a:lnTo>
                  <a:pt x="0" y="1051009"/>
                </a:lnTo>
                <a:lnTo>
                  <a:pt x="700703" y="1030591"/>
                </a:lnTo>
                <a:lnTo>
                  <a:pt x="211842" y="512652"/>
                </a:lnTo>
                <a:lnTo>
                  <a:pt x="208470" y="509461"/>
                </a:lnTo>
                <a:lnTo>
                  <a:pt x="206373" y="504995"/>
                </a:lnTo>
                <a:lnTo>
                  <a:pt x="205917" y="494785"/>
                </a:lnTo>
                <a:lnTo>
                  <a:pt x="208105" y="489590"/>
                </a:lnTo>
                <a:lnTo>
                  <a:pt x="497247" y="225060"/>
                </a:lnTo>
                <a:lnTo>
                  <a:pt x="502078" y="223236"/>
                </a:lnTo>
                <a:lnTo>
                  <a:pt x="511740" y="223875"/>
                </a:lnTo>
                <a:lnTo>
                  <a:pt x="516298" y="226062"/>
                </a:lnTo>
                <a:lnTo>
                  <a:pt x="994676" y="765970"/>
                </a:lnTo>
                <a:lnTo>
                  <a:pt x="1004612" y="17957"/>
                </a:lnTo>
                <a:lnTo>
                  <a:pt x="1006101" y="10959"/>
                </a:lnTo>
                <a:lnTo>
                  <a:pt x="1010035" y="5252"/>
                </a:lnTo>
                <a:lnTo>
                  <a:pt x="1015815" y="1408"/>
                </a:lnTo>
                <a:lnTo>
                  <a:pt x="1022843" y="0"/>
                </a:lnTo>
                <a:lnTo>
                  <a:pt x="1330306" y="0"/>
                </a:lnTo>
                <a:lnTo>
                  <a:pt x="1357652" y="703347"/>
                </a:lnTo>
                <a:lnTo>
                  <a:pt x="1421552" y="638171"/>
                </a:lnTo>
                <a:lnTo>
                  <a:pt x="1897378" y="233902"/>
                </a:lnTo>
                <a:lnTo>
                  <a:pt x="1903634" y="230419"/>
                </a:lnTo>
                <a:lnTo>
                  <a:pt x="1910515" y="229629"/>
                </a:lnTo>
                <a:lnTo>
                  <a:pt x="1917208" y="231453"/>
                </a:lnTo>
                <a:lnTo>
                  <a:pt x="1922901" y="235816"/>
                </a:lnTo>
                <a:lnTo>
                  <a:pt x="2125355" y="467257"/>
                </a:lnTo>
                <a:lnTo>
                  <a:pt x="2128920" y="473462"/>
                </a:lnTo>
                <a:lnTo>
                  <a:pt x="2129810" y="480326"/>
                </a:lnTo>
                <a:lnTo>
                  <a:pt x="2128085" y="487036"/>
                </a:lnTo>
                <a:lnTo>
                  <a:pt x="2123805" y="492780"/>
                </a:lnTo>
                <a:lnTo>
                  <a:pt x="1668216" y="903339"/>
                </a:lnTo>
                <a:lnTo>
                  <a:pt x="1643843" y="930264"/>
                </a:lnTo>
                <a:lnTo>
                  <a:pt x="1553908" y="1027947"/>
                </a:lnTo>
                <a:lnTo>
                  <a:pt x="2360533" y="1025395"/>
                </a:lnTo>
                <a:lnTo>
                  <a:pt x="2365091" y="1027309"/>
                </a:lnTo>
                <a:lnTo>
                  <a:pt x="2372018" y="1034146"/>
                </a:lnTo>
                <a:lnTo>
                  <a:pt x="2373933" y="1038795"/>
                </a:lnTo>
                <a:lnTo>
                  <a:pt x="2373933" y="1355921"/>
                </a:lnTo>
                <a:lnTo>
                  <a:pt x="2372018" y="1360569"/>
                </a:lnTo>
                <a:lnTo>
                  <a:pt x="2368555" y="1364033"/>
                </a:lnTo>
                <a:lnTo>
                  <a:pt x="2365182" y="1367406"/>
                </a:lnTo>
                <a:lnTo>
                  <a:pt x="2360806" y="1369229"/>
                </a:lnTo>
                <a:lnTo>
                  <a:pt x="2355793" y="1369320"/>
                </a:lnTo>
                <a:lnTo>
                  <a:pt x="1526926" y="1366677"/>
                </a:lnTo>
                <a:lnTo>
                  <a:pt x="1536953" y="1378071"/>
                </a:lnTo>
                <a:lnTo>
                  <a:pt x="2117060" y="1910595"/>
                </a:lnTo>
                <a:lnTo>
                  <a:pt x="2121271" y="1916377"/>
                </a:lnTo>
                <a:lnTo>
                  <a:pt x="2122928" y="1923083"/>
                </a:lnTo>
                <a:lnTo>
                  <a:pt x="2121969" y="1929925"/>
                </a:lnTo>
                <a:lnTo>
                  <a:pt x="2118336" y="1936118"/>
                </a:lnTo>
                <a:lnTo>
                  <a:pt x="1913968" y="2165918"/>
                </a:lnTo>
                <a:lnTo>
                  <a:pt x="1908236" y="2170252"/>
                </a:lnTo>
                <a:lnTo>
                  <a:pt x="1901548" y="2172014"/>
                </a:lnTo>
                <a:lnTo>
                  <a:pt x="1894688" y="2171161"/>
                </a:lnTo>
                <a:lnTo>
                  <a:pt x="1888444" y="2167650"/>
                </a:lnTo>
                <a:lnTo>
                  <a:pt x="1371143" y="1722087"/>
                </a:lnTo>
                <a:lnTo>
                  <a:pt x="1379530" y="2360259"/>
                </a:lnTo>
                <a:lnTo>
                  <a:pt x="1377707" y="2364999"/>
                </a:lnTo>
                <a:lnTo>
                  <a:pt x="1370870" y="2372018"/>
                </a:lnTo>
                <a:lnTo>
                  <a:pt x="1366221" y="2373932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2563" y="1704294"/>
            <a:ext cx="7250430" cy="911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800" spc="360" dirty="0">
                <a:solidFill>
                  <a:srgbClr val="0F1B40"/>
                </a:solidFill>
                <a:latin typeface="Tahoma"/>
                <a:cs typeface="Tahoma"/>
              </a:rPr>
              <a:t>Deep</a:t>
            </a:r>
            <a:r>
              <a:rPr sz="5800" spc="-95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5800" spc="170" dirty="0">
                <a:solidFill>
                  <a:srgbClr val="0F1B40"/>
                </a:solidFill>
                <a:latin typeface="Tahoma"/>
                <a:cs typeface="Tahoma"/>
              </a:rPr>
              <a:t>Learning</a:t>
            </a:r>
            <a:r>
              <a:rPr sz="5800" spc="-944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5800" spc="310" dirty="0">
                <a:solidFill>
                  <a:srgbClr val="0F1B40"/>
                </a:solidFill>
                <a:latin typeface="Tahoma"/>
                <a:cs typeface="Tahoma"/>
              </a:rPr>
              <a:t>Model</a:t>
            </a:r>
            <a:endParaRPr sz="5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2230" y="6886231"/>
            <a:ext cx="776605" cy="3075940"/>
            <a:chOff x="252230" y="6886231"/>
            <a:chExt cx="776605" cy="3075940"/>
          </a:xfrm>
        </p:grpSpPr>
        <p:sp>
          <p:nvSpPr>
            <p:cNvPr id="13" name="object 13"/>
            <p:cNvSpPr/>
            <p:nvPr/>
          </p:nvSpPr>
          <p:spPr>
            <a:xfrm>
              <a:off x="252230" y="6886231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776477" y="388109"/>
                  </a:moveTo>
                  <a:lnTo>
                    <a:pt x="776477" y="2687339"/>
                  </a:lnTo>
                  <a:lnTo>
                    <a:pt x="773110" y="2738371"/>
                  </a:lnTo>
                  <a:lnTo>
                    <a:pt x="763176" y="2788096"/>
                  </a:lnTo>
                  <a:lnTo>
                    <a:pt x="746924" y="2835912"/>
                  </a:lnTo>
                  <a:lnTo>
                    <a:pt x="724605" y="2881214"/>
                  </a:lnTo>
                  <a:lnTo>
                    <a:pt x="696468" y="2923400"/>
                  </a:lnTo>
                  <a:lnTo>
                    <a:pt x="662764" y="2961866"/>
                  </a:lnTo>
                  <a:lnTo>
                    <a:pt x="624299" y="2995569"/>
                  </a:lnTo>
                  <a:lnTo>
                    <a:pt x="582113" y="3023706"/>
                  </a:lnTo>
                  <a:lnTo>
                    <a:pt x="536811" y="3046025"/>
                  </a:lnTo>
                  <a:lnTo>
                    <a:pt x="488995" y="3062276"/>
                  </a:lnTo>
                  <a:lnTo>
                    <a:pt x="439270" y="3072211"/>
                  </a:lnTo>
                  <a:lnTo>
                    <a:pt x="388238" y="3075578"/>
                  </a:lnTo>
                  <a:lnTo>
                    <a:pt x="337207" y="3072211"/>
                  </a:lnTo>
                  <a:lnTo>
                    <a:pt x="287481" y="3062276"/>
                  </a:lnTo>
                  <a:lnTo>
                    <a:pt x="239666" y="3046025"/>
                  </a:lnTo>
                  <a:lnTo>
                    <a:pt x="194363" y="3023706"/>
                  </a:lnTo>
                  <a:lnTo>
                    <a:pt x="152178" y="2995569"/>
                  </a:lnTo>
                  <a:lnTo>
                    <a:pt x="113712" y="2961866"/>
                  </a:lnTo>
                  <a:lnTo>
                    <a:pt x="80008" y="2923400"/>
                  </a:lnTo>
                  <a:lnTo>
                    <a:pt x="51871" y="2881214"/>
                  </a:lnTo>
                  <a:lnTo>
                    <a:pt x="29552" y="2835912"/>
                  </a:lnTo>
                  <a:lnTo>
                    <a:pt x="13301" y="2788096"/>
                  </a:lnTo>
                  <a:lnTo>
                    <a:pt x="3366" y="2738371"/>
                  </a:lnTo>
                  <a:lnTo>
                    <a:pt x="0" y="2687339"/>
                  </a:lnTo>
                  <a:lnTo>
                    <a:pt x="0" y="388109"/>
                  </a:lnTo>
                  <a:lnTo>
                    <a:pt x="3366" y="337077"/>
                  </a:lnTo>
                  <a:lnTo>
                    <a:pt x="13301" y="287352"/>
                  </a:lnTo>
                  <a:lnTo>
                    <a:pt x="29552" y="239536"/>
                  </a:lnTo>
                  <a:lnTo>
                    <a:pt x="51871" y="194234"/>
                  </a:lnTo>
                  <a:lnTo>
                    <a:pt x="80008" y="152048"/>
                  </a:lnTo>
                  <a:lnTo>
                    <a:pt x="113712" y="113583"/>
                  </a:lnTo>
                  <a:lnTo>
                    <a:pt x="152178" y="79879"/>
                  </a:lnTo>
                  <a:lnTo>
                    <a:pt x="194363" y="51742"/>
                  </a:lnTo>
                  <a:lnTo>
                    <a:pt x="239666" y="29423"/>
                  </a:lnTo>
                  <a:lnTo>
                    <a:pt x="287481" y="13171"/>
                  </a:lnTo>
                  <a:lnTo>
                    <a:pt x="337207" y="3237"/>
                  </a:lnTo>
                  <a:lnTo>
                    <a:pt x="386276" y="0"/>
                  </a:lnTo>
                  <a:lnTo>
                    <a:pt x="390200" y="0"/>
                  </a:lnTo>
                  <a:lnTo>
                    <a:pt x="439270" y="3237"/>
                  </a:lnTo>
                  <a:lnTo>
                    <a:pt x="488995" y="13171"/>
                  </a:lnTo>
                  <a:lnTo>
                    <a:pt x="536811" y="29423"/>
                  </a:lnTo>
                  <a:lnTo>
                    <a:pt x="582113" y="51742"/>
                  </a:lnTo>
                  <a:lnTo>
                    <a:pt x="624299" y="79879"/>
                  </a:lnTo>
                  <a:lnTo>
                    <a:pt x="662764" y="113583"/>
                  </a:lnTo>
                  <a:lnTo>
                    <a:pt x="696468" y="152048"/>
                  </a:lnTo>
                  <a:lnTo>
                    <a:pt x="724605" y="194234"/>
                  </a:lnTo>
                  <a:lnTo>
                    <a:pt x="746924" y="239536"/>
                  </a:lnTo>
                  <a:lnTo>
                    <a:pt x="763176" y="287352"/>
                  </a:lnTo>
                  <a:lnTo>
                    <a:pt x="773110" y="337077"/>
                  </a:lnTo>
                  <a:lnTo>
                    <a:pt x="776477" y="3881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9864" y="7248647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581194" y="290597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lnTo>
                    <a:pt x="243460" y="577391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249685" y="2039209"/>
            <a:ext cx="776605" cy="3075940"/>
            <a:chOff x="16249685" y="2039209"/>
            <a:chExt cx="776605" cy="3075940"/>
          </a:xfrm>
        </p:grpSpPr>
        <p:sp>
          <p:nvSpPr>
            <p:cNvPr id="16" name="object 16"/>
            <p:cNvSpPr/>
            <p:nvPr/>
          </p:nvSpPr>
          <p:spPr>
            <a:xfrm>
              <a:off x="16249685" y="2039209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1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439270" y="3367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1"/>
                  </a:lnTo>
                  <a:lnTo>
                    <a:pt x="390207" y="3075578"/>
                  </a:lnTo>
                  <a:lnTo>
                    <a:pt x="386270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347339" y="43977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0" y="290597"/>
                  </a:moveTo>
                  <a:lnTo>
                    <a:pt x="3803" y="243460"/>
                  </a:lnTo>
                  <a:lnTo>
                    <a:pt x="14814" y="198746"/>
                  </a:lnTo>
                  <a:lnTo>
                    <a:pt x="32436" y="157051"/>
                  </a:lnTo>
                  <a:lnTo>
                    <a:pt x="56068" y="118974"/>
                  </a:lnTo>
                  <a:lnTo>
                    <a:pt x="85114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1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1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4" y="496080"/>
                  </a:lnTo>
                  <a:lnTo>
                    <a:pt x="56068" y="462220"/>
                  </a:lnTo>
                  <a:lnTo>
                    <a:pt x="32436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77800" y="4157186"/>
            <a:ext cx="14639925" cy="197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8890" algn="ctr">
              <a:lnSpc>
                <a:spcPct val="116500"/>
              </a:lnSpc>
              <a:spcBef>
                <a:spcPts val="95"/>
              </a:spcBef>
            </a:pPr>
            <a:r>
              <a:rPr sz="2200" spc="330" dirty="0">
                <a:latin typeface="Tahoma"/>
                <a:cs typeface="Tahoma"/>
              </a:rPr>
              <a:t>WE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204" dirty="0">
                <a:latin typeface="Tahoma"/>
                <a:cs typeface="Tahoma"/>
              </a:rPr>
              <a:t>ALSO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254" dirty="0">
                <a:latin typeface="Tahoma"/>
                <a:cs typeface="Tahoma"/>
              </a:rPr>
              <a:t>DEVELOPED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250" dirty="0">
                <a:latin typeface="Tahoma"/>
                <a:cs typeface="Tahoma"/>
              </a:rPr>
              <a:t>A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b="1" spc="135" dirty="0">
                <a:latin typeface="Tahoma"/>
                <a:cs typeface="Tahoma"/>
              </a:rPr>
              <a:t>DEEP</a:t>
            </a:r>
            <a:r>
              <a:rPr sz="2200" b="1" spc="-10" dirty="0">
                <a:latin typeface="Tahoma"/>
                <a:cs typeface="Tahoma"/>
              </a:rPr>
              <a:t> </a:t>
            </a:r>
            <a:r>
              <a:rPr sz="2200" b="1" spc="90" dirty="0">
                <a:latin typeface="Tahoma"/>
                <a:cs typeface="Tahoma"/>
              </a:rPr>
              <a:t>NEURAL</a:t>
            </a:r>
            <a:r>
              <a:rPr sz="2200" b="1" spc="-5" dirty="0">
                <a:latin typeface="Tahoma"/>
                <a:cs typeface="Tahoma"/>
              </a:rPr>
              <a:t> </a:t>
            </a:r>
            <a:r>
              <a:rPr sz="2200" b="1" spc="95" dirty="0">
                <a:latin typeface="Tahoma"/>
                <a:cs typeface="Tahoma"/>
              </a:rPr>
              <a:t>NETWORK</a:t>
            </a:r>
            <a:r>
              <a:rPr sz="2200" b="1" spc="-10" dirty="0">
                <a:latin typeface="Tahoma"/>
                <a:cs typeface="Tahoma"/>
              </a:rPr>
              <a:t> </a:t>
            </a:r>
            <a:r>
              <a:rPr sz="2200" b="1" dirty="0">
                <a:latin typeface="Tahoma"/>
                <a:cs typeface="Tahoma"/>
              </a:rPr>
              <a:t>(DNN</a:t>
            </a:r>
            <a:r>
              <a:rPr sz="2200" dirty="0">
                <a:latin typeface="Tahoma"/>
                <a:cs typeface="Tahoma"/>
              </a:rPr>
              <a:t>)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14" dirty="0">
                <a:latin typeface="Tahoma"/>
                <a:cs typeface="Tahoma"/>
              </a:rPr>
              <a:t>TO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270" dirty="0">
                <a:latin typeface="Tahoma"/>
                <a:cs typeface="Tahoma"/>
              </a:rPr>
              <a:t>ENHANCE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85" dirty="0">
                <a:latin typeface="Tahoma"/>
                <a:cs typeface="Tahoma"/>
              </a:rPr>
              <a:t>CLV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160" dirty="0">
                <a:latin typeface="Tahoma"/>
                <a:cs typeface="Tahoma"/>
              </a:rPr>
              <a:t>PREDICTION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300" dirty="0">
                <a:latin typeface="Tahoma"/>
                <a:cs typeface="Tahoma"/>
              </a:rPr>
              <a:t>AND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235" dirty="0">
                <a:latin typeface="Tahoma"/>
                <a:cs typeface="Tahoma"/>
              </a:rPr>
              <a:t>LEARN </a:t>
            </a:r>
            <a:r>
              <a:rPr sz="2200" spc="280" dirty="0">
                <a:latin typeface="Tahoma"/>
                <a:cs typeface="Tahoma"/>
              </a:rPr>
              <a:t>MORE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254" dirty="0">
                <a:latin typeface="Tahoma"/>
                <a:cs typeface="Tahoma"/>
              </a:rPr>
              <a:t>COMPLEX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215" dirty="0">
                <a:latin typeface="Tahoma"/>
                <a:cs typeface="Tahoma"/>
              </a:rPr>
              <a:t>CUSTOMER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120" dirty="0">
                <a:latin typeface="Tahoma"/>
                <a:cs typeface="Tahoma"/>
              </a:rPr>
              <a:t>PATTERNS.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200">
              <a:latin typeface="Tahoma"/>
              <a:cs typeface="Tahoma"/>
            </a:endParaRPr>
          </a:p>
          <a:p>
            <a:pPr marL="82550" marR="5080" algn="ctr">
              <a:lnSpc>
                <a:spcPct val="116500"/>
              </a:lnSpc>
            </a:pPr>
            <a:r>
              <a:rPr sz="2200" spc="165" dirty="0">
                <a:latin typeface="Tahoma"/>
                <a:cs typeface="Tahoma"/>
              </a:rPr>
              <a:t>THE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285" dirty="0">
                <a:latin typeface="Tahoma"/>
                <a:cs typeface="Tahoma"/>
              </a:rPr>
              <a:t>MODEL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220" dirty="0">
                <a:latin typeface="Tahoma"/>
                <a:cs typeface="Tahoma"/>
              </a:rPr>
              <a:t>INCLUDED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65" dirty="0">
                <a:latin typeface="Tahoma"/>
                <a:cs typeface="Tahoma"/>
              </a:rPr>
              <a:t>MULTIPLE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220" dirty="0">
                <a:latin typeface="Tahoma"/>
                <a:cs typeface="Tahoma"/>
              </a:rPr>
              <a:t>HIDDEN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75" dirty="0">
                <a:latin typeface="Tahoma"/>
                <a:cs typeface="Tahoma"/>
              </a:rPr>
              <a:t>LAYERS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130" dirty="0">
                <a:latin typeface="Tahoma"/>
                <a:cs typeface="Tahoma"/>
              </a:rPr>
              <a:t>WITH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245" dirty="0">
                <a:latin typeface="Tahoma"/>
                <a:cs typeface="Tahoma"/>
              </a:rPr>
              <a:t>DROPOUT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300" dirty="0">
                <a:latin typeface="Tahoma"/>
                <a:cs typeface="Tahoma"/>
              </a:rPr>
              <a:t>AND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204" dirty="0">
                <a:latin typeface="Tahoma"/>
                <a:cs typeface="Tahoma"/>
              </a:rPr>
              <a:t>BATCH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175" dirty="0">
                <a:latin typeface="Tahoma"/>
                <a:cs typeface="Tahoma"/>
              </a:rPr>
              <a:t>NORMALIZATION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90" dirty="0">
                <a:latin typeface="Tahoma"/>
                <a:cs typeface="Tahoma"/>
              </a:rPr>
              <a:t>TO </a:t>
            </a:r>
            <a:r>
              <a:rPr sz="2200" spc="155" dirty="0">
                <a:latin typeface="Tahoma"/>
                <a:cs typeface="Tahoma"/>
              </a:rPr>
              <a:t>AVOID</a:t>
            </a:r>
            <a:r>
              <a:rPr sz="2200" spc="-9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OVERFITTING.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6046" y="8420164"/>
            <a:ext cx="13799185" cy="83946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311275" marR="30480" indent="-1273810">
              <a:lnSpc>
                <a:spcPct val="113100"/>
              </a:lnSpc>
              <a:spcBef>
                <a:spcPts val="155"/>
              </a:spcBef>
            </a:pP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“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75" dirty="0">
                <a:solidFill>
                  <a:srgbClr val="0F1B40"/>
                </a:solidFill>
                <a:latin typeface="Tahoma"/>
                <a:cs typeface="Tahoma"/>
              </a:rPr>
              <a:t>ALTHOUGH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35" dirty="0">
                <a:solidFill>
                  <a:srgbClr val="0F1B40"/>
                </a:solidFill>
                <a:latin typeface="Tahoma"/>
                <a:cs typeface="Tahoma"/>
              </a:rPr>
              <a:t>DEEP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LEARNING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35" dirty="0">
                <a:solidFill>
                  <a:srgbClr val="0F1B40"/>
                </a:solidFill>
                <a:latin typeface="Tahoma"/>
                <a:cs typeface="Tahoma"/>
              </a:rPr>
              <a:t>WAS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65" dirty="0">
                <a:solidFill>
                  <a:srgbClr val="0F1B40"/>
                </a:solidFill>
                <a:latin typeface="Tahoma"/>
                <a:cs typeface="Tahoma"/>
              </a:rPr>
              <a:t>NOT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THE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-35" dirty="0">
                <a:solidFill>
                  <a:srgbClr val="0F1B40"/>
                </a:solidFill>
                <a:latin typeface="Tahoma"/>
                <a:cs typeface="Tahoma"/>
              </a:rPr>
              <a:t>P</a:t>
            </a:r>
            <a:r>
              <a:rPr sz="2200" b="1" spc="-15" dirty="0">
                <a:solidFill>
                  <a:srgbClr val="0F1B40"/>
                </a:solidFill>
                <a:latin typeface="Tahoma"/>
                <a:cs typeface="Tahoma"/>
              </a:rPr>
              <a:t>RI</a:t>
            </a:r>
            <a:r>
              <a:rPr sz="2200" b="1" spc="-375" dirty="0">
                <a:solidFill>
                  <a:srgbClr val="0F1B40"/>
                </a:solidFill>
                <a:latin typeface="Tahoma"/>
                <a:cs typeface="Tahoma"/>
              </a:rPr>
              <a:t>M</a:t>
            </a:r>
            <a:r>
              <a:rPr sz="3675" spc="-817" baseline="-14739" dirty="0">
                <a:latin typeface="Tahoma"/>
                <a:cs typeface="Tahoma"/>
              </a:rPr>
              <a:t>-</a:t>
            </a:r>
            <a:r>
              <a:rPr sz="2200" b="1" spc="60" dirty="0">
                <a:solidFill>
                  <a:srgbClr val="0F1B40"/>
                </a:solidFill>
                <a:latin typeface="Tahoma"/>
                <a:cs typeface="Tahoma"/>
              </a:rPr>
              <a:t>ARY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FOCUS,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-175" dirty="0">
                <a:solidFill>
                  <a:srgbClr val="0F1B40"/>
                </a:solidFill>
                <a:latin typeface="Tahoma"/>
                <a:cs typeface="Tahoma"/>
              </a:rPr>
              <a:t>IT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30" dirty="0">
                <a:solidFill>
                  <a:srgbClr val="0F1B40"/>
                </a:solidFill>
                <a:latin typeface="Tahoma"/>
                <a:cs typeface="Tahoma"/>
              </a:rPr>
              <a:t>ALLOWED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55" dirty="0">
                <a:solidFill>
                  <a:srgbClr val="0F1B40"/>
                </a:solidFill>
                <a:latin typeface="Tahoma"/>
                <a:cs typeface="Tahoma"/>
              </a:rPr>
              <a:t>US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65" dirty="0">
                <a:solidFill>
                  <a:srgbClr val="0F1B40"/>
                </a:solidFill>
                <a:latin typeface="Tahoma"/>
                <a:cs typeface="Tahoma"/>
              </a:rPr>
              <a:t>TO</a:t>
            </a:r>
            <a:r>
              <a:rPr sz="2200" b="1" spc="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00" dirty="0">
                <a:solidFill>
                  <a:srgbClr val="0F1B40"/>
                </a:solidFill>
                <a:latin typeface="Tahoma"/>
                <a:cs typeface="Tahoma"/>
              </a:rPr>
              <a:t>COMPARE </a:t>
            </a: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TRADITIONAL</a:t>
            </a:r>
            <a:r>
              <a:rPr sz="2200" b="1" spc="6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RFM-</a:t>
            </a:r>
            <a:r>
              <a:rPr sz="2200" b="1" spc="125" dirty="0">
                <a:solidFill>
                  <a:srgbClr val="0F1B40"/>
                </a:solidFill>
                <a:latin typeface="Tahoma"/>
                <a:cs typeface="Tahoma"/>
              </a:rPr>
              <a:t>BASED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-45" dirty="0">
                <a:solidFill>
                  <a:srgbClr val="0F1B40"/>
                </a:solidFill>
                <a:latin typeface="Tahoma"/>
                <a:cs typeface="Tahoma"/>
              </a:rPr>
              <a:t>INSIGHTS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0F1B40"/>
                </a:solidFill>
                <a:latin typeface="Tahoma"/>
                <a:cs typeface="Tahoma"/>
              </a:rPr>
              <a:t>WITH</a:t>
            </a:r>
            <a:r>
              <a:rPr sz="2200" b="1" spc="7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100" dirty="0">
                <a:solidFill>
                  <a:srgbClr val="0F1B40"/>
                </a:solidFill>
                <a:latin typeface="Tahoma"/>
                <a:cs typeface="Tahoma"/>
              </a:rPr>
              <a:t>LEARNED</a:t>
            </a:r>
            <a:r>
              <a:rPr sz="2200" b="1" spc="6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0F1B40"/>
                </a:solidFill>
                <a:latin typeface="Tahoma"/>
                <a:cs typeface="Tahoma"/>
              </a:rPr>
              <a:t>REPRESENTATIONS”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0295" y="628302"/>
            <a:ext cx="1708785" cy="589280"/>
          </a:xfrm>
          <a:custGeom>
            <a:avLst/>
            <a:gdLst/>
            <a:ahLst/>
            <a:cxnLst/>
            <a:rect l="l" t="t" r="r" b="b"/>
            <a:pathLst>
              <a:path w="1708784" h="589280">
                <a:moveTo>
                  <a:pt x="141391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1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4" y="468373"/>
                </a:lnTo>
                <a:lnTo>
                  <a:pt x="32867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7" y="159141"/>
                </a:lnTo>
                <a:lnTo>
                  <a:pt x="56814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1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413914" y="0"/>
                </a:lnTo>
                <a:lnTo>
                  <a:pt x="1461678" y="3854"/>
                </a:lnTo>
                <a:lnTo>
                  <a:pt x="1506988" y="15012"/>
                </a:lnTo>
                <a:lnTo>
                  <a:pt x="1549238" y="32867"/>
                </a:lnTo>
                <a:lnTo>
                  <a:pt x="1587822" y="56814"/>
                </a:lnTo>
                <a:lnTo>
                  <a:pt x="1622133" y="86247"/>
                </a:lnTo>
                <a:lnTo>
                  <a:pt x="1651565" y="120558"/>
                </a:lnTo>
                <a:lnTo>
                  <a:pt x="1675512" y="159141"/>
                </a:lnTo>
                <a:lnTo>
                  <a:pt x="1693368" y="201391"/>
                </a:lnTo>
                <a:lnTo>
                  <a:pt x="1704526" y="246701"/>
                </a:lnTo>
                <a:lnTo>
                  <a:pt x="1708380" y="294465"/>
                </a:lnTo>
                <a:lnTo>
                  <a:pt x="1704526" y="342229"/>
                </a:lnTo>
                <a:lnTo>
                  <a:pt x="1693368" y="387539"/>
                </a:lnTo>
                <a:lnTo>
                  <a:pt x="1675512" y="429789"/>
                </a:lnTo>
                <a:lnTo>
                  <a:pt x="1651565" y="468373"/>
                </a:lnTo>
                <a:lnTo>
                  <a:pt x="1622133" y="502684"/>
                </a:lnTo>
                <a:lnTo>
                  <a:pt x="1587822" y="532116"/>
                </a:lnTo>
                <a:lnTo>
                  <a:pt x="1549238" y="556063"/>
                </a:lnTo>
                <a:lnTo>
                  <a:pt x="1506988" y="573919"/>
                </a:lnTo>
                <a:lnTo>
                  <a:pt x="1461678" y="585077"/>
                </a:lnTo>
                <a:lnTo>
                  <a:pt x="141391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91875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6463" y="734680"/>
            <a:ext cx="104203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40" dirty="0">
                <a:solidFill>
                  <a:srgbClr val="F4F4F4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07413" y="1330154"/>
            <a:ext cx="2374265" cy="2374265"/>
          </a:xfrm>
          <a:custGeom>
            <a:avLst/>
            <a:gdLst/>
            <a:ahLst/>
            <a:cxnLst/>
            <a:rect l="l" t="t" r="r" b="b"/>
            <a:pathLst>
              <a:path w="2374265" h="2374265">
                <a:moveTo>
                  <a:pt x="1366221" y="2373932"/>
                </a:moveTo>
                <a:lnTo>
                  <a:pt x="986837" y="2373932"/>
                </a:lnTo>
                <a:lnTo>
                  <a:pt x="982188" y="2371927"/>
                </a:lnTo>
                <a:lnTo>
                  <a:pt x="975260" y="2364999"/>
                </a:lnTo>
                <a:lnTo>
                  <a:pt x="973346" y="2360259"/>
                </a:lnTo>
                <a:lnTo>
                  <a:pt x="982917" y="1644515"/>
                </a:lnTo>
                <a:lnTo>
                  <a:pt x="502351" y="2163275"/>
                </a:lnTo>
                <a:lnTo>
                  <a:pt x="496608" y="2165098"/>
                </a:lnTo>
                <a:lnTo>
                  <a:pt x="486855" y="2163640"/>
                </a:lnTo>
                <a:lnTo>
                  <a:pt x="483573" y="2162090"/>
                </a:lnTo>
                <a:lnTo>
                  <a:pt x="479471" y="2158170"/>
                </a:lnTo>
                <a:lnTo>
                  <a:pt x="478378" y="2156894"/>
                </a:lnTo>
                <a:lnTo>
                  <a:pt x="477557" y="2155618"/>
                </a:lnTo>
                <a:lnTo>
                  <a:pt x="462824" y="2142070"/>
                </a:lnTo>
                <a:lnTo>
                  <a:pt x="205188" y="1896466"/>
                </a:lnTo>
                <a:lnTo>
                  <a:pt x="203183" y="1891908"/>
                </a:lnTo>
                <a:lnTo>
                  <a:pt x="203000" y="1882155"/>
                </a:lnTo>
                <a:lnTo>
                  <a:pt x="204915" y="1877415"/>
                </a:lnTo>
                <a:lnTo>
                  <a:pt x="708907" y="1364033"/>
                </a:lnTo>
                <a:lnTo>
                  <a:pt x="18139" y="1361846"/>
                </a:lnTo>
                <a:lnTo>
                  <a:pt x="11075" y="1360407"/>
                </a:lnTo>
                <a:lnTo>
                  <a:pt x="5309" y="1356490"/>
                </a:lnTo>
                <a:lnTo>
                  <a:pt x="1424" y="1350694"/>
                </a:lnTo>
                <a:lnTo>
                  <a:pt x="0" y="1343615"/>
                </a:lnTo>
                <a:lnTo>
                  <a:pt x="0" y="1051009"/>
                </a:lnTo>
                <a:lnTo>
                  <a:pt x="700703" y="1030591"/>
                </a:lnTo>
                <a:lnTo>
                  <a:pt x="211842" y="512652"/>
                </a:lnTo>
                <a:lnTo>
                  <a:pt x="208470" y="509461"/>
                </a:lnTo>
                <a:lnTo>
                  <a:pt x="206373" y="504995"/>
                </a:lnTo>
                <a:lnTo>
                  <a:pt x="205917" y="494785"/>
                </a:lnTo>
                <a:lnTo>
                  <a:pt x="208105" y="489590"/>
                </a:lnTo>
                <a:lnTo>
                  <a:pt x="497247" y="225060"/>
                </a:lnTo>
                <a:lnTo>
                  <a:pt x="502078" y="223236"/>
                </a:lnTo>
                <a:lnTo>
                  <a:pt x="511740" y="223875"/>
                </a:lnTo>
                <a:lnTo>
                  <a:pt x="516298" y="226062"/>
                </a:lnTo>
                <a:lnTo>
                  <a:pt x="994676" y="765970"/>
                </a:lnTo>
                <a:lnTo>
                  <a:pt x="1004612" y="17957"/>
                </a:lnTo>
                <a:lnTo>
                  <a:pt x="1006101" y="10959"/>
                </a:lnTo>
                <a:lnTo>
                  <a:pt x="1010035" y="5252"/>
                </a:lnTo>
                <a:lnTo>
                  <a:pt x="1015815" y="1408"/>
                </a:lnTo>
                <a:lnTo>
                  <a:pt x="1022843" y="0"/>
                </a:lnTo>
                <a:lnTo>
                  <a:pt x="1330306" y="0"/>
                </a:lnTo>
                <a:lnTo>
                  <a:pt x="1357652" y="703347"/>
                </a:lnTo>
                <a:lnTo>
                  <a:pt x="1421552" y="638171"/>
                </a:lnTo>
                <a:lnTo>
                  <a:pt x="1897378" y="233902"/>
                </a:lnTo>
                <a:lnTo>
                  <a:pt x="1903634" y="230419"/>
                </a:lnTo>
                <a:lnTo>
                  <a:pt x="1910515" y="229629"/>
                </a:lnTo>
                <a:lnTo>
                  <a:pt x="1917208" y="231453"/>
                </a:lnTo>
                <a:lnTo>
                  <a:pt x="1922901" y="235816"/>
                </a:lnTo>
                <a:lnTo>
                  <a:pt x="2125355" y="467257"/>
                </a:lnTo>
                <a:lnTo>
                  <a:pt x="2128920" y="473462"/>
                </a:lnTo>
                <a:lnTo>
                  <a:pt x="2129810" y="480326"/>
                </a:lnTo>
                <a:lnTo>
                  <a:pt x="2128085" y="487036"/>
                </a:lnTo>
                <a:lnTo>
                  <a:pt x="2123805" y="492780"/>
                </a:lnTo>
                <a:lnTo>
                  <a:pt x="1668216" y="903339"/>
                </a:lnTo>
                <a:lnTo>
                  <a:pt x="1643843" y="930264"/>
                </a:lnTo>
                <a:lnTo>
                  <a:pt x="1553908" y="1027947"/>
                </a:lnTo>
                <a:lnTo>
                  <a:pt x="2360533" y="1025395"/>
                </a:lnTo>
                <a:lnTo>
                  <a:pt x="2365091" y="1027309"/>
                </a:lnTo>
                <a:lnTo>
                  <a:pt x="2372018" y="1034146"/>
                </a:lnTo>
                <a:lnTo>
                  <a:pt x="2373933" y="1038795"/>
                </a:lnTo>
                <a:lnTo>
                  <a:pt x="2373933" y="1355921"/>
                </a:lnTo>
                <a:lnTo>
                  <a:pt x="2372018" y="1360569"/>
                </a:lnTo>
                <a:lnTo>
                  <a:pt x="2368555" y="1364033"/>
                </a:lnTo>
                <a:lnTo>
                  <a:pt x="2365182" y="1367406"/>
                </a:lnTo>
                <a:lnTo>
                  <a:pt x="2360806" y="1369229"/>
                </a:lnTo>
                <a:lnTo>
                  <a:pt x="2355793" y="1369320"/>
                </a:lnTo>
                <a:lnTo>
                  <a:pt x="1526926" y="1366677"/>
                </a:lnTo>
                <a:lnTo>
                  <a:pt x="1536953" y="1378071"/>
                </a:lnTo>
                <a:lnTo>
                  <a:pt x="2117060" y="1910595"/>
                </a:lnTo>
                <a:lnTo>
                  <a:pt x="2121271" y="1916377"/>
                </a:lnTo>
                <a:lnTo>
                  <a:pt x="2122928" y="1923083"/>
                </a:lnTo>
                <a:lnTo>
                  <a:pt x="2121969" y="1929925"/>
                </a:lnTo>
                <a:lnTo>
                  <a:pt x="2118336" y="1936118"/>
                </a:lnTo>
                <a:lnTo>
                  <a:pt x="1913968" y="2165918"/>
                </a:lnTo>
                <a:lnTo>
                  <a:pt x="1908236" y="2170252"/>
                </a:lnTo>
                <a:lnTo>
                  <a:pt x="1901548" y="2172014"/>
                </a:lnTo>
                <a:lnTo>
                  <a:pt x="1894688" y="2171161"/>
                </a:lnTo>
                <a:lnTo>
                  <a:pt x="1888444" y="2167650"/>
                </a:lnTo>
                <a:lnTo>
                  <a:pt x="1371143" y="1722087"/>
                </a:lnTo>
                <a:lnTo>
                  <a:pt x="1379530" y="2360259"/>
                </a:lnTo>
                <a:lnTo>
                  <a:pt x="1377707" y="2364999"/>
                </a:lnTo>
                <a:lnTo>
                  <a:pt x="1370870" y="2372018"/>
                </a:lnTo>
                <a:lnTo>
                  <a:pt x="1366221" y="2373932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52230" y="6886231"/>
            <a:ext cx="776605" cy="3075940"/>
            <a:chOff x="252230" y="6886231"/>
            <a:chExt cx="776605" cy="3075940"/>
          </a:xfrm>
        </p:grpSpPr>
        <p:sp>
          <p:nvSpPr>
            <p:cNvPr id="12" name="object 12"/>
            <p:cNvSpPr/>
            <p:nvPr/>
          </p:nvSpPr>
          <p:spPr>
            <a:xfrm>
              <a:off x="252230" y="6886231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776477" y="388109"/>
                  </a:moveTo>
                  <a:lnTo>
                    <a:pt x="776477" y="2687339"/>
                  </a:lnTo>
                  <a:lnTo>
                    <a:pt x="773110" y="2738371"/>
                  </a:lnTo>
                  <a:lnTo>
                    <a:pt x="763176" y="2788096"/>
                  </a:lnTo>
                  <a:lnTo>
                    <a:pt x="746924" y="2835912"/>
                  </a:lnTo>
                  <a:lnTo>
                    <a:pt x="724605" y="2881214"/>
                  </a:lnTo>
                  <a:lnTo>
                    <a:pt x="696468" y="2923400"/>
                  </a:lnTo>
                  <a:lnTo>
                    <a:pt x="662764" y="2961866"/>
                  </a:lnTo>
                  <a:lnTo>
                    <a:pt x="624299" y="2995569"/>
                  </a:lnTo>
                  <a:lnTo>
                    <a:pt x="582113" y="3023706"/>
                  </a:lnTo>
                  <a:lnTo>
                    <a:pt x="536811" y="3046025"/>
                  </a:lnTo>
                  <a:lnTo>
                    <a:pt x="488995" y="3062276"/>
                  </a:lnTo>
                  <a:lnTo>
                    <a:pt x="439270" y="3072211"/>
                  </a:lnTo>
                  <a:lnTo>
                    <a:pt x="388238" y="3075578"/>
                  </a:lnTo>
                  <a:lnTo>
                    <a:pt x="337207" y="3072211"/>
                  </a:lnTo>
                  <a:lnTo>
                    <a:pt x="287481" y="3062276"/>
                  </a:lnTo>
                  <a:lnTo>
                    <a:pt x="239666" y="3046025"/>
                  </a:lnTo>
                  <a:lnTo>
                    <a:pt x="194363" y="3023706"/>
                  </a:lnTo>
                  <a:lnTo>
                    <a:pt x="152178" y="2995569"/>
                  </a:lnTo>
                  <a:lnTo>
                    <a:pt x="113712" y="2961866"/>
                  </a:lnTo>
                  <a:lnTo>
                    <a:pt x="80008" y="2923400"/>
                  </a:lnTo>
                  <a:lnTo>
                    <a:pt x="51871" y="2881214"/>
                  </a:lnTo>
                  <a:lnTo>
                    <a:pt x="29552" y="2835912"/>
                  </a:lnTo>
                  <a:lnTo>
                    <a:pt x="13301" y="2788096"/>
                  </a:lnTo>
                  <a:lnTo>
                    <a:pt x="3366" y="2738371"/>
                  </a:lnTo>
                  <a:lnTo>
                    <a:pt x="0" y="2687339"/>
                  </a:lnTo>
                  <a:lnTo>
                    <a:pt x="0" y="388109"/>
                  </a:lnTo>
                  <a:lnTo>
                    <a:pt x="3366" y="337077"/>
                  </a:lnTo>
                  <a:lnTo>
                    <a:pt x="13301" y="287352"/>
                  </a:lnTo>
                  <a:lnTo>
                    <a:pt x="29552" y="239536"/>
                  </a:lnTo>
                  <a:lnTo>
                    <a:pt x="51871" y="194234"/>
                  </a:lnTo>
                  <a:lnTo>
                    <a:pt x="80008" y="152048"/>
                  </a:lnTo>
                  <a:lnTo>
                    <a:pt x="113712" y="113583"/>
                  </a:lnTo>
                  <a:lnTo>
                    <a:pt x="152178" y="79879"/>
                  </a:lnTo>
                  <a:lnTo>
                    <a:pt x="194363" y="51742"/>
                  </a:lnTo>
                  <a:lnTo>
                    <a:pt x="239666" y="29423"/>
                  </a:lnTo>
                  <a:lnTo>
                    <a:pt x="287481" y="13171"/>
                  </a:lnTo>
                  <a:lnTo>
                    <a:pt x="337207" y="3237"/>
                  </a:lnTo>
                  <a:lnTo>
                    <a:pt x="386276" y="0"/>
                  </a:lnTo>
                  <a:lnTo>
                    <a:pt x="390200" y="0"/>
                  </a:lnTo>
                  <a:lnTo>
                    <a:pt x="439270" y="3237"/>
                  </a:lnTo>
                  <a:lnTo>
                    <a:pt x="488995" y="13171"/>
                  </a:lnTo>
                  <a:lnTo>
                    <a:pt x="536811" y="29423"/>
                  </a:lnTo>
                  <a:lnTo>
                    <a:pt x="582113" y="51742"/>
                  </a:lnTo>
                  <a:lnTo>
                    <a:pt x="624299" y="79879"/>
                  </a:lnTo>
                  <a:lnTo>
                    <a:pt x="662764" y="113583"/>
                  </a:lnTo>
                  <a:lnTo>
                    <a:pt x="696468" y="152048"/>
                  </a:lnTo>
                  <a:lnTo>
                    <a:pt x="724605" y="194234"/>
                  </a:lnTo>
                  <a:lnTo>
                    <a:pt x="746924" y="239536"/>
                  </a:lnTo>
                  <a:lnTo>
                    <a:pt x="763176" y="287352"/>
                  </a:lnTo>
                  <a:lnTo>
                    <a:pt x="773110" y="337077"/>
                  </a:lnTo>
                  <a:lnTo>
                    <a:pt x="776477" y="3881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9864" y="7248647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581194" y="290597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lnTo>
                    <a:pt x="243460" y="577391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249685" y="2039209"/>
            <a:ext cx="776605" cy="3075940"/>
            <a:chOff x="16249685" y="2039209"/>
            <a:chExt cx="776605" cy="3075940"/>
          </a:xfrm>
        </p:grpSpPr>
        <p:sp>
          <p:nvSpPr>
            <p:cNvPr id="15" name="object 15"/>
            <p:cNvSpPr/>
            <p:nvPr/>
          </p:nvSpPr>
          <p:spPr>
            <a:xfrm>
              <a:off x="16249685" y="2039209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1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439270" y="3367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1"/>
                  </a:lnTo>
                  <a:lnTo>
                    <a:pt x="390207" y="3075578"/>
                  </a:lnTo>
                  <a:lnTo>
                    <a:pt x="386270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47339" y="43977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0" y="290597"/>
                  </a:moveTo>
                  <a:lnTo>
                    <a:pt x="3803" y="243460"/>
                  </a:lnTo>
                  <a:lnTo>
                    <a:pt x="14814" y="198746"/>
                  </a:lnTo>
                  <a:lnTo>
                    <a:pt x="32436" y="157051"/>
                  </a:lnTo>
                  <a:lnTo>
                    <a:pt x="56068" y="118974"/>
                  </a:lnTo>
                  <a:lnTo>
                    <a:pt x="85114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1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1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4" y="496080"/>
                  </a:lnTo>
                  <a:lnTo>
                    <a:pt x="56068" y="462220"/>
                  </a:lnTo>
                  <a:lnTo>
                    <a:pt x="32436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1049" y="1704294"/>
            <a:ext cx="13058140" cy="4677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110"/>
              </a:spcBef>
            </a:pPr>
            <a:r>
              <a:rPr sz="5800" spc="110" dirty="0">
                <a:solidFill>
                  <a:srgbClr val="0F1B40"/>
                </a:solidFill>
                <a:latin typeface="Tahoma"/>
                <a:cs typeface="Tahoma"/>
              </a:rPr>
              <a:t>Streamlit</a:t>
            </a:r>
            <a:r>
              <a:rPr sz="5800" spc="-93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5800" spc="254" dirty="0">
                <a:solidFill>
                  <a:srgbClr val="0F1B40"/>
                </a:solidFill>
                <a:latin typeface="Tahoma"/>
                <a:cs typeface="Tahoma"/>
              </a:rPr>
              <a:t>Deployment</a:t>
            </a:r>
            <a:endParaRPr sz="5800">
              <a:latin typeface="Tahoma"/>
              <a:cs typeface="Tahoma"/>
            </a:endParaRPr>
          </a:p>
          <a:p>
            <a:pPr marL="153035">
              <a:lnSpc>
                <a:spcPct val="100000"/>
              </a:lnSpc>
              <a:spcBef>
                <a:spcPts val="3500"/>
              </a:spcBef>
            </a:pPr>
            <a:r>
              <a:rPr sz="1850" b="1" spc="160" dirty="0">
                <a:latin typeface="Tahoma"/>
                <a:cs typeface="Tahoma"/>
              </a:rPr>
              <a:t>WE</a:t>
            </a:r>
            <a:r>
              <a:rPr sz="1850" b="1" spc="10" dirty="0">
                <a:latin typeface="Tahoma"/>
                <a:cs typeface="Tahoma"/>
              </a:rPr>
              <a:t> </a:t>
            </a:r>
            <a:r>
              <a:rPr sz="1850" b="1" spc="80" dirty="0">
                <a:latin typeface="Tahoma"/>
                <a:cs typeface="Tahoma"/>
              </a:rPr>
              <a:t>DEPLOYED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55" dirty="0">
                <a:latin typeface="Tahoma"/>
                <a:cs typeface="Tahoma"/>
              </a:rPr>
              <a:t>THE</a:t>
            </a:r>
            <a:r>
              <a:rPr sz="1850" b="1" spc="1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ENTIRE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PIPELINE</a:t>
            </a:r>
            <a:r>
              <a:rPr sz="1850" b="1" spc="10" dirty="0">
                <a:latin typeface="Tahoma"/>
                <a:cs typeface="Tahoma"/>
              </a:rPr>
              <a:t> </a:t>
            </a:r>
            <a:r>
              <a:rPr sz="1850" b="1" spc="-125" dirty="0">
                <a:latin typeface="Tahoma"/>
                <a:cs typeface="Tahoma"/>
              </a:rPr>
              <a:t>IN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150" dirty="0">
                <a:latin typeface="Tahoma"/>
                <a:cs typeface="Tahoma"/>
              </a:rPr>
              <a:t>A</a:t>
            </a:r>
            <a:r>
              <a:rPr sz="1850" b="1" spc="1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STREAMLIT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95" dirty="0">
                <a:latin typeface="Tahoma"/>
                <a:cs typeface="Tahoma"/>
              </a:rPr>
              <a:t>DASHBOARD</a:t>
            </a:r>
            <a:r>
              <a:rPr sz="1850" b="1" spc="10" dirty="0">
                <a:latin typeface="Tahoma"/>
                <a:cs typeface="Tahoma"/>
              </a:rPr>
              <a:t> </a:t>
            </a:r>
            <a:r>
              <a:rPr sz="1850" b="1" dirty="0">
                <a:latin typeface="Tahoma"/>
                <a:cs typeface="Tahoma"/>
              </a:rPr>
              <a:t>THAT</a:t>
            </a:r>
            <a:r>
              <a:rPr sz="1850" b="1" spc="15" dirty="0">
                <a:latin typeface="Tahoma"/>
                <a:cs typeface="Tahoma"/>
              </a:rPr>
              <a:t> </a:t>
            </a:r>
            <a:r>
              <a:rPr sz="1850" b="1" spc="-10" dirty="0">
                <a:latin typeface="Tahoma"/>
                <a:cs typeface="Tahoma"/>
              </a:rPr>
              <a:t>INCLUDES</a:t>
            </a:r>
            <a:r>
              <a:rPr sz="1850" spc="-10" dirty="0">
                <a:latin typeface="Tahoma"/>
                <a:cs typeface="Tahoma"/>
              </a:rPr>
              <a:t>: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850">
              <a:latin typeface="Tahoma"/>
              <a:cs typeface="Tahoma"/>
            </a:endParaRPr>
          </a:p>
          <a:p>
            <a:pPr marL="321945" indent="-321945" algn="ctr">
              <a:lnSpc>
                <a:spcPct val="100000"/>
              </a:lnSpc>
              <a:buAutoNum type="arabicPlain"/>
              <a:tabLst>
                <a:tab pos="321945" algn="l"/>
              </a:tabLst>
            </a:pPr>
            <a:r>
              <a:rPr sz="2500" spc="250" dirty="0">
                <a:latin typeface="Tahoma"/>
                <a:cs typeface="Tahoma"/>
              </a:rPr>
              <a:t>CUSTOMER</a:t>
            </a:r>
            <a:r>
              <a:rPr sz="2500" spc="-105" dirty="0">
                <a:latin typeface="Tahoma"/>
                <a:cs typeface="Tahoma"/>
              </a:rPr>
              <a:t> </a:t>
            </a:r>
            <a:r>
              <a:rPr sz="2500" spc="310" dirty="0">
                <a:latin typeface="Tahoma"/>
                <a:cs typeface="Tahoma"/>
              </a:rPr>
              <a:t>LOOKUP</a:t>
            </a:r>
            <a:r>
              <a:rPr sz="2500" spc="-100" dirty="0">
                <a:latin typeface="Tahoma"/>
                <a:cs typeface="Tahoma"/>
              </a:rPr>
              <a:t> </a:t>
            </a:r>
            <a:r>
              <a:rPr sz="2500" spc="150" dirty="0">
                <a:latin typeface="Tahoma"/>
                <a:cs typeface="Tahoma"/>
              </a:rPr>
              <a:t>WITH</a:t>
            </a:r>
            <a:r>
              <a:rPr sz="2500" spc="-105" dirty="0">
                <a:latin typeface="Tahoma"/>
                <a:cs typeface="Tahoma"/>
              </a:rPr>
              <a:t> </a:t>
            </a:r>
            <a:r>
              <a:rPr sz="2500" spc="195" dirty="0">
                <a:latin typeface="Tahoma"/>
                <a:cs typeface="Tahoma"/>
              </a:rPr>
              <a:t>REAL-</a:t>
            </a:r>
            <a:r>
              <a:rPr sz="2500" spc="125" dirty="0">
                <a:latin typeface="Tahoma"/>
                <a:cs typeface="Tahoma"/>
              </a:rPr>
              <a:t>TIME</a:t>
            </a:r>
            <a:r>
              <a:rPr sz="2500" spc="-100" dirty="0">
                <a:latin typeface="Tahoma"/>
                <a:cs typeface="Tahoma"/>
              </a:rPr>
              <a:t> </a:t>
            </a:r>
            <a:r>
              <a:rPr sz="2500" spc="215" dirty="0">
                <a:latin typeface="Tahoma"/>
                <a:cs typeface="Tahoma"/>
              </a:rPr>
              <a:t>CLV</a:t>
            </a:r>
            <a:r>
              <a:rPr sz="2500" spc="-105" dirty="0">
                <a:latin typeface="Tahoma"/>
                <a:cs typeface="Tahoma"/>
              </a:rPr>
              <a:t> </a:t>
            </a:r>
            <a:r>
              <a:rPr sz="2500" spc="170" dirty="0">
                <a:latin typeface="Tahoma"/>
                <a:cs typeface="Tahoma"/>
              </a:rPr>
              <a:t>PREDICTION</a:t>
            </a:r>
            <a:endParaRPr sz="2500">
              <a:latin typeface="Tahoma"/>
              <a:cs typeface="Tahoma"/>
            </a:endParaRPr>
          </a:p>
          <a:p>
            <a:pPr marL="385445" indent="-385445" algn="ctr">
              <a:lnSpc>
                <a:spcPct val="100000"/>
              </a:lnSpc>
              <a:spcBef>
                <a:spcPts val="459"/>
              </a:spcBef>
              <a:buAutoNum type="arabicPlain"/>
              <a:tabLst>
                <a:tab pos="385445" algn="l"/>
              </a:tabLst>
            </a:pPr>
            <a:r>
              <a:rPr sz="2500" spc="130" dirty="0">
                <a:latin typeface="Tahoma"/>
                <a:cs typeface="Tahoma"/>
              </a:rPr>
              <a:t>INTERACTIVE</a:t>
            </a:r>
            <a:r>
              <a:rPr sz="2500" spc="-80" dirty="0">
                <a:latin typeface="Tahoma"/>
                <a:cs typeface="Tahoma"/>
              </a:rPr>
              <a:t> </a:t>
            </a:r>
            <a:r>
              <a:rPr sz="2500" spc="190" dirty="0">
                <a:latin typeface="Tahoma"/>
                <a:cs typeface="Tahoma"/>
              </a:rPr>
              <a:t>SEGMENTATION</a:t>
            </a:r>
            <a:r>
              <a:rPr sz="2500" spc="-75" dirty="0">
                <a:latin typeface="Tahoma"/>
                <a:cs typeface="Tahoma"/>
              </a:rPr>
              <a:t> </a:t>
            </a:r>
            <a:r>
              <a:rPr sz="2500" spc="245" dirty="0">
                <a:latin typeface="Tahoma"/>
                <a:cs typeface="Tahoma"/>
              </a:rPr>
              <a:t>EXPLORER</a:t>
            </a:r>
            <a:endParaRPr sz="2500">
              <a:latin typeface="Tahoma"/>
              <a:cs typeface="Tahoma"/>
            </a:endParaRPr>
          </a:p>
          <a:p>
            <a:pPr marL="386715" indent="-386715" algn="ctr">
              <a:lnSpc>
                <a:spcPct val="100000"/>
              </a:lnSpc>
              <a:spcBef>
                <a:spcPts val="459"/>
              </a:spcBef>
              <a:buAutoNum type="arabicPlain"/>
              <a:tabLst>
                <a:tab pos="386715" algn="l"/>
              </a:tabLst>
            </a:pPr>
            <a:r>
              <a:rPr sz="2500" spc="335" dirty="0">
                <a:latin typeface="Tahoma"/>
                <a:cs typeface="Tahoma"/>
              </a:rPr>
              <a:t>RFM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204" dirty="0">
                <a:latin typeface="Tahoma"/>
                <a:cs typeface="Tahoma"/>
              </a:rPr>
              <a:t>SCORING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335" dirty="0">
                <a:latin typeface="Tahoma"/>
                <a:cs typeface="Tahoma"/>
              </a:rPr>
              <a:t>AND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5" dirty="0">
                <a:latin typeface="Tahoma"/>
                <a:cs typeface="Tahoma"/>
              </a:rPr>
              <a:t>FILTERS</a:t>
            </a:r>
            <a:endParaRPr sz="2500">
              <a:latin typeface="Tahoma"/>
              <a:cs typeface="Tahoma"/>
            </a:endParaRPr>
          </a:p>
          <a:p>
            <a:pPr marL="421005" indent="-421005" algn="ctr">
              <a:lnSpc>
                <a:spcPct val="100000"/>
              </a:lnSpc>
              <a:spcBef>
                <a:spcPts val="455"/>
              </a:spcBef>
              <a:buAutoNum type="arabicPlain"/>
              <a:tabLst>
                <a:tab pos="421005" algn="l"/>
              </a:tabLst>
            </a:pPr>
            <a:r>
              <a:rPr sz="2500" spc="204" dirty="0">
                <a:latin typeface="Tahoma"/>
                <a:cs typeface="Tahoma"/>
              </a:rPr>
              <a:t>CLUSTER</a:t>
            </a:r>
            <a:r>
              <a:rPr sz="2500" spc="-85" dirty="0">
                <a:latin typeface="Tahoma"/>
                <a:cs typeface="Tahoma"/>
              </a:rPr>
              <a:t> </a:t>
            </a:r>
            <a:r>
              <a:rPr sz="2500" spc="120" dirty="0">
                <a:latin typeface="Tahoma"/>
                <a:cs typeface="Tahoma"/>
              </a:rPr>
              <a:t>VISUALIZATION</a:t>
            </a:r>
            <a:endParaRPr sz="2500">
              <a:latin typeface="Tahoma"/>
              <a:cs typeface="Tahoma"/>
            </a:endParaRPr>
          </a:p>
          <a:p>
            <a:pPr marL="387350" indent="-387350" algn="ctr">
              <a:lnSpc>
                <a:spcPct val="100000"/>
              </a:lnSpc>
              <a:spcBef>
                <a:spcPts val="459"/>
              </a:spcBef>
              <a:buAutoNum type="arabicPlain"/>
              <a:tabLst>
                <a:tab pos="387350" algn="l"/>
              </a:tabLst>
            </a:pPr>
            <a:r>
              <a:rPr sz="2500" spc="275" dirty="0">
                <a:latin typeface="Tahoma"/>
                <a:cs typeface="Tahoma"/>
              </a:rPr>
              <a:t>PRODUCT</a:t>
            </a:r>
            <a:r>
              <a:rPr sz="2500" spc="-105" dirty="0">
                <a:latin typeface="Tahoma"/>
                <a:cs typeface="Tahoma"/>
              </a:rPr>
              <a:t> </a:t>
            </a:r>
            <a:r>
              <a:rPr sz="2500" spc="335" dirty="0">
                <a:latin typeface="Tahoma"/>
                <a:cs typeface="Tahoma"/>
              </a:rPr>
              <a:t>AND</a:t>
            </a:r>
            <a:r>
              <a:rPr sz="2500" spc="-105" dirty="0">
                <a:latin typeface="Tahoma"/>
                <a:cs typeface="Tahoma"/>
              </a:rPr>
              <a:t> </a:t>
            </a:r>
            <a:r>
              <a:rPr sz="2500" spc="250" dirty="0">
                <a:latin typeface="Tahoma"/>
                <a:cs typeface="Tahoma"/>
              </a:rPr>
              <a:t>CUSTOMER</a:t>
            </a:r>
            <a:r>
              <a:rPr sz="2500" spc="-100" dirty="0">
                <a:latin typeface="Tahoma"/>
                <a:cs typeface="Tahoma"/>
              </a:rPr>
              <a:t> </a:t>
            </a:r>
            <a:r>
              <a:rPr sz="2500" spc="95" dirty="0">
                <a:latin typeface="Tahoma"/>
                <a:cs typeface="Tahoma"/>
              </a:rPr>
              <a:t>INSIGHTS</a:t>
            </a:r>
            <a:endParaRPr sz="2500">
              <a:latin typeface="Tahoma"/>
              <a:cs typeface="Tahoma"/>
            </a:endParaRPr>
          </a:p>
          <a:p>
            <a:pPr marL="403225" indent="-403225" algn="ctr">
              <a:lnSpc>
                <a:spcPct val="100000"/>
              </a:lnSpc>
              <a:spcBef>
                <a:spcPts val="459"/>
              </a:spcBef>
              <a:buAutoNum type="arabicPlain"/>
              <a:tabLst>
                <a:tab pos="403225" algn="l"/>
              </a:tabLst>
            </a:pPr>
            <a:r>
              <a:rPr sz="2500" spc="310" dirty="0">
                <a:latin typeface="Tahoma"/>
                <a:cs typeface="Tahoma"/>
              </a:rPr>
              <a:t>DOWNLOADABLE</a:t>
            </a:r>
            <a:r>
              <a:rPr sz="2500" spc="-100" dirty="0">
                <a:latin typeface="Tahoma"/>
                <a:cs typeface="Tahoma"/>
              </a:rPr>
              <a:t> </a:t>
            </a:r>
            <a:r>
              <a:rPr sz="2500" spc="250" dirty="0">
                <a:latin typeface="Tahoma"/>
                <a:cs typeface="Tahoma"/>
              </a:rPr>
              <a:t>CUSTOMER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500" spc="50" dirty="0">
                <a:latin typeface="Tahoma"/>
                <a:cs typeface="Tahoma"/>
              </a:rPr>
              <a:t>LISTS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500" spc="280" dirty="0">
                <a:latin typeface="Tahoma"/>
                <a:cs typeface="Tahoma"/>
              </a:rPr>
              <a:t>FOR</a:t>
            </a:r>
            <a:r>
              <a:rPr sz="2500" spc="-100" dirty="0">
                <a:latin typeface="Tahoma"/>
                <a:cs typeface="Tahoma"/>
              </a:rPr>
              <a:t> </a:t>
            </a:r>
            <a:r>
              <a:rPr sz="2500" spc="195" dirty="0">
                <a:latin typeface="Tahoma"/>
                <a:cs typeface="Tahoma"/>
              </a:rPr>
              <a:t>TARGETED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500" spc="220" dirty="0">
                <a:latin typeface="Tahoma"/>
                <a:cs typeface="Tahoma"/>
              </a:rPr>
              <a:t>MARKETING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500" spc="229" dirty="0">
                <a:latin typeface="Tahoma"/>
                <a:cs typeface="Tahoma"/>
              </a:rPr>
              <a:t>CAMPAIGNS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5694" y="7882966"/>
            <a:ext cx="14681835" cy="107315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40"/>
              </a:spcBef>
            </a:pPr>
            <a:r>
              <a:rPr sz="2300" b="1" dirty="0">
                <a:solidFill>
                  <a:srgbClr val="0F1B40"/>
                </a:solidFill>
                <a:latin typeface="Tahoma"/>
                <a:cs typeface="Tahoma"/>
              </a:rPr>
              <a:t>“THIS</a:t>
            </a:r>
            <a:r>
              <a:rPr sz="2300" b="1" spc="3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135" dirty="0">
                <a:solidFill>
                  <a:srgbClr val="0F1B40"/>
                </a:solidFill>
                <a:latin typeface="Tahoma"/>
                <a:cs typeface="Tahoma"/>
              </a:rPr>
              <a:t>MAKES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100" dirty="0">
                <a:solidFill>
                  <a:srgbClr val="0F1B40"/>
                </a:solidFill>
                <a:latin typeface="Tahoma"/>
                <a:cs typeface="Tahoma"/>
              </a:rPr>
              <a:t>THE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55" dirty="0">
                <a:solidFill>
                  <a:srgbClr val="0F1B40"/>
                </a:solidFill>
                <a:latin typeface="Tahoma"/>
                <a:cs typeface="Tahoma"/>
              </a:rPr>
              <a:t>SYSTEM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75" dirty="0">
                <a:solidFill>
                  <a:srgbClr val="0F1B40"/>
                </a:solidFill>
                <a:latin typeface="Tahoma"/>
                <a:cs typeface="Tahoma"/>
              </a:rPr>
              <a:t>ACCESSIBLE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165" dirty="0">
                <a:solidFill>
                  <a:srgbClr val="0F1B40"/>
                </a:solidFill>
                <a:latin typeface="Tahoma"/>
                <a:cs typeface="Tahoma"/>
              </a:rPr>
              <a:t>AND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114" dirty="0">
                <a:solidFill>
                  <a:srgbClr val="0F1B40"/>
                </a:solidFill>
                <a:latin typeface="Tahoma"/>
                <a:cs typeface="Tahoma"/>
              </a:rPr>
              <a:t>USEFUL</a:t>
            </a:r>
            <a:r>
              <a:rPr sz="2300" b="1" spc="3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120" dirty="0">
                <a:solidFill>
                  <a:srgbClr val="0F1B40"/>
                </a:solidFill>
                <a:latin typeface="Tahoma"/>
                <a:cs typeface="Tahoma"/>
              </a:rPr>
              <a:t>FOR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55" dirty="0">
                <a:solidFill>
                  <a:srgbClr val="0F1B40"/>
                </a:solidFill>
                <a:latin typeface="Tahoma"/>
                <a:cs typeface="Tahoma"/>
              </a:rPr>
              <a:t>NON-</a:t>
            </a:r>
            <a:r>
              <a:rPr sz="2300" b="1" spc="70" dirty="0">
                <a:solidFill>
                  <a:srgbClr val="0F1B40"/>
                </a:solidFill>
                <a:latin typeface="Tahoma"/>
                <a:cs typeface="Tahoma"/>
              </a:rPr>
              <a:t>TECHNICAL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dirty="0">
                <a:solidFill>
                  <a:srgbClr val="0F1B40"/>
                </a:solidFill>
                <a:latin typeface="Tahoma"/>
                <a:cs typeface="Tahoma"/>
              </a:rPr>
              <a:t>BUSINESS</a:t>
            </a:r>
            <a:r>
              <a:rPr sz="2300" b="1" spc="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2300" b="1" spc="85" dirty="0">
                <a:solidFill>
                  <a:srgbClr val="0F1B40"/>
                </a:solidFill>
                <a:latin typeface="Tahoma"/>
                <a:cs typeface="Tahoma"/>
              </a:rPr>
              <a:t>TEAMS”</a:t>
            </a:r>
            <a:endParaRPr sz="2300">
              <a:latin typeface="Tahoma"/>
              <a:cs typeface="Tahoma"/>
            </a:endParaRPr>
          </a:p>
          <a:p>
            <a:pPr marL="153035" algn="ctr">
              <a:lnSpc>
                <a:spcPct val="100000"/>
              </a:lnSpc>
              <a:spcBef>
                <a:spcPts val="1300"/>
              </a:spcBef>
            </a:pPr>
            <a:r>
              <a:rPr sz="2450" dirty="0">
                <a:latin typeface="Tahoma"/>
                <a:cs typeface="Tahoma"/>
              </a:rPr>
              <a:t>-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850295" y="628302"/>
              <a:ext cx="1708785" cy="589280"/>
            </a:xfrm>
            <a:custGeom>
              <a:avLst/>
              <a:gdLst/>
              <a:ahLst/>
              <a:cxnLst/>
              <a:rect l="l" t="t" r="r" b="b"/>
              <a:pathLst>
                <a:path w="1708784" h="589280">
                  <a:moveTo>
                    <a:pt x="141391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1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4" y="468373"/>
                  </a:lnTo>
                  <a:lnTo>
                    <a:pt x="32867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7" y="159141"/>
                  </a:lnTo>
                  <a:lnTo>
                    <a:pt x="56814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1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413914" y="0"/>
                  </a:lnTo>
                  <a:lnTo>
                    <a:pt x="1461678" y="3854"/>
                  </a:lnTo>
                  <a:lnTo>
                    <a:pt x="1506988" y="15012"/>
                  </a:lnTo>
                  <a:lnTo>
                    <a:pt x="1549238" y="32867"/>
                  </a:lnTo>
                  <a:lnTo>
                    <a:pt x="1587822" y="56814"/>
                  </a:lnTo>
                  <a:lnTo>
                    <a:pt x="1622133" y="86247"/>
                  </a:lnTo>
                  <a:lnTo>
                    <a:pt x="1651565" y="120558"/>
                  </a:lnTo>
                  <a:lnTo>
                    <a:pt x="1675512" y="159141"/>
                  </a:lnTo>
                  <a:lnTo>
                    <a:pt x="1693368" y="201391"/>
                  </a:lnTo>
                  <a:lnTo>
                    <a:pt x="1704526" y="246701"/>
                  </a:lnTo>
                  <a:lnTo>
                    <a:pt x="1708380" y="294465"/>
                  </a:lnTo>
                  <a:lnTo>
                    <a:pt x="1704526" y="342229"/>
                  </a:lnTo>
                  <a:lnTo>
                    <a:pt x="1693368" y="387539"/>
                  </a:lnTo>
                  <a:lnTo>
                    <a:pt x="1675512" y="429789"/>
                  </a:lnTo>
                  <a:lnTo>
                    <a:pt x="1651565" y="468373"/>
                  </a:lnTo>
                  <a:lnTo>
                    <a:pt x="1622133" y="502684"/>
                  </a:lnTo>
                  <a:lnTo>
                    <a:pt x="1587822" y="532116"/>
                  </a:lnTo>
                  <a:lnTo>
                    <a:pt x="1549238" y="556063"/>
                  </a:lnTo>
                  <a:lnTo>
                    <a:pt x="1506988" y="573919"/>
                  </a:lnTo>
                  <a:lnTo>
                    <a:pt x="1461678" y="585077"/>
                  </a:lnTo>
                  <a:lnTo>
                    <a:pt x="141391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74685" y="736893"/>
            <a:ext cx="602107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5230" algn="l"/>
                <a:tab pos="4829810" algn="l"/>
              </a:tabLst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r>
              <a:rPr sz="1850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r>
              <a:rPr sz="1850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6463" y="734680"/>
            <a:ext cx="104203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40" dirty="0">
                <a:solidFill>
                  <a:srgbClr val="F4F4F4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60632" y="8553583"/>
            <a:ext cx="14541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latin typeface="Tahoma"/>
                <a:cs typeface="Tahoma"/>
              </a:rPr>
              <a:t>-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707413" y="1330154"/>
            <a:ext cx="2374265" cy="2374265"/>
          </a:xfrm>
          <a:custGeom>
            <a:avLst/>
            <a:gdLst/>
            <a:ahLst/>
            <a:cxnLst/>
            <a:rect l="l" t="t" r="r" b="b"/>
            <a:pathLst>
              <a:path w="2374265" h="2374265">
                <a:moveTo>
                  <a:pt x="1366221" y="2373932"/>
                </a:moveTo>
                <a:lnTo>
                  <a:pt x="986837" y="2373932"/>
                </a:lnTo>
                <a:lnTo>
                  <a:pt x="982188" y="2371927"/>
                </a:lnTo>
                <a:lnTo>
                  <a:pt x="975260" y="2364999"/>
                </a:lnTo>
                <a:lnTo>
                  <a:pt x="973346" y="2360259"/>
                </a:lnTo>
                <a:lnTo>
                  <a:pt x="982917" y="1644515"/>
                </a:lnTo>
                <a:lnTo>
                  <a:pt x="502351" y="2163275"/>
                </a:lnTo>
                <a:lnTo>
                  <a:pt x="496608" y="2165098"/>
                </a:lnTo>
                <a:lnTo>
                  <a:pt x="486855" y="2163640"/>
                </a:lnTo>
                <a:lnTo>
                  <a:pt x="483573" y="2162090"/>
                </a:lnTo>
                <a:lnTo>
                  <a:pt x="479471" y="2158170"/>
                </a:lnTo>
                <a:lnTo>
                  <a:pt x="478378" y="2156894"/>
                </a:lnTo>
                <a:lnTo>
                  <a:pt x="477557" y="2155618"/>
                </a:lnTo>
                <a:lnTo>
                  <a:pt x="462824" y="2142070"/>
                </a:lnTo>
                <a:lnTo>
                  <a:pt x="205188" y="1896466"/>
                </a:lnTo>
                <a:lnTo>
                  <a:pt x="203183" y="1891908"/>
                </a:lnTo>
                <a:lnTo>
                  <a:pt x="203000" y="1882155"/>
                </a:lnTo>
                <a:lnTo>
                  <a:pt x="204915" y="1877415"/>
                </a:lnTo>
                <a:lnTo>
                  <a:pt x="708907" y="1364033"/>
                </a:lnTo>
                <a:lnTo>
                  <a:pt x="18139" y="1361846"/>
                </a:lnTo>
                <a:lnTo>
                  <a:pt x="11075" y="1360407"/>
                </a:lnTo>
                <a:lnTo>
                  <a:pt x="5309" y="1356490"/>
                </a:lnTo>
                <a:lnTo>
                  <a:pt x="1424" y="1350694"/>
                </a:lnTo>
                <a:lnTo>
                  <a:pt x="0" y="1343615"/>
                </a:lnTo>
                <a:lnTo>
                  <a:pt x="0" y="1051009"/>
                </a:lnTo>
                <a:lnTo>
                  <a:pt x="700703" y="1030591"/>
                </a:lnTo>
                <a:lnTo>
                  <a:pt x="211842" y="512652"/>
                </a:lnTo>
                <a:lnTo>
                  <a:pt x="208470" y="509461"/>
                </a:lnTo>
                <a:lnTo>
                  <a:pt x="206373" y="504995"/>
                </a:lnTo>
                <a:lnTo>
                  <a:pt x="205917" y="494785"/>
                </a:lnTo>
                <a:lnTo>
                  <a:pt x="208105" y="489590"/>
                </a:lnTo>
                <a:lnTo>
                  <a:pt x="497247" y="225060"/>
                </a:lnTo>
                <a:lnTo>
                  <a:pt x="502078" y="223236"/>
                </a:lnTo>
                <a:lnTo>
                  <a:pt x="511740" y="223875"/>
                </a:lnTo>
                <a:lnTo>
                  <a:pt x="516298" y="226062"/>
                </a:lnTo>
                <a:lnTo>
                  <a:pt x="994676" y="765970"/>
                </a:lnTo>
                <a:lnTo>
                  <a:pt x="1004612" y="17957"/>
                </a:lnTo>
                <a:lnTo>
                  <a:pt x="1006101" y="10959"/>
                </a:lnTo>
                <a:lnTo>
                  <a:pt x="1010035" y="5252"/>
                </a:lnTo>
                <a:lnTo>
                  <a:pt x="1015815" y="1408"/>
                </a:lnTo>
                <a:lnTo>
                  <a:pt x="1022843" y="0"/>
                </a:lnTo>
                <a:lnTo>
                  <a:pt x="1330306" y="0"/>
                </a:lnTo>
                <a:lnTo>
                  <a:pt x="1357652" y="703347"/>
                </a:lnTo>
                <a:lnTo>
                  <a:pt x="1421552" y="638171"/>
                </a:lnTo>
                <a:lnTo>
                  <a:pt x="1897378" y="233902"/>
                </a:lnTo>
                <a:lnTo>
                  <a:pt x="1903634" y="230419"/>
                </a:lnTo>
                <a:lnTo>
                  <a:pt x="1910515" y="229629"/>
                </a:lnTo>
                <a:lnTo>
                  <a:pt x="1917208" y="231453"/>
                </a:lnTo>
                <a:lnTo>
                  <a:pt x="1922901" y="235816"/>
                </a:lnTo>
                <a:lnTo>
                  <a:pt x="2125355" y="467257"/>
                </a:lnTo>
                <a:lnTo>
                  <a:pt x="2128920" y="473462"/>
                </a:lnTo>
                <a:lnTo>
                  <a:pt x="2129810" y="480326"/>
                </a:lnTo>
                <a:lnTo>
                  <a:pt x="2128085" y="487036"/>
                </a:lnTo>
                <a:lnTo>
                  <a:pt x="2123805" y="492780"/>
                </a:lnTo>
                <a:lnTo>
                  <a:pt x="1668216" y="903339"/>
                </a:lnTo>
                <a:lnTo>
                  <a:pt x="1643843" y="930264"/>
                </a:lnTo>
                <a:lnTo>
                  <a:pt x="1553908" y="1027947"/>
                </a:lnTo>
                <a:lnTo>
                  <a:pt x="2360533" y="1025395"/>
                </a:lnTo>
                <a:lnTo>
                  <a:pt x="2365091" y="1027309"/>
                </a:lnTo>
                <a:lnTo>
                  <a:pt x="2372018" y="1034146"/>
                </a:lnTo>
                <a:lnTo>
                  <a:pt x="2373933" y="1038795"/>
                </a:lnTo>
                <a:lnTo>
                  <a:pt x="2373933" y="1355921"/>
                </a:lnTo>
                <a:lnTo>
                  <a:pt x="2372018" y="1360569"/>
                </a:lnTo>
                <a:lnTo>
                  <a:pt x="2368555" y="1364033"/>
                </a:lnTo>
                <a:lnTo>
                  <a:pt x="2365182" y="1367406"/>
                </a:lnTo>
                <a:lnTo>
                  <a:pt x="2360806" y="1369229"/>
                </a:lnTo>
                <a:lnTo>
                  <a:pt x="2355793" y="1369320"/>
                </a:lnTo>
                <a:lnTo>
                  <a:pt x="1526926" y="1366677"/>
                </a:lnTo>
                <a:lnTo>
                  <a:pt x="1536953" y="1378071"/>
                </a:lnTo>
                <a:lnTo>
                  <a:pt x="2117060" y="1910595"/>
                </a:lnTo>
                <a:lnTo>
                  <a:pt x="2121271" y="1916377"/>
                </a:lnTo>
                <a:lnTo>
                  <a:pt x="2122928" y="1923083"/>
                </a:lnTo>
                <a:lnTo>
                  <a:pt x="2121969" y="1929925"/>
                </a:lnTo>
                <a:lnTo>
                  <a:pt x="2118336" y="1936118"/>
                </a:lnTo>
                <a:lnTo>
                  <a:pt x="1913968" y="2165918"/>
                </a:lnTo>
                <a:lnTo>
                  <a:pt x="1908236" y="2170252"/>
                </a:lnTo>
                <a:lnTo>
                  <a:pt x="1901548" y="2172014"/>
                </a:lnTo>
                <a:lnTo>
                  <a:pt x="1894688" y="2171161"/>
                </a:lnTo>
                <a:lnTo>
                  <a:pt x="1888444" y="2167650"/>
                </a:lnTo>
                <a:lnTo>
                  <a:pt x="1371143" y="1722087"/>
                </a:lnTo>
                <a:lnTo>
                  <a:pt x="1379530" y="2360259"/>
                </a:lnTo>
                <a:lnTo>
                  <a:pt x="1377707" y="2364999"/>
                </a:lnTo>
                <a:lnTo>
                  <a:pt x="1370870" y="2372018"/>
                </a:lnTo>
                <a:lnTo>
                  <a:pt x="1366221" y="2373932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52230" y="6886231"/>
            <a:ext cx="776605" cy="3075940"/>
            <a:chOff x="252230" y="6886231"/>
            <a:chExt cx="776605" cy="3075940"/>
          </a:xfrm>
        </p:grpSpPr>
        <p:sp>
          <p:nvSpPr>
            <p:cNvPr id="13" name="object 13"/>
            <p:cNvSpPr/>
            <p:nvPr/>
          </p:nvSpPr>
          <p:spPr>
            <a:xfrm>
              <a:off x="252230" y="6886231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776477" y="388109"/>
                  </a:moveTo>
                  <a:lnTo>
                    <a:pt x="776477" y="2687339"/>
                  </a:lnTo>
                  <a:lnTo>
                    <a:pt x="773110" y="2738371"/>
                  </a:lnTo>
                  <a:lnTo>
                    <a:pt x="763176" y="2788096"/>
                  </a:lnTo>
                  <a:lnTo>
                    <a:pt x="746924" y="2835912"/>
                  </a:lnTo>
                  <a:lnTo>
                    <a:pt x="724605" y="2881214"/>
                  </a:lnTo>
                  <a:lnTo>
                    <a:pt x="696468" y="2923400"/>
                  </a:lnTo>
                  <a:lnTo>
                    <a:pt x="662764" y="2961866"/>
                  </a:lnTo>
                  <a:lnTo>
                    <a:pt x="624299" y="2995569"/>
                  </a:lnTo>
                  <a:lnTo>
                    <a:pt x="582113" y="3023706"/>
                  </a:lnTo>
                  <a:lnTo>
                    <a:pt x="536811" y="3046025"/>
                  </a:lnTo>
                  <a:lnTo>
                    <a:pt x="488995" y="3062276"/>
                  </a:lnTo>
                  <a:lnTo>
                    <a:pt x="439270" y="3072211"/>
                  </a:lnTo>
                  <a:lnTo>
                    <a:pt x="388238" y="3075578"/>
                  </a:lnTo>
                  <a:lnTo>
                    <a:pt x="337207" y="3072211"/>
                  </a:lnTo>
                  <a:lnTo>
                    <a:pt x="287481" y="3062276"/>
                  </a:lnTo>
                  <a:lnTo>
                    <a:pt x="239666" y="3046025"/>
                  </a:lnTo>
                  <a:lnTo>
                    <a:pt x="194363" y="3023706"/>
                  </a:lnTo>
                  <a:lnTo>
                    <a:pt x="152178" y="2995569"/>
                  </a:lnTo>
                  <a:lnTo>
                    <a:pt x="113712" y="2961866"/>
                  </a:lnTo>
                  <a:lnTo>
                    <a:pt x="80008" y="2923400"/>
                  </a:lnTo>
                  <a:lnTo>
                    <a:pt x="51871" y="2881214"/>
                  </a:lnTo>
                  <a:lnTo>
                    <a:pt x="29552" y="2835912"/>
                  </a:lnTo>
                  <a:lnTo>
                    <a:pt x="13301" y="2788096"/>
                  </a:lnTo>
                  <a:lnTo>
                    <a:pt x="3366" y="2738371"/>
                  </a:lnTo>
                  <a:lnTo>
                    <a:pt x="0" y="2687339"/>
                  </a:lnTo>
                  <a:lnTo>
                    <a:pt x="0" y="388109"/>
                  </a:lnTo>
                  <a:lnTo>
                    <a:pt x="3366" y="337077"/>
                  </a:lnTo>
                  <a:lnTo>
                    <a:pt x="13301" y="287352"/>
                  </a:lnTo>
                  <a:lnTo>
                    <a:pt x="29552" y="239536"/>
                  </a:lnTo>
                  <a:lnTo>
                    <a:pt x="51871" y="194234"/>
                  </a:lnTo>
                  <a:lnTo>
                    <a:pt x="80008" y="152048"/>
                  </a:lnTo>
                  <a:lnTo>
                    <a:pt x="113712" y="113583"/>
                  </a:lnTo>
                  <a:lnTo>
                    <a:pt x="152178" y="79879"/>
                  </a:lnTo>
                  <a:lnTo>
                    <a:pt x="194363" y="51742"/>
                  </a:lnTo>
                  <a:lnTo>
                    <a:pt x="239666" y="29423"/>
                  </a:lnTo>
                  <a:lnTo>
                    <a:pt x="287481" y="13171"/>
                  </a:lnTo>
                  <a:lnTo>
                    <a:pt x="337207" y="3237"/>
                  </a:lnTo>
                  <a:lnTo>
                    <a:pt x="386276" y="0"/>
                  </a:lnTo>
                  <a:lnTo>
                    <a:pt x="390200" y="0"/>
                  </a:lnTo>
                  <a:lnTo>
                    <a:pt x="439270" y="3237"/>
                  </a:lnTo>
                  <a:lnTo>
                    <a:pt x="488995" y="13171"/>
                  </a:lnTo>
                  <a:lnTo>
                    <a:pt x="536811" y="29423"/>
                  </a:lnTo>
                  <a:lnTo>
                    <a:pt x="582113" y="51742"/>
                  </a:lnTo>
                  <a:lnTo>
                    <a:pt x="624299" y="79879"/>
                  </a:lnTo>
                  <a:lnTo>
                    <a:pt x="662764" y="113583"/>
                  </a:lnTo>
                  <a:lnTo>
                    <a:pt x="696468" y="152048"/>
                  </a:lnTo>
                  <a:lnTo>
                    <a:pt x="724605" y="194234"/>
                  </a:lnTo>
                  <a:lnTo>
                    <a:pt x="746924" y="239536"/>
                  </a:lnTo>
                  <a:lnTo>
                    <a:pt x="763176" y="287352"/>
                  </a:lnTo>
                  <a:lnTo>
                    <a:pt x="773110" y="337077"/>
                  </a:lnTo>
                  <a:lnTo>
                    <a:pt x="776477" y="3881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9864" y="7248647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581194" y="290597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lnTo>
                    <a:pt x="243460" y="577391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249685" y="2039209"/>
            <a:ext cx="776605" cy="3075940"/>
            <a:chOff x="16249685" y="2039209"/>
            <a:chExt cx="776605" cy="3075940"/>
          </a:xfrm>
        </p:grpSpPr>
        <p:sp>
          <p:nvSpPr>
            <p:cNvPr id="16" name="object 16"/>
            <p:cNvSpPr/>
            <p:nvPr/>
          </p:nvSpPr>
          <p:spPr>
            <a:xfrm>
              <a:off x="16249685" y="2039209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1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439270" y="3367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1"/>
                  </a:lnTo>
                  <a:lnTo>
                    <a:pt x="390207" y="3075578"/>
                  </a:lnTo>
                  <a:lnTo>
                    <a:pt x="386270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347339" y="43977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0" y="290597"/>
                  </a:moveTo>
                  <a:lnTo>
                    <a:pt x="3803" y="243460"/>
                  </a:lnTo>
                  <a:lnTo>
                    <a:pt x="14814" y="198746"/>
                  </a:lnTo>
                  <a:lnTo>
                    <a:pt x="32436" y="157051"/>
                  </a:lnTo>
                  <a:lnTo>
                    <a:pt x="56068" y="118974"/>
                  </a:lnTo>
                  <a:lnTo>
                    <a:pt x="85114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1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1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4" y="496080"/>
                  </a:lnTo>
                  <a:lnTo>
                    <a:pt x="56068" y="462220"/>
                  </a:lnTo>
                  <a:lnTo>
                    <a:pt x="32436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30326" y="1365682"/>
            <a:ext cx="9382760" cy="1696085"/>
          </a:xfrm>
          <a:prstGeom prst="rect">
            <a:avLst/>
          </a:prstGeom>
        </p:spPr>
        <p:txBody>
          <a:bodyPr vert="horz" wrap="square" lIns="0" tIns="352425" rIns="0" bIns="0" rtlCol="0">
            <a:spAutoFit/>
          </a:bodyPr>
          <a:lstStyle/>
          <a:p>
            <a:pPr marR="1640205" algn="ctr">
              <a:lnSpc>
                <a:spcPct val="100000"/>
              </a:lnSpc>
              <a:spcBef>
                <a:spcPts val="2775"/>
              </a:spcBef>
            </a:pPr>
            <a:r>
              <a:rPr sz="5800" spc="160" dirty="0">
                <a:latin typeface="Tahoma"/>
                <a:cs typeface="Tahoma"/>
              </a:rPr>
              <a:t>Business</a:t>
            </a:r>
            <a:r>
              <a:rPr sz="5800" spc="-955" dirty="0">
                <a:latin typeface="Tahoma"/>
                <a:cs typeface="Tahoma"/>
              </a:rPr>
              <a:t> </a:t>
            </a:r>
            <a:r>
              <a:rPr sz="5800" spc="200" dirty="0">
                <a:latin typeface="Tahoma"/>
                <a:cs typeface="Tahoma"/>
              </a:rPr>
              <a:t>Impact</a:t>
            </a:r>
            <a:endParaRPr sz="5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100" b="1" spc="75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2100" b="1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90" dirty="0">
                <a:solidFill>
                  <a:srgbClr val="000000"/>
                </a:solidFill>
                <a:latin typeface="Tahoma"/>
                <a:cs typeface="Tahoma"/>
              </a:rPr>
              <a:t>PROJECT</a:t>
            </a:r>
            <a:r>
              <a:rPr sz="2100" b="1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45" dirty="0">
                <a:solidFill>
                  <a:srgbClr val="000000"/>
                </a:solidFill>
                <a:latin typeface="Tahoma"/>
                <a:cs typeface="Tahoma"/>
              </a:rPr>
              <a:t>PROVIDES</a:t>
            </a:r>
            <a:r>
              <a:rPr sz="2100" b="1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114" dirty="0">
                <a:solidFill>
                  <a:srgbClr val="000000"/>
                </a:solidFill>
                <a:latin typeface="Tahoma"/>
                <a:cs typeface="Tahoma"/>
              </a:rPr>
              <a:t>VALUABLE</a:t>
            </a:r>
            <a:r>
              <a:rPr sz="2100" b="1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-35" dirty="0">
                <a:solidFill>
                  <a:srgbClr val="000000"/>
                </a:solidFill>
                <a:latin typeface="Tahoma"/>
                <a:cs typeface="Tahoma"/>
              </a:rPr>
              <a:t>INSIGHTS</a:t>
            </a:r>
            <a:r>
              <a:rPr sz="2100" b="1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90" dirty="0">
                <a:solidFill>
                  <a:srgbClr val="000000"/>
                </a:solidFill>
                <a:latin typeface="Tahoma"/>
                <a:cs typeface="Tahoma"/>
              </a:rPr>
              <a:t>FOR</a:t>
            </a:r>
            <a:r>
              <a:rPr sz="2100" b="1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75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2100" b="1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100" b="1" spc="95" dirty="0">
                <a:solidFill>
                  <a:srgbClr val="000000"/>
                </a:solidFill>
                <a:latin typeface="Tahoma"/>
                <a:cs typeface="Tahoma"/>
              </a:rPr>
              <a:t>COMPANY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60" y="3720371"/>
            <a:ext cx="129375" cy="1293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60" y="4270216"/>
            <a:ext cx="129375" cy="1293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60" y="4820061"/>
            <a:ext cx="129375" cy="1293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060" y="5369906"/>
            <a:ext cx="129375" cy="12937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60" y="5919752"/>
            <a:ext cx="129375" cy="12937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0" marR="760095" algn="ctr">
              <a:lnSpc>
                <a:spcPct val="114500"/>
              </a:lnSpc>
              <a:spcBef>
                <a:spcPts val="100"/>
              </a:spcBef>
            </a:pPr>
            <a:r>
              <a:rPr spc="155" dirty="0"/>
              <a:t>IDENTIFY</a:t>
            </a:r>
            <a:r>
              <a:rPr spc="-130" dirty="0"/>
              <a:t> </a:t>
            </a:r>
            <a:r>
              <a:rPr spc="415" dirty="0"/>
              <a:t>AND</a:t>
            </a:r>
            <a:r>
              <a:rPr spc="-125" dirty="0"/>
              <a:t> </a:t>
            </a:r>
            <a:r>
              <a:rPr spc="140" dirty="0"/>
              <a:t>PRIORITIZE</a:t>
            </a:r>
            <a:r>
              <a:rPr spc="-125" dirty="0"/>
              <a:t> </a:t>
            </a:r>
            <a:r>
              <a:rPr spc="185" dirty="0"/>
              <a:t>HIGH-</a:t>
            </a:r>
            <a:r>
              <a:rPr spc="305" dirty="0"/>
              <a:t>VALUE</a:t>
            </a:r>
            <a:r>
              <a:rPr spc="-130" dirty="0"/>
              <a:t> </a:t>
            </a:r>
            <a:r>
              <a:rPr spc="280" dirty="0"/>
              <a:t>CUSTOMERS </a:t>
            </a:r>
            <a:r>
              <a:rPr spc="285" dirty="0"/>
              <a:t>BUILD</a:t>
            </a:r>
            <a:r>
              <a:rPr spc="-120" dirty="0"/>
              <a:t> </a:t>
            </a:r>
            <a:r>
              <a:rPr spc="300" dirty="0"/>
              <a:t>PERSONALIZED</a:t>
            </a:r>
            <a:r>
              <a:rPr spc="-120" dirty="0"/>
              <a:t> </a:t>
            </a:r>
            <a:r>
              <a:rPr spc="270" dirty="0"/>
              <a:t>MARKETING</a:t>
            </a:r>
            <a:r>
              <a:rPr spc="-120" dirty="0"/>
              <a:t> </a:t>
            </a:r>
            <a:r>
              <a:rPr spc="145" dirty="0"/>
              <a:t>STRATEGIES </a:t>
            </a:r>
            <a:r>
              <a:rPr spc="290" dirty="0"/>
              <a:t>IMPROVE</a:t>
            </a:r>
            <a:r>
              <a:rPr spc="-135" dirty="0"/>
              <a:t> </a:t>
            </a:r>
            <a:r>
              <a:rPr spc="220" dirty="0"/>
              <a:t>RETENTION</a:t>
            </a:r>
            <a:r>
              <a:rPr spc="-135" dirty="0"/>
              <a:t> </a:t>
            </a:r>
            <a:r>
              <a:rPr spc="415" dirty="0"/>
              <a:t>AND</a:t>
            </a:r>
            <a:r>
              <a:rPr spc="-135" dirty="0"/>
              <a:t> </a:t>
            </a:r>
            <a:r>
              <a:rPr spc="330" dirty="0"/>
              <a:t>ENGAGEMENT</a:t>
            </a:r>
          </a:p>
          <a:p>
            <a:pPr marL="12700" marR="5080" indent="1189355">
              <a:lnSpc>
                <a:spcPct val="114500"/>
              </a:lnSpc>
              <a:spcBef>
                <a:spcPts val="5"/>
              </a:spcBef>
            </a:pPr>
            <a:r>
              <a:rPr spc="235" dirty="0"/>
              <a:t>PREDICT</a:t>
            </a:r>
            <a:r>
              <a:rPr spc="-140" dirty="0"/>
              <a:t> </a:t>
            </a:r>
            <a:r>
              <a:rPr spc="305" dirty="0"/>
              <a:t>CUSTOMER</a:t>
            </a:r>
            <a:r>
              <a:rPr spc="-135" dirty="0"/>
              <a:t> </a:t>
            </a:r>
            <a:r>
              <a:rPr spc="305" dirty="0"/>
              <a:t>VALUE</a:t>
            </a:r>
            <a:r>
              <a:rPr spc="-135" dirty="0"/>
              <a:t> </a:t>
            </a:r>
            <a:r>
              <a:rPr spc="405" dirty="0"/>
              <a:t>MORE</a:t>
            </a:r>
            <a:r>
              <a:rPr spc="-135" dirty="0"/>
              <a:t> </a:t>
            </a:r>
            <a:r>
              <a:rPr spc="240" dirty="0"/>
              <a:t>ACCURATELY </a:t>
            </a:r>
            <a:r>
              <a:rPr spc="175" dirty="0"/>
              <a:t>VISUALIZE</a:t>
            </a:r>
            <a:r>
              <a:rPr spc="-140" dirty="0"/>
              <a:t> </a:t>
            </a:r>
            <a:r>
              <a:rPr spc="305" dirty="0"/>
              <a:t>CUSTOMER</a:t>
            </a:r>
            <a:r>
              <a:rPr spc="-130" dirty="0"/>
              <a:t> </a:t>
            </a:r>
            <a:r>
              <a:rPr spc="280" dirty="0"/>
              <a:t>BEHAVIOR</a:t>
            </a:r>
            <a:r>
              <a:rPr spc="-130" dirty="0"/>
              <a:t> </a:t>
            </a:r>
            <a:r>
              <a:rPr spc="105" dirty="0"/>
              <a:t>IN</a:t>
            </a:r>
            <a:r>
              <a:rPr spc="-130" dirty="0"/>
              <a:t> </a:t>
            </a:r>
            <a:r>
              <a:rPr spc="355" dirty="0"/>
              <a:t>A</a:t>
            </a:r>
            <a:r>
              <a:rPr spc="-130" dirty="0"/>
              <a:t> </a:t>
            </a:r>
            <a:r>
              <a:rPr spc="265" dirty="0"/>
              <a:t>SIMPLE</a:t>
            </a:r>
            <a:r>
              <a:rPr spc="-130" dirty="0"/>
              <a:t> </a:t>
            </a:r>
            <a:r>
              <a:rPr spc="365" dirty="0"/>
              <a:t>DASHBOARD</a:t>
            </a: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0295" y="628302"/>
            <a:ext cx="1708785" cy="589280"/>
          </a:xfrm>
          <a:custGeom>
            <a:avLst/>
            <a:gdLst/>
            <a:ahLst/>
            <a:cxnLst/>
            <a:rect l="l" t="t" r="r" b="b"/>
            <a:pathLst>
              <a:path w="1708784" h="589280">
                <a:moveTo>
                  <a:pt x="141391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1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4" y="468373"/>
                </a:lnTo>
                <a:lnTo>
                  <a:pt x="32867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7" y="159141"/>
                </a:lnTo>
                <a:lnTo>
                  <a:pt x="56814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1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413914" y="0"/>
                </a:lnTo>
                <a:lnTo>
                  <a:pt x="1461678" y="3854"/>
                </a:lnTo>
                <a:lnTo>
                  <a:pt x="1506988" y="15012"/>
                </a:lnTo>
                <a:lnTo>
                  <a:pt x="1549238" y="32867"/>
                </a:lnTo>
                <a:lnTo>
                  <a:pt x="1587822" y="56814"/>
                </a:lnTo>
                <a:lnTo>
                  <a:pt x="1622133" y="86247"/>
                </a:lnTo>
                <a:lnTo>
                  <a:pt x="1651565" y="120558"/>
                </a:lnTo>
                <a:lnTo>
                  <a:pt x="1675512" y="159141"/>
                </a:lnTo>
                <a:lnTo>
                  <a:pt x="1693368" y="201391"/>
                </a:lnTo>
                <a:lnTo>
                  <a:pt x="1704526" y="246701"/>
                </a:lnTo>
                <a:lnTo>
                  <a:pt x="1708380" y="294465"/>
                </a:lnTo>
                <a:lnTo>
                  <a:pt x="1704526" y="342229"/>
                </a:lnTo>
                <a:lnTo>
                  <a:pt x="1693368" y="387539"/>
                </a:lnTo>
                <a:lnTo>
                  <a:pt x="1675512" y="429789"/>
                </a:lnTo>
                <a:lnTo>
                  <a:pt x="1651565" y="468373"/>
                </a:lnTo>
                <a:lnTo>
                  <a:pt x="1622133" y="502684"/>
                </a:lnTo>
                <a:lnTo>
                  <a:pt x="1587822" y="532116"/>
                </a:lnTo>
                <a:lnTo>
                  <a:pt x="1549238" y="556063"/>
                </a:lnTo>
                <a:lnTo>
                  <a:pt x="1506988" y="573919"/>
                </a:lnTo>
                <a:lnTo>
                  <a:pt x="1461678" y="585077"/>
                </a:lnTo>
                <a:lnTo>
                  <a:pt x="141391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229" dirty="0">
                <a:solidFill>
                  <a:srgbClr val="0F1B40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80" dirty="0">
                <a:solidFill>
                  <a:srgbClr val="0F1B40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91875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150" dirty="0">
                <a:solidFill>
                  <a:srgbClr val="0F1B40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6463" y="734680"/>
            <a:ext cx="104203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40" dirty="0">
                <a:solidFill>
                  <a:srgbClr val="F4F4F4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60632" y="8553583"/>
            <a:ext cx="14541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latin typeface="Tahoma"/>
                <a:cs typeface="Tahoma"/>
              </a:rPr>
              <a:t>-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707413" y="1330154"/>
            <a:ext cx="2374265" cy="2374265"/>
          </a:xfrm>
          <a:custGeom>
            <a:avLst/>
            <a:gdLst/>
            <a:ahLst/>
            <a:cxnLst/>
            <a:rect l="l" t="t" r="r" b="b"/>
            <a:pathLst>
              <a:path w="2374265" h="2374265">
                <a:moveTo>
                  <a:pt x="1366221" y="2373932"/>
                </a:moveTo>
                <a:lnTo>
                  <a:pt x="986837" y="2373932"/>
                </a:lnTo>
                <a:lnTo>
                  <a:pt x="982188" y="2371927"/>
                </a:lnTo>
                <a:lnTo>
                  <a:pt x="975260" y="2364999"/>
                </a:lnTo>
                <a:lnTo>
                  <a:pt x="973346" y="2360259"/>
                </a:lnTo>
                <a:lnTo>
                  <a:pt x="982917" y="1644515"/>
                </a:lnTo>
                <a:lnTo>
                  <a:pt x="502351" y="2163275"/>
                </a:lnTo>
                <a:lnTo>
                  <a:pt x="496608" y="2165098"/>
                </a:lnTo>
                <a:lnTo>
                  <a:pt x="486855" y="2163640"/>
                </a:lnTo>
                <a:lnTo>
                  <a:pt x="483573" y="2162090"/>
                </a:lnTo>
                <a:lnTo>
                  <a:pt x="479471" y="2158170"/>
                </a:lnTo>
                <a:lnTo>
                  <a:pt x="478378" y="2156894"/>
                </a:lnTo>
                <a:lnTo>
                  <a:pt x="477557" y="2155618"/>
                </a:lnTo>
                <a:lnTo>
                  <a:pt x="462824" y="2142070"/>
                </a:lnTo>
                <a:lnTo>
                  <a:pt x="205188" y="1896466"/>
                </a:lnTo>
                <a:lnTo>
                  <a:pt x="203183" y="1891908"/>
                </a:lnTo>
                <a:lnTo>
                  <a:pt x="203000" y="1882155"/>
                </a:lnTo>
                <a:lnTo>
                  <a:pt x="204915" y="1877415"/>
                </a:lnTo>
                <a:lnTo>
                  <a:pt x="708907" y="1364033"/>
                </a:lnTo>
                <a:lnTo>
                  <a:pt x="18139" y="1361846"/>
                </a:lnTo>
                <a:lnTo>
                  <a:pt x="11075" y="1360407"/>
                </a:lnTo>
                <a:lnTo>
                  <a:pt x="5309" y="1356490"/>
                </a:lnTo>
                <a:lnTo>
                  <a:pt x="1424" y="1350694"/>
                </a:lnTo>
                <a:lnTo>
                  <a:pt x="0" y="1343615"/>
                </a:lnTo>
                <a:lnTo>
                  <a:pt x="0" y="1051009"/>
                </a:lnTo>
                <a:lnTo>
                  <a:pt x="700703" y="1030591"/>
                </a:lnTo>
                <a:lnTo>
                  <a:pt x="211842" y="512652"/>
                </a:lnTo>
                <a:lnTo>
                  <a:pt x="208470" y="509461"/>
                </a:lnTo>
                <a:lnTo>
                  <a:pt x="206373" y="504995"/>
                </a:lnTo>
                <a:lnTo>
                  <a:pt x="205917" y="494785"/>
                </a:lnTo>
                <a:lnTo>
                  <a:pt x="208105" y="489590"/>
                </a:lnTo>
                <a:lnTo>
                  <a:pt x="497247" y="225060"/>
                </a:lnTo>
                <a:lnTo>
                  <a:pt x="502078" y="223236"/>
                </a:lnTo>
                <a:lnTo>
                  <a:pt x="511740" y="223875"/>
                </a:lnTo>
                <a:lnTo>
                  <a:pt x="516298" y="226062"/>
                </a:lnTo>
                <a:lnTo>
                  <a:pt x="994676" y="765970"/>
                </a:lnTo>
                <a:lnTo>
                  <a:pt x="1004612" y="17957"/>
                </a:lnTo>
                <a:lnTo>
                  <a:pt x="1006101" y="10959"/>
                </a:lnTo>
                <a:lnTo>
                  <a:pt x="1010035" y="5252"/>
                </a:lnTo>
                <a:lnTo>
                  <a:pt x="1015815" y="1408"/>
                </a:lnTo>
                <a:lnTo>
                  <a:pt x="1022843" y="0"/>
                </a:lnTo>
                <a:lnTo>
                  <a:pt x="1330306" y="0"/>
                </a:lnTo>
                <a:lnTo>
                  <a:pt x="1357652" y="703347"/>
                </a:lnTo>
                <a:lnTo>
                  <a:pt x="1421552" y="638171"/>
                </a:lnTo>
                <a:lnTo>
                  <a:pt x="1897378" y="233902"/>
                </a:lnTo>
                <a:lnTo>
                  <a:pt x="1903634" y="230419"/>
                </a:lnTo>
                <a:lnTo>
                  <a:pt x="1910515" y="229629"/>
                </a:lnTo>
                <a:lnTo>
                  <a:pt x="1917208" y="231453"/>
                </a:lnTo>
                <a:lnTo>
                  <a:pt x="1922901" y="235816"/>
                </a:lnTo>
                <a:lnTo>
                  <a:pt x="2125355" y="467257"/>
                </a:lnTo>
                <a:lnTo>
                  <a:pt x="2128920" y="473462"/>
                </a:lnTo>
                <a:lnTo>
                  <a:pt x="2129810" y="480326"/>
                </a:lnTo>
                <a:lnTo>
                  <a:pt x="2128085" y="487036"/>
                </a:lnTo>
                <a:lnTo>
                  <a:pt x="2123805" y="492780"/>
                </a:lnTo>
                <a:lnTo>
                  <a:pt x="1668216" y="903339"/>
                </a:lnTo>
                <a:lnTo>
                  <a:pt x="1643843" y="930264"/>
                </a:lnTo>
                <a:lnTo>
                  <a:pt x="1553908" y="1027947"/>
                </a:lnTo>
                <a:lnTo>
                  <a:pt x="2360533" y="1025395"/>
                </a:lnTo>
                <a:lnTo>
                  <a:pt x="2365091" y="1027309"/>
                </a:lnTo>
                <a:lnTo>
                  <a:pt x="2372018" y="1034146"/>
                </a:lnTo>
                <a:lnTo>
                  <a:pt x="2373933" y="1038795"/>
                </a:lnTo>
                <a:lnTo>
                  <a:pt x="2373933" y="1355921"/>
                </a:lnTo>
                <a:lnTo>
                  <a:pt x="2372018" y="1360569"/>
                </a:lnTo>
                <a:lnTo>
                  <a:pt x="2368555" y="1364033"/>
                </a:lnTo>
                <a:lnTo>
                  <a:pt x="2365182" y="1367406"/>
                </a:lnTo>
                <a:lnTo>
                  <a:pt x="2360806" y="1369229"/>
                </a:lnTo>
                <a:lnTo>
                  <a:pt x="2355793" y="1369320"/>
                </a:lnTo>
                <a:lnTo>
                  <a:pt x="1526926" y="1366677"/>
                </a:lnTo>
                <a:lnTo>
                  <a:pt x="1536953" y="1378071"/>
                </a:lnTo>
                <a:lnTo>
                  <a:pt x="2117060" y="1910595"/>
                </a:lnTo>
                <a:lnTo>
                  <a:pt x="2121271" y="1916377"/>
                </a:lnTo>
                <a:lnTo>
                  <a:pt x="2122928" y="1923083"/>
                </a:lnTo>
                <a:lnTo>
                  <a:pt x="2121969" y="1929925"/>
                </a:lnTo>
                <a:lnTo>
                  <a:pt x="2118336" y="1936118"/>
                </a:lnTo>
                <a:lnTo>
                  <a:pt x="1913968" y="2165918"/>
                </a:lnTo>
                <a:lnTo>
                  <a:pt x="1908236" y="2170252"/>
                </a:lnTo>
                <a:lnTo>
                  <a:pt x="1901548" y="2172014"/>
                </a:lnTo>
                <a:lnTo>
                  <a:pt x="1894688" y="2171161"/>
                </a:lnTo>
                <a:lnTo>
                  <a:pt x="1888444" y="2167650"/>
                </a:lnTo>
                <a:lnTo>
                  <a:pt x="1371143" y="1722087"/>
                </a:lnTo>
                <a:lnTo>
                  <a:pt x="1379530" y="2360259"/>
                </a:lnTo>
                <a:lnTo>
                  <a:pt x="1377707" y="2364999"/>
                </a:lnTo>
                <a:lnTo>
                  <a:pt x="1370870" y="2372018"/>
                </a:lnTo>
                <a:lnTo>
                  <a:pt x="1366221" y="2373932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52230" y="6886231"/>
            <a:ext cx="776605" cy="3075940"/>
            <a:chOff x="252230" y="6886231"/>
            <a:chExt cx="776605" cy="3075940"/>
          </a:xfrm>
        </p:grpSpPr>
        <p:sp>
          <p:nvSpPr>
            <p:cNvPr id="13" name="object 13"/>
            <p:cNvSpPr/>
            <p:nvPr/>
          </p:nvSpPr>
          <p:spPr>
            <a:xfrm>
              <a:off x="252230" y="6886231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776477" y="388109"/>
                  </a:moveTo>
                  <a:lnTo>
                    <a:pt x="776477" y="2687339"/>
                  </a:lnTo>
                  <a:lnTo>
                    <a:pt x="773110" y="2738371"/>
                  </a:lnTo>
                  <a:lnTo>
                    <a:pt x="763176" y="2788096"/>
                  </a:lnTo>
                  <a:lnTo>
                    <a:pt x="746924" y="2835912"/>
                  </a:lnTo>
                  <a:lnTo>
                    <a:pt x="724605" y="2881214"/>
                  </a:lnTo>
                  <a:lnTo>
                    <a:pt x="696468" y="2923400"/>
                  </a:lnTo>
                  <a:lnTo>
                    <a:pt x="662764" y="2961866"/>
                  </a:lnTo>
                  <a:lnTo>
                    <a:pt x="624299" y="2995569"/>
                  </a:lnTo>
                  <a:lnTo>
                    <a:pt x="582113" y="3023706"/>
                  </a:lnTo>
                  <a:lnTo>
                    <a:pt x="536811" y="3046025"/>
                  </a:lnTo>
                  <a:lnTo>
                    <a:pt x="488995" y="3062276"/>
                  </a:lnTo>
                  <a:lnTo>
                    <a:pt x="439270" y="3072211"/>
                  </a:lnTo>
                  <a:lnTo>
                    <a:pt x="388238" y="3075578"/>
                  </a:lnTo>
                  <a:lnTo>
                    <a:pt x="337207" y="3072211"/>
                  </a:lnTo>
                  <a:lnTo>
                    <a:pt x="287481" y="3062276"/>
                  </a:lnTo>
                  <a:lnTo>
                    <a:pt x="239666" y="3046025"/>
                  </a:lnTo>
                  <a:lnTo>
                    <a:pt x="194363" y="3023706"/>
                  </a:lnTo>
                  <a:lnTo>
                    <a:pt x="152178" y="2995569"/>
                  </a:lnTo>
                  <a:lnTo>
                    <a:pt x="113712" y="2961866"/>
                  </a:lnTo>
                  <a:lnTo>
                    <a:pt x="80008" y="2923400"/>
                  </a:lnTo>
                  <a:lnTo>
                    <a:pt x="51871" y="2881214"/>
                  </a:lnTo>
                  <a:lnTo>
                    <a:pt x="29552" y="2835912"/>
                  </a:lnTo>
                  <a:lnTo>
                    <a:pt x="13301" y="2788096"/>
                  </a:lnTo>
                  <a:lnTo>
                    <a:pt x="3366" y="2738371"/>
                  </a:lnTo>
                  <a:lnTo>
                    <a:pt x="0" y="2687339"/>
                  </a:lnTo>
                  <a:lnTo>
                    <a:pt x="0" y="388109"/>
                  </a:lnTo>
                  <a:lnTo>
                    <a:pt x="3366" y="337077"/>
                  </a:lnTo>
                  <a:lnTo>
                    <a:pt x="13301" y="287352"/>
                  </a:lnTo>
                  <a:lnTo>
                    <a:pt x="29552" y="239536"/>
                  </a:lnTo>
                  <a:lnTo>
                    <a:pt x="51871" y="194234"/>
                  </a:lnTo>
                  <a:lnTo>
                    <a:pt x="80008" y="152048"/>
                  </a:lnTo>
                  <a:lnTo>
                    <a:pt x="113712" y="113583"/>
                  </a:lnTo>
                  <a:lnTo>
                    <a:pt x="152178" y="79879"/>
                  </a:lnTo>
                  <a:lnTo>
                    <a:pt x="194363" y="51742"/>
                  </a:lnTo>
                  <a:lnTo>
                    <a:pt x="239666" y="29423"/>
                  </a:lnTo>
                  <a:lnTo>
                    <a:pt x="287481" y="13171"/>
                  </a:lnTo>
                  <a:lnTo>
                    <a:pt x="337207" y="3237"/>
                  </a:lnTo>
                  <a:lnTo>
                    <a:pt x="386276" y="0"/>
                  </a:lnTo>
                  <a:lnTo>
                    <a:pt x="390200" y="0"/>
                  </a:lnTo>
                  <a:lnTo>
                    <a:pt x="439270" y="3237"/>
                  </a:lnTo>
                  <a:lnTo>
                    <a:pt x="488995" y="13171"/>
                  </a:lnTo>
                  <a:lnTo>
                    <a:pt x="536811" y="29423"/>
                  </a:lnTo>
                  <a:lnTo>
                    <a:pt x="582113" y="51742"/>
                  </a:lnTo>
                  <a:lnTo>
                    <a:pt x="624299" y="79879"/>
                  </a:lnTo>
                  <a:lnTo>
                    <a:pt x="662764" y="113583"/>
                  </a:lnTo>
                  <a:lnTo>
                    <a:pt x="696468" y="152048"/>
                  </a:lnTo>
                  <a:lnTo>
                    <a:pt x="724605" y="194234"/>
                  </a:lnTo>
                  <a:lnTo>
                    <a:pt x="746924" y="239536"/>
                  </a:lnTo>
                  <a:lnTo>
                    <a:pt x="763176" y="287352"/>
                  </a:lnTo>
                  <a:lnTo>
                    <a:pt x="773110" y="337077"/>
                  </a:lnTo>
                  <a:lnTo>
                    <a:pt x="776477" y="3881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9864" y="7248647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59">
                  <a:moveTo>
                    <a:pt x="581194" y="290597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lnTo>
                    <a:pt x="243460" y="577391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0" y="243460"/>
                  </a:lnTo>
                  <a:lnTo>
                    <a:pt x="581194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249685" y="2039209"/>
            <a:ext cx="776605" cy="3075940"/>
            <a:chOff x="16249685" y="2039209"/>
            <a:chExt cx="776605" cy="3075940"/>
          </a:xfrm>
        </p:grpSpPr>
        <p:sp>
          <p:nvSpPr>
            <p:cNvPr id="16" name="object 16"/>
            <p:cNvSpPr/>
            <p:nvPr/>
          </p:nvSpPr>
          <p:spPr>
            <a:xfrm>
              <a:off x="16249685" y="2039209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1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439270" y="3367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1"/>
                  </a:lnTo>
                  <a:lnTo>
                    <a:pt x="390207" y="3075578"/>
                  </a:lnTo>
                  <a:lnTo>
                    <a:pt x="386270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347339" y="43977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0" y="290597"/>
                  </a:moveTo>
                  <a:lnTo>
                    <a:pt x="3803" y="243460"/>
                  </a:lnTo>
                  <a:lnTo>
                    <a:pt x="14814" y="198746"/>
                  </a:lnTo>
                  <a:lnTo>
                    <a:pt x="32436" y="157051"/>
                  </a:lnTo>
                  <a:lnTo>
                    <a:pt x="56068" y="118974"/>
                  </a:lnTo>
                  <a:lnTo>
                    <a:pt x="85114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1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1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4" y="496080"/>
                  </a:lnTo>
                  <a:lnTo>
                    <a:pt x="56068" y="462220"/>
                  </a:lnTo>
                  <a:lnTo>
                    <a:pt x="32436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9857" y="2456871"/>
            <a:ext cx="17784445" cy="3498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422400" algn="ctr">
              <a:lnSpc>
                <a:spcPct val="100000"/>
              </a:lnSpc>
              <a:spcBef>
                <a:spcPts val="110"/>
              </a:spcBef>
            </a:pPr>
            <a:r>
              <a:rPr sz="6800" b="1" spc="-25" dirty="0">
                <a:solidFill>
                  <a:srgbClr val="0F1B40"/>
                </a:solidFill>
                <a:latin typeface="Tahoma"/>
                <a:cs typeface="Tahoma"/>
              </a:rPr>
              <a:t>Conclusion</a:t>
            </a:r>
            <a:endParaRPr sz="6800">
              <a:latin typeface="Tahoma"/>
              <a:cs typeface="Tahoma"/>
            </a:endParaRPr>
          </a:p>
          <a:p>
            <a:pPr marR="67945" algn="ctr">
              <a:lnSpc>
                <a:spcPct val="100000"/>
              </a:lnSpc>
              <a:spcBef>
                <a:spcPts val="4545"/>
              </a:spcBef>
            </a:pPr>
            <a:r>
              <a:rPr sz="2250" spc="130" dirty="0">
                <a:latin typeface="Tahoma"/>
                <a:cs typeface="Tahoma"/>
              </a:rPr>
              <a:t>TO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185" dirty="0">
                <a:latin typeface="Tahoma"/>
                <a:cs typeface="Tahoma"/>
              </a:rPr>
              <a:t>SUMMARIZE,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345" dirty="0">
                <a:latin typeface="Tahoma"/>
                <a:cs typeface="Tahoma"/>
              </a:rPr>
              <a:t>WE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54" dirty="0">
                <a:latin typeface="Tahoma"/>
                <a:cs typeface="Tahoma"/>
              </a:rPr>
              <a:t>COMPLETED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270" dirty="0">
                <a:latin typeface="Tahoma"/>
                <a:cs typeface="Tahoma"/>
              </a:rPr>
              <a:t>A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40" dirty="0">
                <a:latin typeface="Tahoma"/>
                <a:cs typeface="Tahoma"/>
              </a:rPr>
              <a:t>FULL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175" dirty="0">
                <a:latin typeface="Tahoma"/>
                <a:cs typeface="Tahoma"/>
              </a:rPr>
              <a:t>PIPELINE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95" dirty="0">
                <a:latin typeface="Tahoma"/>
                <a:cs typeface="Tahoma"/>
              </a:rPr>
              <a:t>FROM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220" dirty="0">
                <a:latin typeface="Tahoma"/>
                <a:cs typeface="Tahoma"/>
              </a:rPr>
              <a:t>PREPROCESSING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130" dirty="0">
                <a:latin typeface="Tahoma"/>
                <a:cs typeface="Tahoma"/>
              </a:rPr>
              <a:t>TO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185" dirty="0">
                <a:latin typeface="Tahoma"/>
                <a:cs typeface="Tahoma"/>
              </a:rPr>
              <a:t>DEPLOYMENT.</a:t>
            </a: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250">
              <a:latin typeface="Tahoma"/>
              <a:cs typeface="Tahoma"/>
            </a:endParaRPr>
          </a:p>
          <a:p>
            <a:pPr marL="12700" marR="5080" algn="ctr">
              <a:lnSpc>
                <a:spcPct val="116700"/>
              </a:lnSpc>
            </a:pPr>
            <a:r>
              <a:rPr sz="2250" spc="275" dirty="0">
                <a:latin typeface="Tahoma"/>
                <a:cs typeface="Tahoma"/>
              </a:rPr>
              <a:t>OUR</a:t>
            </a:r>
            <a:r>
              <a:rPr sz="2250" spc="-95" dirty="0">
                <a:latin typeface="Tahoma"/>
                <a:cs typeface="Tahoma"/>
              </a:rPr>
              <a:t> </a:t>
            </a:r>
            <a:r>
              <a:rPr sz="2250" spc="210" dirty="0">
                <a:latin typeface="Tahoma"/>
                <a:cs typeface="Tahoma"/>
              </a:rPr>
              <a:t>MAIN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45" dirty="0">
                <a:latin typeface="Tahoma"/>
                <a:cs typeface="Tahoma"/>
              </a:rPr>
              <a:t>FOCUS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70" dirty="0">
                <a:latin typeface="Tahoma"/>
                <a:cs typeface="Tahoma"/>
              </a:rPr>
              <a:t>WAS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15" dirty="0">
                <a:latin typeface="Tahoma"/>
                <a:cs typeface="Tahoma"/>
              </a:rPr>
              <a:t>UNDERSTANDING</a:t>
            </a:r>
            <a:r>
              <a:rPr sz="2250" spc="-95" dirty="0">
                <a:latin typeface="Tahoma"/>
                <a:cs typeface="Tahoma"/>
              </a:rPr>
              <a:t> </a:t>
            </a:r>
            <a:r>
              <a:rPr sz="2250" spc="229" dirty="0">
                <a:latin typeface="Tahoma"/>
                <a:cs typeface="Tahoma"/>
              </a:rPr>
              <a:t>CUSTOMER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165" dirty="0">
                <a:latin typeface="Tahoma"/>
                <a:cs typeface="Tahoma"/>
              </a:rPr>
              <a:t>BEHAVIOR,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180" dirty="0">
                <a:latin typeface="Tahoma"/>
                <a:cs typeface="Tahoma"/>
              </a:rPr>
              <a:t>BUILDING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240" dirty="0">
                <a:latin typeface="Tahoma"/>
                <a:cs typeface="Tahoma"/>
              </a:rPr>
              <a:t>MEANINGFUL</a:t>
            </a:r>
            <a:r>
              <a:rPr sz="2250" spc="-95" dirty="0">
                <a:latin typeface="Tahoma"/>
                <a:cs typeface="Tahoma"/>
              </a:rPr>
              <a:t> </a:t>
            </a:r>
            <a:r>
              <a:rPr sz="2250" spc="170" dirty="0">
                <a:latin typeface="Tahoma"/>
                <a:cs typeface="Tahoma"/>
              </a:rPr>
              <a:t>SEGMENTS,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310" dirty="0">
                <a:latin typeface="Tahoma"/>
                <a:cs typeface="Tahoma"/>
              </a:rPr>
              <a:t>AND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155" dirty="0">
                <a:latin typeface="Tahoma"/>
                <a:cs typeface="Tahoma"/>
              </a:rPr>
              <a:t>DELIVERING </a:t>
            </a:r>
            <a:r>
              <a:rPr sz="2250" spc="95" dirty="0">
                <a:latin typeface="Tahoma"/>
                <a:cs typeface="Tahoma"/>
              </a:rPr>
              <a:t>INSIGHTS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114" dirty="0">
                <a:latin typeface="Tahoma"/>
                <a:cs typeface="Tahoma"/>
              </a:rPr>
              <a:t>THAT</a:t>
            </a:r>
            <a:r>
              <a:rPr sz="2250" spc="-80" dirty="0">
                <a:latin typeface="Tahoma"/>
                <a:cs typeface="Tahoma"/>
              </a:rPr>
              <a:t> </a:t>
            </a:r>
            <a:r>
              <a:rPr sz="2250" spc="280" dirty="0">
                <a:latin typeface="Tahoma"/>
                <a:cs typeface="Tahoma"/>
              </a:rPr>
              <a:t>HELP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175" dirty="0">
                <a:latin typeface="Tahoma"/>
                <a:cs typeface="Tahoma"/>
              </a:rPr>
              <a:t>THE</a:t>
            </a:r>
            <a:r>
              <a:rPr sz="2250" spc="-80" dirty="0">
                <a:latin typeface="Tahoma"/>
                <a:cs typeface="Tahoma"/>
              </a:rPr>
              <a:t> </a:t>
            </a:r>
            <a:r>
              <a:rPr sz="2250" spc="185" dirty="0">
                <a:latin typeface="Tahoma"/>
                <a:cs typeface="Tahoma"/>
              </a:rPr>
              <a:t>BUSINESS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220" dirty="0">
                <a:latin typeface="Tahoma"/>
                <a:cs typeface="Tahoma"/>
              </a:rPr>
              <a:t>IMPROVE</a:t>
            </a:r>
            <a:r>
              <a:rPr sz="2250" spc="-80" dirty="0">
                <a:latin typeface="Tahoma"/>
                <a:cs typeface="Tahoma"/>
              </a:rPr>
              <a:t> </a:t>
            </a:r>
            <a:r>
              <a:rPr sz="2250" spc="145" dirty="0">
                <a:latin typeface="Tahoma"/>
                <a:cs typeface="Tahoma"/>
              </a:rPr>
              <a:t>DECISION-</a:t>
            </a:r>
            <a:r>
              <a:rPr sz="2250" spc="160" dirty="0">
                <a:latin typeface="Tahoma"/>
                <a:cs typeface="Tahoma"/>
              </a:rPr>
              <a:t>MAKING.</a:t>
            </a:r>
            <a:endParaRPr sz="22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0" dirty="0"/>
              <a:t>Thank</a:t>
            </a:r>
            <a:r>
              <a:rPr spc="-1580" dirty="0"/>
              <a:t> </a:t>
            </a:r>
            <a:r>
              <a:rPr spc="-790" dirty="0"/>
              <a:t>you</a:t>
            </a:r>
          </a:p>
        </p:txBody>
      </p:sp>
      <p:sp>
        <p:nvSpPr>
          <p:cNvPr id="3" name="object 3"/>
          <p:cNvSpPr/>
          <p:nvPr/>
        </p:nvSpPr>
        <p:spPr>
          <a:xfrm>
            <a:off x="14885720" y="411207"/>
            <a:ext cx="2374265" cy="2374265"/>
          </a:xfrm>
          <a:custGeom>
            <a:avLst/>
            <a:gdLst/>
            <a:ahLst/>
            <a:cxnLst/>
            <a:rect l="l" t="t" r="r" b="b"/>
            <a:pathLst>
              <a:path w="2374265" h="2374265">
                <a:moveTo>
                  <a:pt x="1366221" y="2373932"/>
                </a:moveTo>
                <a:lnTo>
                  <a:pt x="986837" y="2373932"/>
                </a:lnTo>
                <a:lnTo>
                  <a:pt x="982188" y="2371927"/>
                </a:lnTo>
                <a:lnTo>
                  <a:pt x="975260" y="2364999"/>
                </a:lnTo>
                <a:lnTo>
                  <a:pt x="973346" y="2360259"/>
                </a:lnTo>
                <a:lnTo>
                  <a:pt x="982917" y="1644515"/>
                </a:lnTo>
                <a:lnTo>
                  <a:pt x="502351" y="2163275"/>
                </a:lnTo>
                <a:lnTo>
                  <a:pt x="496608" y="2165098"/>
                </a:lnTo>
                <a:lnTo>
                  <a:pt x="486855" y="2163640"/>
                </a:lnTo>
                <a:lnTo>
                  <a:pt x="483573" y="2162090"/>
                </a:lnTo>
                <a:lnTo>
                  <a:pt x="479471" y="2158170"/>
                </a:lnTo>
                <a:lnTo>
                  <a:pt x="478378" y="2156894"/>
                </a:lnTo>
                <a:lnTo>
                  <a:pt x="477557" y="2155618"/>
                </a:lnTo>
                <a:lnTo>
                  <a:pt x="462824" y="2142070"/>
                </a:lnTo>
                <a:lnTo>
                  <a:pt x="205188" y="1896466"/>
                </a:lnTo>
                <a:lnTo>
                  <a:pt x="203183" y="1891908"/>
                </a:lnTo>
                <a:lnTo>
                  <a:pt x="203000" y="1882155"/>
                </a:lnTo>
                <a:lnTo>
                  <a:pt x="204915" y="1877415"/>
                </a:lnTo>
                <a:lnTo>
                  <a:pt x="708907" y="1364033"/>
                </a:lnTo>
                <a:lnTo>
                  <a:pt x="18139" y="1361846"/>
                </a:lnTo>
                <a:lnTo>
                  <a:pt x="11075" y="1360407"/>
                </a:lnTo>
                <a:lnTo>
                  <a:pt x="5309" y="1356490"/>
                </a:lnTo>
                <a:lnTo>
                  <a:pt x="1424" y="1350694"/>
                </a:lnTo>
                <a:lnTo>
                  <a:pt x="0" y="1343615"/>
                </a:lnTo>
                <a:lnTo>
                  <a:pt x="0" y="1051009"/>
                </a:lnTo>
                <a:lnTo>
                  <a:pt x="700703" y="1030591"/>
                </a:lnTo>
                <a:lnTo>
                  <a:pt x="211842" y="512652"/>
                </a:lnTo>
                <a:lnTo>
                  <a:pt x="208470" y="509461"/>
                </a:lnTo>
                <a:lnTo>
                  <a:pt x="206373" y="504995"/>
                </a:lnTo>
                <a:lnTo>
                  <a:pt x="205917" y="494785"/>
                </a:lnTo>
                <a:lnTo>
                  <a:pt x="208105" y="489590"/>
                </a:lnTo>
                <a:lnTo>
                  <a:pt x="497247" y="225060"/>
                </a:lnTo>
                <a:lnTo>
                  <a:pt x="502078" y="223236"/>
                </a:lnTo>
                <a:lnTo>
                  <a:pt x="511740" y="223875"/>
                </a:lnTo>
                <a:lnTo>
                  <a:pt x="516298" y="226062"/>
                </a:lnTo>
                <a:lnTo>
                  <a:pt x="994676" y="765970"/>
                </a:lnTo>
                <a:lnTo>
                  <a:pt x="1004612" y="17957"/>
                </a:lnTo>
                <a:lnTo>
                  <a:pt x="1006101" y="10959"/>
                </a:lnTo>
                <a:lnTo>
                  <a:pt x="1010035" y="5252"/>
                </a:lnTo>
                <a:lnTo>
                  <a:pt x="1015815" y="1408"/>
                </a:lnTo>
                <a:lnTo>
                  <a:pt x="1022843" y="0"/>
                </a:lnTo>
                <a:lnTo>
                  <a:pt x="1330306" y="0"/>
                </a:lnTo>
                <a:lnTo>
                  <a:pt x="1357652" y="703347"/>
                </a:lnTo>
                <a:lnTo>
                  <a:pt x="1421552" y="638171"/>
                </a:lnTo>
                <a:lnTo>
                  <a:pt x="1897378" y="233902"/>
                </a:lnTo>
                <a:lnTo>
                  <a:pt x="1903634" y="230419"/>
                </a:lnTo>
                <a:lnTo>
                  <a:pt x="1910515" y="229629"/>
                </a:lnTo>
                <a:lnTo>
                  <a:pt x="1917208" y="231453"/>
                </a:lnTo>
                <a:lnTo>
                  <a:pt x="1922901" y="235816"/>
                </a:lnTo>
                <a:lnTo>
                  <a:pt x="2125355" y="467257"/>
                </a:lnTo>
                <a:lnTo>
                  <a:pt x="2128920" y="473462"/>
                </a:lnTo>
                <a:lnTo>
                  <a:pt x="2129810" y="480326"/>
                </a:lnTo>
                <a:lnTo>
                  <a:pt x="2128085" y="487036"/>
                </a:lnTo>
                <a:lnTo>
                  <a:pt x="2123805" y="492780"/>
                </a:lnTo>
                <a:lnTo>
                  <a:pt x="1668216" y="903339"/>
                </a:lnTo>
                <a:lnTo>
                  <a:pt x="1643843" y="930264"/>
                </a:lnTo>
                <a:lnTo>
                  <a:pt x="1553908" y="1027947"/>
                </a:lnTo>
                <a:lnTo>
                  <a:pt x="2360533" y="1025395"/>
                </a:lnTo>
                <a:lnTo>
                  <a:pt x="2365091" y="1027309"/>
                </a:lnTo>
                <a:lnTo>
                  <a:pt x="2372018" y="1034146"/>
                </a:lnTo>
                <a:lnTo>
                  <a:pt x="2373933" y="1038795"/>
                </a:lnTo>
                <a:lnTo>
                  <a:pt x="2373933" y="1355921"/>
                </a:lnTo>
                <a:lnTo>
                  <a:pt x="2372018" y="1360569"/>
                </a:lnTo>
                <a:lnTo>
                  <a:pt x="2368555" y="1364033"/>
                </a:lnTo>
                <a:lnTo>
                  <a:pt x="2365182" y="1367406"/>
                </a:lnTo>
                <a:lnTo>
                  <a:pt x="2360806" y="1369229"/>
                </a:lnTo>
                <a:lnTo>
                  <a:pt x="2355793" y="1369320"/>
                </a:lnTo>
                <a:lnTo>
                  <a:pt x="1526926" y="1366677"/>
                </a:lnTo>
                <a:lnTo>
                  <a:pt x="1536953" y="1378071"/>
                </a:lnTo>
                <a:lnTo>
                  <a:pt x="2117060" y="1910595"/>
                </a:lnTo>
                <a:lnTo>
                  <a:pt x="2121271" y="1916377"/>
                </a:lnTo>
                <a:lnTo>
                  <a:pt x="2122928" y="1923083"/>
                </a:lnTo>
                <a:lnTo>
                  <a:pt x="2121969" y="1929925"/>
                </a:lnTo>
                <a:lnTo>
                  <a:pt x="2118336" y="1936118"/>
                </a:lnTo>
                <a:lnTo>
                  <a:pt x="1913968" y="2165918"/>
                </a:lnTo>
                <a:lnTo>
                  <a:pt x="1908236" y="2170252"/>
                </a:lnTo>
                <a:lnTo>
                  <a:pt x="1901548" y="2172014"/>
                </a:lnTo>
                <a:lnTo>
                  <a:pt x="1894688" y="2171161"/>
                </a:lnTo>
                <a:lnTo>
                  <a:pt x="1888444" y="2167650"/>
                </a:lnTo>
                <a:lnTo>
                  <a:pt x="1371143" y="1722087"/>
                </a:lnTo>
                <a:lnTo>
                  <a:pt x="1379530" y="2360259"/>
                </a:lnTo>
                <a:lnTo>
                  <a:pt x="1377707" y="2364999"/>
                </a:lnTo>
                <a:lnTo>
                  <a:pt x="1370870" y="2372018"/>
                </a:lnTo>
                <a:lnTo>
                  <a:pt x="1366221" y="2373932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91364"/>
            <a:ext cx="6905012" cy="4795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482786" y="6351321"/>
            <a:ext cx="776605" cy="3075940"/>
            <a:chOff x="16482786" y="6351321"/>
            <a:chExt cx="776605" cy="3075940"/>
          </a:xfrm>
        </p:grpSpPr>
        <p:sp>
          <p:nvSpPr>
            <p:cNvPr id="6" name="object 6"/>
            <p:cNvSpPr/>
            <p:nvPr/>
          </p:nvSpPr>
          <p:spPr>
            <a:xfrm>
              <a:off x="16482786" y="6351321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7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2"/>
                  </a:lnTo>
                  <a:lnTo>
                    <a:pt x="239666" y="29553"/>
                  </a:lnTo>
                  <a:lnTo>
                    <a:pt x="287482" y="13301"/>
                  </a:lnTo>
                  <a:lnTo>
                    <a:pt x="337207" y="3366"/>
                  </a:lnTo>
                  <a:lnTo>
                    <a:pt x="388238" y="0"/>
                  </a:lnTo>
                  <a:lnTo>
                    <a:pt x="439270" y="3366"/>
                  </a:lnTo>
                  <a:lnTo>
                    <a:pt x="488996" y="13301"/>
                  </a:lnTo>
                  <a:lnTo>
                    <a:pt x="536811" y="29553"/>
                  </a:lnTo>
                  <a:lnTo>
                    <a:pt x="582113" y="51872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7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6" y="3062406"/>
                  </a:lnTo>
                  <a:lnTo>
                    <a:pt x="439270" y="3072341"/>
                  </a:lnTo>
                  <a:lnTo>
                    <a:pt x="390205" y="3075578"/>
                  </a:lnTo>
                  <a:lnTo>
                    <a:pt x="386272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580464" y="8448383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59">
                  <a:moveTo>
                    <a:pt x="581194" y="290597"/>
                  </a:move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19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1"/>
                  </a:lnTo>
                  <a:lnTo>
                    <a:pt x="290597" y="581194"/>
                  </a:lnTo>
                  <a:lnTo>
                    <a:pt x="243460" y="577391"/>
                  </a:lnTo>
                  <a:lnTo>
                    <a:pt x="198745" y="566379"/>
                  </a:lnTo>
                  <a:lnTo>
                    <a:pt x="157050" y="548758"/>
                  </a:lnTo>
                  <a:lnTo>
                    <a:pt x="118973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1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3" y="56068"/>
                  </a:lnTo>
                  <a:lnTo>
                    <a:pt x="157050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19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1"/>
                  </a:lnTo>
                  <a:lnTo>
                    <a:pt x="581194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68355" y="411108"/>
            <a:ext cx="776605" cy="3075940"/>
            <a:chOff x="1268355" y="411108"/>
            <a:chExt cx="776605" cy="3075940"/>
          </a:xfrm>
        </p:grpSpPr>
        <p:sp>
          <p:nvSpPr>
            <p:cNvPr id="9" name="object 9"/>
            <p:cNvSpPr/>
            <p:nvPr/>
          </p:nvSpPr>
          <p:spPr>
            <a:xfrm>
              <a:off x="1268355" y="411108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1" y="194363"/>
                  </a:lnTo>
                  <a:lnTo>
                    <a:pt x="80008" y="152178"/>
                  </a:lnTo>
                  <a:lnTo>
                    <a:pt x="113712" y="113712"/>
                  </a:lnTo>
                  <a:lnTo>
                    <a:pt x="152178" y="80008"/>
                  </a:lnTo>
                  <a:lnTo>
                    <a:pt x="194363" y="51871"/>
                  </a:lnTo>
                  <a:lnTo>
                    <a:pt x="239666" y="29552"/>
                  </a:lnTo>
                  <a:lnTo>
                    <a:pt x="287481" y="13301"/>
                  </a:lnTo>
                  <a:lnTo>
                    <a:pt x="337207" y="3366"/>
                  </a:lnTo>
                  <a:lnTo>
                    <a:pt x="388238" y="0"/>
                  </a:lnTo>
                  <a:lnTo>
                    <a:pt x="439270" y="3366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4" y="113712"/>
                  </a:lnTo>
                  <a:lnTo>
                    <a:pt x="696468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5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8" y="2923529"/>
                  </a:lnTo>
                  <a:lnTo>
                    <a:pt x="662764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0"/>
                  </a:lnTo>
                  <a:lnTo>
                    <a:pt x="390199" y="3075578"/>
                  </a:lnTo>
                  <a:lnTo>
                    <a:pt x="386277" y="3075578"/>
                  </a:lnTo>
                  <a:lnTo>
                    <a:pt x="337207" y="3072340"/>
                  </a:lnTo>
                  <a:lnTo>
                    <a:pt x="287481" y="3062406"/>
                  </a:lnTo>
                  <a:lnTo>
                    <a:pt x="239666" y="3046154"/>
                  </a:lnTo>
                  <a:lnTo>
                    <a:pt x="194363" y="3023835"/>
                  </a:lnTo>
                  <a:lnTo>
                    <a:pt x="152178" y="2995699"/>
                  </a:lnTo>
                  <a:lnTo>
                    <a:pt x="113712" y="2961995"/>
                  </a:lnTo>
                  <a:lnTo>
                    <a:pt x="80008" y="2923529"/>
                  </a:lnTo>
                  <a:lnTo>
                    <a:pt x="51871" y="2881343"/>
                  </a:lnTo>
                  <a:lnTo>
                    <a:pt x="29552" y="2836041"/>
                  </a:lnTo>
                  <a:lnTo>
                    <a:pt x="13301" y="2788225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66030" y="1016736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60">
                  <a:moveTo>
                    <a:pt x="581194" y="290597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0" y="577390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5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5"/>
                  </a:lnTo>
                  <a:lnTo>
                    <a:pt x="577390" y="243460"/>
                  </a:lnTo>
                  <a:lnTo>
                    <a:pt x="581194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1068</Words>
  <Application>Microsoft Office PowerPoint</Application>
  <PresentationFormat>Custom</PresentationFormat>
  <Paragraphs>213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 Black</vt:lpstr>
      <vt:lpstr>Tahoma</vt:lpstr>
      <vt:lpstr>Verdana</vt:lpstr>
      <vt:lpstr>Office Theme</vt:lpstr>
      <vt:lpstr>PowerPoint Presentation</vt:lpstr>
      <vt:lpstr>team members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Impact THE PROJECT PROVIDES VALUABLE INSIGHTS FOR THE COMPANY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Artificial Intelligence Presentation</dc:title>
  <dc:creator>Zeinab Ali</dc:creator>
  <cp:keywords>DAG6Mr2o9zQ,BAGmM8UmbCA,0</cp:keywords>
  <cp:lastModifiedBy>zeinab ali</cp:lastModifiedBy>
  <cp:revision>1</cp:revision>
  <dcterms:created xsi:type="dcterms:W3CDTF">2025-12-02T10:17:18Z</dcterms:created>
  <dcterms:modified xsi:type="dcterms:W3CDTF">2025-12-02T10:21:48Z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2025-12-02T00:00:00Z</vt:filetime>
  </property>
  <property fmtid="{D5CDD505-2E9C-101B-9397-08002B2CF9AE}" pid="5" name="Producer">
    <vt:lpwstr>Canva</vt:lpwstr>
  </property>
</Properties>
</file>